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1"/>
  </p:normalViewPr>
  <p:slideViewPr>
    <p:cSldViewPr snapToGrid="0" snapToObjects="1">
      <p:cViewPr varScale="1">
        <p:scale>
          <a:sx n="115" d="100"/>
          <a:sy n="115" d="100"/>
        </p:scale>
        <p:origin x="49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Intent Fulfilment</c:v>
                </c:pt>
              </c:strCache>
            </c:strRef>
          </c:tx>
          <c:invertIfNegative val="1"/>
          <c:dPt>
            <c:idx val="0"/>
            <c:invertIfNegative val="1"/>
            <c:bubble3D val="0"/>
            <c:spPr>
              <a:solidFill>
                <a:srgbClr val="5D8AB0"/>
              </a:solidFill>
              <a:ln>
                <a:solidFill>
                  <a:srgbClr val="5D8AB0"/>
                </a:solidFill>
              </a:ln>
            </c:spPr>
            <c:extLst>
              <c:ext xmlns:c16="http://schemas.microsoft.com/office/drawing/2014/chart" uri="{C3380CC4-5D6E-409C-BE32-E72D297353CC}">
                <c16:uniqueId val="{00000001-C6FE-2949-9092-C8E964C3C2DF}"/>
              </c:ext>
            </c:extLst>
          </c:dPt>
          <c:dPt>
            <c:idx val="1"/>
            <c:invertIfNegative val="1"/>
            <c:bubble3D val="0"/>
            <c:spPr>
              <a:solidFill>
                <a:srgbClr val="279658"/>
              </a:solidFill>
              <a:ln>
                <a:solidFill>
                  <a:srgbClr val="279658"/>
                </a:solidFill>
              </a:ln>
            </c:spPr>
            <c:extLst>
              <c:ext xmlns:c16="http://schemas.microsoft.com/office/drawing/2014/chart" uri="{C3380CC4-5D6E-409C-BE32-E72D297353CC}">
                <c16:uniqueId val="{00000003-C6FE-2949-9092-C8E964C3C2DF}"/>
              </c:ext>
            </c:extLst>
          </c:dPt>
          <c:dLbls>
            <c:spPr>
              <a:noFill/>
              <a:ln>
                <a:noFill/>
              </a:ln>
              <a:effectLst/>
            </c:spPr>
            <c:txPr>
              <a:bodyPr/>
              <a:lstStyle/>
              <a:p>
                <a:pPr>
                  <a:defRPr sz="1800" b="1">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No-LLM
(direct search)</c:v>
                </c:pt>
                <c:pt idx="1">
                  <c:v>LLM Neutral</c:v>
                </c:pt>
              </c:strCache>
            </c:strRef>
          </c:cat>
          <c:val>
            <c:numRef>
              <c:f>Sheet1!$B$2:$B$3</c:f>
              <c:numCache>
                <c:formatCode>General</c:formatCode>
                <c:ptCount val="2"/>
                <c:pt idx="0">
                  <c:v>0.68300000000000005</c:v>
                </c:pt>
                <c:pt idx="1">
                  <c:v>0.747</c:v>
                </c:pt>
              </c:numCache>
            </c:numRef>
          </c:val>
          <c:extLst>
            <c:ext xmlns:c16="http://schemas.microsoft.com/office/drawing/2014/chart" uri="{C3380CC4-5D6E-409C-BE32-E72D297353CC}">
              <c16:uniqueId val="{00000004-C6FE-2949-9092-C8E964C3C2DF}"/>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400">
                <a:solidFill>
                  <a:srgbClr val="FFFFFF"/>
                </a:solidFill>
              </a:defRPr>
            </a:pPr>
            <a:endParaRPr lang="en-US"/>
          </a:p>
        </c:txPr>
        <c:crossAx val="-2113994440"/>
        <c:crosses val="autoZero"/>
        <c:auto val="1"/>
        <c:lblAlgn val="ctr"/>
        <c:lblOffset val="100"/>
        <c:noMultiLvlLbl val="0"/>
      </c:catAx>
      <c:valAx>
        <c:axId val="-2113994440"/>
        <c:scaling>
          <c:orientation val="minMax"/>
          <c:max val="0.8"/>
          <c:min val="0.6"/>
        </c:scaling>
        <c:delete val="0"/>
        <c:axPos val="l"/>
        <c:numFmt formatCode="General" sourceLinked="1"/>
        <c:majorTickMark val="out"/>
        <c:minorTickMark val="none"/>
        <c:tickLblPos val="nextTo"/>
        <c:txPr>
          <a:bodyPr/>
          <a:lstStyle/>
          <a:p>
            <a:pPr>
              <a:defRPr sz="1100">
                <a:solidFill>
                  <a:srgbClr val="D6E4F0"/>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Intent Fulfilment</c:v>
                </c:pt>
              </c:strCache>
            </c:strRef>
          </c:tx>
          <c:invertIfNegative val="1"/>
          <c:dPt>
            <c:idx val="0"/>
            <c:invertIfNegative val="1"/>
            <c:bubble3D val="0"/>
            <c:spPr>
              <a:solidFill>
                <a:srgbClr val="00888A"/>
              </a:solidFill>
              <a:ln>
                <a:solidFill>
                  <a:srgbClr val="00888A"/>
                </a:solidFill>
              </a:ln>
            </c:spPr>
            <c:extLst>
              <c:ext xmlns:c16="http://schemas.microsoft.com/office/drawing/2014/chart" uri="{C3380CC4-5D6E-409C-BE32-E72D297353CC}">
                <c16:uniqueId val="{00000001-DF6A-0F48-86D7-9C84D8162EED}"/>
              </c:ext>
            </c:extLst>
          </c:dPt>
          <c:dPt>
            <c:idx val="1"/>
            <c:invertIfNegative val="1"/>
            <c:bubble3D val="0"/>
            <c:spPr>
              <a:solidFill>
                <a:srgbClr val="C0392B"/>
              </a:solidFill>
              <a:ln>
                <a:solidFill>
                  <a:srgbClr val="C0392B"/>
                </a:solidFill>
              </a:ln>
            </c:spPr>
            <c:extLst>
              <c:ext xmlns:c16="http://schemas.microsoft.com/office/drawing/2014/chart" uri="{C3380CC4-5D6E-409C-BE32-E72D297353CC}">
                <c16:uniqueId val="{00000003-DF6A-0F48-86D7-9C84D8162EED}"/>
              </c:ext>
            </c:extLst>
          </c:dPt>
          <c:dPt>
            <c:idx val="2"/>
            <c:invertIfNegative val="1"/>
            <c:bubble3D val="0"/>
            <c:spPr>
              <a:solidFill>
                <a:srgbClr val="E67E22"/>
              </a:solidFill>
              <a:ln>
                <a:solidFill>
                  <a:srgbClr val="E67E22"/>
                </a:solidFill>
              </a:ln>
            </c:spPr>
            <c:extLst>
              <c:ext xmlns:c16="http://schemas.microsoft.com/office/drawing/2014/chart" uri="{C3380CC4-5D6E-409C-BE32-E72D297353CC}">
                <c16:uniqueId val="{00000005-DF6A-0F48-86D7-9C84D8162EED}"/>
              </c:ext>
            </c:extLst>
          </c:dPt>
          <c:dPt>
            <c:idx val="3"/>
            <c:invertIfNegative val="1"/>
            <c:bubble3D val="0"/>
            <c:spPr>
              <a:solidFill>
                <a:srgbClr val="279658"/>
              </a:solidFill>
              <a:ln>
                <a:solidFill>
                  <a:srgbClr val="279658"/>
                </a:solidFill>
              </a:ln>
            </c:spPr>
            <c:extLst>
              <c:ext xmlns:c16="http://schemas.microsoft.com/office/drawing/2014/chart" uri="{C3380CC4-5D6E-409C-BE32-E72D297353CC}">
                <c16:uniqueId val="{00000007-DF6A-0F48-86D7-9C84D8162EED}"/>
              </c:ext>
            </c:extLst>
          </c:dPt>
          <c:dLbls>
            <c:spPr>
              <a:noFill/>
              <a:ln>
                <a:noFill/>
              </a:ln>
              <a:effectLst/>
            </c:spPr>
            <c:txPr>
              <a:bodyPr/>
              <a:lstStyle/>
              <a:p>
                <a:pPr>
                  <a:defRPr sz="2000" b="1">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Neutral</c:v>
                </c:pt>
                <c:pt idx="1">
                  <c:v>CPC</c:v>
                </c:pt>
                <c:pt idx="2">
                  <c:v>CPA</c:v>
                </c:pt>
                <c:pt idx="3">
                  <c:v>CPFI</c:v>
                </c:pt>
              </c:strCache>
            </c:strRef>
          </c:cat>
          <c:val>
            <c:numRef>
              <c:f>Sheet1!$B$2:$B$5</c:f>
              <c:numCache>
                <c:formatCode>General</c:formatCode>
                <c:ptCount val="4"/>
                <c:pt idx="0">
                  <c:v>0.747</c:v>
                </c:pt>
                <c:pt idx="1">
                  <c:v>0.71599999999999997</c:v>
                </c:pt>
                <c:pt idx="2">
                  <c:v>0.72599999999999998</c:v>
                </c:pt>
                <c:pt idx="3">
                  <c:v>0.747</c:v>
                </c:pt>
              </c:numCache>
            </c:numRef>
          </c:val>
          <c:extLst>
            <c:ext xmlns:c16="http://schemas.microsoft.com/office/drawing/2014/chart" uri="{C3380CC4-5D6E-409C-BE32-E72D297353CC}">
              <c16:uniqueId val="{00000008-DF6A-0F48-86D7-9C84D8162EED}"/>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600" b="1">
                <a:solidFill>
                  <a:srgbClr val="FFFFFF"/>
                </a:solidFill>
              </a:defRPr>
            </a:pPr>
            <a:endParaRPr lang="en-US"/>
          </a:p>
        </c:txPr>
        <c:crossAx val="-2113994440"/>
        <c:crosses val="autoZero"/>
        <c:auto val="1"/>
        <c:lblAlgn val="ctr"/>
        <c:lblOffset val="100"/>
        <c:noMultiLvlLbl val="0"/>
      </c:catAx>
      <c:valAx>
        <c:axId val="-2113994440"/>
        <c:scaling>
          <c:orientation val="minMax"/>
          <c:max val="0.77"/>
          <c:min val="0.68"/>
        </c:scaling>
        <c:delete val="0"/>
        <c:axPos val="l"/>
        <c:numFmt formatCode="General" sourceLinked="1"/>
        <c:majorTickMark val="out"/>
        <c:minorTickMark val="none"/>
        <c:tickLblPos val="nextTo"/>
        <c:txPr>
          <a:bodyPr/>
          <a:lstStyle/>
          <a:p>
            <a:pPr>
              <a:defRPr sz="1100">
                <a:solidFill>
                  <a:srgbClr val="D6E4F0"/>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Platform Net Revenue ($)</c:v>
                </c:pt>
              </c:strCache>
            </c:strRef>
          </c:tx>
          <c:invertIfNegative val="1"/>
          <c:dPt>
            <c:idx val="0"/>
            <c:invertIfNegative val="1"/>
            <c:bubble3D val="0"/>
            <c:spPr>
              <a:solidFill>
                <a:srgbClr val="888899"/>
              </a:solidFill>
              <a:ln>
                <a:solidFill>
                  <a:srgbClr val="888899"/>
                </a:solidFill>
              </a:ln>
            </c:spPr>
            <c:extLst>
              <c:ext xmlns:c16="http://schemas.microsoft.com/office/drawing/2014/chart" uri="{C3380CC4-5D6E-409C-BE32-E72D297353CC}">
                <c16:uniqueId val="{00000001-D78C-7D4B-9E26-58497C88F8AF}"/>
              </c:ext>
            </c:extLst>
          </c:dPt>
          <c:dPt>
            <c:idx val="1"/>
            <c:invertIfNegative val="1"/>
            <c:bubble3D val="0"/>
            <c:spPr>
              <a:solidFill>
                <a:srgbClr val="C0392B"/>
              </a:solidFill>
              <a:ln>
                <a:solidFill>
                  <a:srgbClr val="C0392B"/>
                </a:solidFill>
              </a:ln>
            </c:spPr>
            <c:extLst>
              <c:ext xmlns:c16="http://schemas.microsoft.com/office/drawing/2014/chart" uri="{C3380CC4-5D6E-409C-BE32-E72D297353CC}">
                <c16:uniqueId val="{00000003-D78C-7D4B-9E26-58497C88F8AF}"/>
              </c:ext>
            </c:extLst>
          </c:dPt>
          <c:dPt>
            <c:idx val="2"/>
            <c:invertIfNegative val="1"/>
            <c:bubble3D val="0"/>
            <c:spPr>
              <a:solidFill>
                <a:srgbClr val="1A2E4A"/>
              </a:solidFill>
              <a:ln>
                <a:solidFill>
                  <a:srgbClr val="1A2E4A"/>
                </a:solidFill>
              </a:ln>
            </c:spPr>
            <c:extLst>
              <c:ext xmlns:c16="http://schemas.microsoft.com/office/drawing/2014/chart" uri="{C3380CC4-5D6E-409C-BE32-E72D297353CC}">
                <c16:uniqueId val="{00000005-D78C-7D4B-9E26-58497C88F8AF}"/>
              </c:ext>
            </c:extLst>
          </c:dPt>
          <c:dPt>
            <c:idx val="3"/>
            <c:invertIfNegative val="1"/>
            <c:bubble3D val="0"/>
            <c:spPr>
              <a:solidFill>
                <a:srgbClr val="2E75B6"/>
              </a:solidFill>
              <a:ln>
                <a:solidFill>
                  <a:srgbClr val="2E75B6"/>
                </a:solidFill>
              </a:ln>
            </c:spPr>
            <c:extLst>
              <c:ext xmlns:c16="http://schemas.microsoft.com/office/drawing/2014/chart" uri="{C3380CC4-5D6E-409C-BE32-E72D297353CC}">
                <c16:uniqueId val="{00000007-D78C-7D4B-9E26-58497C88F8AF}"/>
              </c:ext>
            </c:extLst>
          </c:dPt>
          <c:dPt>
            <c:idx val="4"/>
            <c:invertIfNegative val="1"/>
            <c:bubble3D val="0"/>
            <c:spPr>
              <a:solidFill>
                <a:srgbClr val="279658"/>
              </a:solidFill>
              <a:ln>
                <a:solidFill>
                  <a:srgbClr val="279658"/>
                </a:solidFill>
              </a:ln>
            </c:spPr>
            <c:extLst>
              <c:ext xmlns:c16="http://schemas.microsoft.com/office/drawing/2014/chart" uri="{C3380CC4-5D6E-409C-BE32-E72D297353CC}">
                <c16:uniqueId val="{00000009-D78C-7D4B-9E26-58497C88F8AF}"/>
              </c:ext>
            </c:extLst>
          </c:dPt>
          <c:dLbls>
            <c:spPr>
              <a:noFill/>
              <a:ln>
                <a:noFill/>
              </a:ln>
              <a:effectLst/>
            </c:spPr>
            <c:txPr>
              <a:bodyPr/>
              <a:lstStyle/>
              <a:p>
                <a:pPr>
                  <a:defRPr sz="1300" b="1">
                    <a:solidFill>
                      <a:srgbClr val="222233"/>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No-LLM</c:v>
                </c:pt>
                <c:pt idx="1">
                  <c:v>LLM
Neutral</c:v>
                </c:pt>
                <c:pt idx="2">
                  <c:v>LLM
CPC</c:v>
                </c:pt>
                <c:pt idx="3">
                  <c:v>LLM
CPA</c:v>
                </c:pt>
                <c:pt idx="4">
                  <c:v>LLM
CPFI</c:v>
                </c:pt>
              </c:strCache>
            </c:strRef>
          </c:cat>
          <c:val>
            <c:numRef>
              <c:f>Sheet1!$B$2:$B$6</c:f>
              <c:numCache>
                <c:formatCode>General</c:formatCode>
                <c:ptCount val="5"/>
                <c:pt idx="0">
                  <c:v>69366</c:v>
                </c:pt>
                <c:pt idx="1">
                  <c:v>67884</c:v>
                </c:pt>
                <c:pt idx="2">
                  <c:v>72468</c:v>
                </c:pt>
                <c:pt idx="3">
                  <c:v>72239</c:v>
                </c:pt>
                <c:pt idx="4">
                  <c:v>71309</c:v>
                </c:pt>
              </c:numCache>
            </c:numRef>
          </c:val>
          <c:extLst>
            <c:ext xmlns:c16="http://schemas.microsoft.com/office/drawing/2014/chart" uri="{C3380CC4-5D6E-409C-BE32-E72D297353CC}">
              <c16:uniqueId val="{0000000A-D78C-7D4B-9E26-58497C88F8AF}"/>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300" b="1"/>
            </a:pPr>
            <a:endParaRPr lang="en-US"/>
          </a:p>
        </c:txPr>
        <c:crossAx val="-2113994440"/>
        <c:crosses val="autoZero"/>
        <c:auto val="1"/>
        <c:lblAlgn val="ctr"/>
        <c:lblOffset val="100"/>
        <c:noMultiLvlLbl val="0"/>
      </c:catAx>
      <c:valAx>
        <c:axId val="-2113994440"/>
        <c:scaling>
          <c:orientation val="minMax"/>
          <c:max val="75000"/>
          <c:min val="65000"/>
        </c:scaling>
        <c:delete val="0"/>
        <c:axPos val="l"/>
        <c:numFmt formatCode="General" sourceLinked="1"/>
        <c:majorTickMark val="out"/>
        <c:minorTickMark val="none"/>
        <c:tickLblPos val="nextTo"/>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FoodRush order share</c:v>
                </c:pt>
              </c:strCache>
            </c:strRef>
          </c:tx>
          <c:spPr>
            <a:solidFill>
              <a:srgbClr val="1A2E4A"/>
            </a:solidFill>
          </c:spPr>
          <c:invertIfNegative val="1"/>
          <c:dLbls>
            <c:numFmt formatCode="0%" sourceLinked="0"/>
            <c:spPr>
              <a:noFill/>
              <a:ln>
                <a:noFill/>
              </a:ln>
              <a:effectLst/>
            </c:spPr>
            <c:txPr>
              <a:bodyPr/>
              <a:lstStyle/>
              <a:p>
                <a:pPr>
                  <a:defRPr sz="1300" b="1">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Neutral</c:v>
                </c:pt>
                <c:pt idx="1">
                  <c:v>CPC</c:v>
                </c:pt>
                <c:pt idx="2">
                  <c:v>CPA</c:v>
                </c:pt>
                <c:pt idx="3">
                  <c:v>CPFI</c:v>
                </c:pt>
              </c:strCache>
            </c:strRef>
          </c:cat>
          <c:val>
            <c:numRef>
              <c:f>Sheet1!$B$2:$B$5</c:f>
              <c:numCache>
                <c:formatCode>General</c:formatCode>
                <c:ptCount val="4"/>
                <c:pt idx="0">
                  <c:v>0.32600000000000001</c:v>
                </c:pt>
                <c:pt idx="1">
                  <c:v>0.66700000000000004</c:v>
                </c:pt>
                <c:pt idx="2">
                  <c:v>0.60399999999999998</c:v>
                </c:pt>
                <c:pt idx="3">
                  <c:v>0.46500000000000002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134-4A4A-8811-5200CB82AD35}"/>
            </c:ext>
          </c:extLst>
        </c:ser>
        <c:ser>
          <c:idx val="1"/>
          <c:order val="1"/>
          <c:tx>
            <c:strRef>
              <c:f>Sheet1!$C$1</c:f>
              <c:strCache>
                <c:ptCount val="1"/>
                <c:pt idx="0">
                  <c:v>NomNom order share</c:v>
                </c:pt>
              </c:strCache>
            </c:strRef>
          </c:tx>
          <c:spPr>
            <a:solidFill>
              <a:srgbClr val="00888A"/>
            </a:solidFill>
          </c:spPr>
          <c:invertIfNegative val="1"/>
          <c:dLbls>
            <c:numFmt formatCode="0%" sourceLinked="0"/>
            <c:spPr>
              <a:noFill/>
              <a:ln>
                <a:noFill/>
              </a:ln>
              <a:effectLst/>
            </c:spPr>
            <c:txPr>
              <a:bodyPr/>
              <a:lstStyle/>
              <a:p>
                <a:pPr>
                  <a:defRPr sz="1300" b="1">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Neutral</c:v>
                </c:pt>
                <c:pt idx="1">
                  <c:v>CPC</c:v>
                </c:pt>
                <c:pt idx="2">
                  <c:v>CPA</c:v>
                </c:pt>
                <c:pt idx="3">
                  <c:v>CPFI</c:v>
                </c:pt>
              </c:strCache>
            </c:strRef>
          </c:cat>
          <c:val>
            <c:numRef>
              <c:f>Sheet1!$C$2:$C$5</c:f>
              <c:numCache>
                <c:formatCode>General</c:formatCode>
                <c:ptCount val="4"/>
                <c:pt idx="0">
                  <c:v>0.26900000000000002</c:v>
                </c:pt>
                <c:pt idx="1">
                  <c:v>3.7999999999999999E-2</c:v>
                </c:pt>
                <c:pt idx="2">
                  <c:v>3.5999999999999997E-2</c:v>
                </c:pt>
                <c:pt idx="3">
                  <c:v>0.128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134-4A4A-8811-5200CB82AD35}"/>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400" b="1"/>
            </a:pPr>
            <a:endParaRPr lang="en-US"/>
          </a:p>
        </c:txPr>
        <c:crossAx val="-2113994440"/>
        <c:crosses val="autoZero"/>
        <c:auto val="1"/>
        <c:lblAlgn val="ctr"/>
        <c:lblOffset val="100"/>
        <c:noMultiLvlLbl val="0"/>
      </c:catAx>
      <c:valAx>
        <c:axId val="-2113994440"/>
        <c:scaling>
          <c:orientation val="minMax"/>
        </c:scaling>
        <c:delete val="0"/>
        <c:axPos val="l"/>
        <c:numFmt formatCode="General" sourceLinked="1"/>
        <c:majorTickMark val="out"/>
        <c:minorTickMark val="none"/>
        <c:tickLblPos val="nextTo"/>
        <c:txPr>
          <a:bodyPr/>
          <a:lstStyle/>
          <a:p>
            <a:pPr>
              <a:defRPr sz="1100"/>
            </a:pPr>
            <a:endParaRPr lang="en-US"/>
          </a:p>
        </c:txPr>
        <c:crossAx val="-2068027336"/>
        <c:crosses val="autoZero"/>
        <c:crossBetween val="between"/>
      </c:valAx>
    </c:plotArea>
    <c:legend>
      <c:legendPos val="r"/>
      <c:overlay val="1"/>
      <c:txPr>
        <a:bodyPr/>
        <a:lstStyle/>
        <a:p>
          <a:pPr>
            <a:defRPr sz="130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Intent Fulfilment</c:v>
                </c:pt>
              </c:strCache>
            </c:strRef>
          </c:tx>
          <c:invertIfNegative val="1"/>
          <c:dPt>
            <c:idx val="0"/>
            <c:invertIfNegative val="1"/>
            <c:bubble3D val="0"/>
            <c:spPr>
              <a:solidFill>
                <a:srgbClr val="279658"/>
              </a:solidFill>
              <a:ln>
                <a:solidFill>
                  <a:srgbClr val="279658"/>
                </a:solidFill>
              </a:ln>
            </c:spPr>
            <c:extLst>
              <c:ext xmlns:c16="http://schemas.microsoft.com/office/drawing/2014/chart" uri="{C3380CC4-5D6E-409C-BE32-E72D297353CC}">
                <c16:uniqueId val="{00000001-A452-3B46-9A12-6614D029B100}"/>
              </c:ext>
            </c:extLst>
          </c:dPt>
          <c:dPt>
            <c:idx val="1"/>
            <c:invertIfNegative val="1"/>
            <c:bubble3D val="0"/>
            <c:spPr>
              <a:solidFill>
                <a:srgbClr val="279658"/>
              </a:solidFill>
              <a:ln>
                <a:solidFill>
                  <a:srgbClr val="279658"/>
                </a:solidFill>
              </a:ln>
            </c:spPr>
            <c:extLst>
              <c:ext xmlns:c16="http://schemas.microsoft.com/office/drawing/2014/chart" uri="{C3380CC4-5D6E-409C-BE32-E72D297353CC}">
                <c16:uniqueId val="{00000003-A452-3B46-9A12-6614D029B100}"/>
              </c:ext>
            </c:extLst>
          </c:dPt>
          <c:dPt>
            <c:idx val="2"/>
            <c:invertIfNegative val="1"/>
            <c:bubble3D val="0"/>
            <c:spPr>
              <a:solidFill>
                <a:srgbClr val="E67E22"/>
              </a:solidFill>
              <a:ln>
                <a:solidFill>
                  <a:srgbClr val="E67E22"/>
                </a:solidFill>
              </a:ln>
            </c:spPr>
            <c:extLst>
              <c:ext xmlns:c16="http://schemas.microsoft.com/office/drawing/2014/chart" uri="{C3380CC4-5D6E-409C-BE32-E72D297353CC}">
                <c16:uniqueId val="{00000005-A452-3B46-9A12-6614D029B100}"/>
              </c:ext>
            </c:extLst>
          </c:dPt>
          <c:dPt>
            <c:idx val="3"/>
            <c:invertIfNegative val="1"/>
            <c:bubble3D val="0"/>
            <c:spPr>
              <a:solidFill>
                <a:srgbClr val="E67E22"/>
              </a:solidFill>
              <a:ln>
                <a:solidFill>
                  <a:srgbClr val="E67E22"/>
                </a:solidFill>
              </a:ln>
            </c:spPr>
            <c:extLst>
              <c:ext xmlns:c16="http://schemas.microsoft.com/office/drawing/2014/chart" uri="{C3380CC4-5D6E-409C-BE32-E72D297353CC}">
                <c16:uniqueId val="{00000007-A452-3B46-9A12-6614D029B100}"/>
              </c:ext>
            </c:extLst>
          </c:dPt>
          <c:dPt>
            <c:idx val="4"/>
            <c:invertIfNegative val="1"/>
            <c:bubble3D val="0"/>
            <c:spPr>
              <a:solidFill>
                <a:srgbClr val="C0392B"/>
              </a:solidFill>
              <a:ln>
                <a:solidFill>
                  <a:srgbClr val="C0392B"/>
                </a:solidFill>
              </a:ln>
            </c:spPr>
            <c:extLst>
              <c:ext xmlns:c16="http://schemas.microsoft.com/office/drawing/2014/chart" uri="{C3380CC4-5D6E-409C-BE32-E72D297353CC}">
                <c16:uniqueId val="{00000009-A452-3B46-9A12-6614D029B100}"/>
              </c:ext>
            </c:extLst>
          </c:dPt>
          <c:dPt>
            <c:idx val="5"/>
            <c:invertIfNegative val="1"/>
            <c:bubble3D val="0"/>
            <c:spPr>
              <a:solidFill>
                <a:srgbClr val="C0392B"/>
              </a:solidFill>
              <a:ln>
                <a:solidFill>
                  <a:srgbClr val="C0392B"/>
                </a:solidFill>
              </a:ln>
            </c:spPr>
            <c:extLst>
              <c:ext xmlns:c16="http://schemas.microsoft.com/office/drawing/2014/chart" uri="{C3380CC4-5D6E-409C-BE32-E72D297353CC}">
                <c16:uniqueId val="{0000000B-A452-3B46-9A12-6614D029B100}"/>
              </c:ext>
            </c:extLst>
          </c:dPt>
          <c:dPt>
            <c:idx val="6"/>
            <c:invertIfNegative val="1"/>
            <c:bubble3D val="0"/>
            <c:spPr>
              <a:solidFill>
                <a:srgbClr val="C0392B"/>
              </a:solidFill>
              <a:ln>
                <a:solidFill>
                  <a:srgbClr val="C0392B"/>
                </a:solidFill>
              </a:ln>
            </c:spPr>
            <c:extLst>
              <c:ext xmlns:c16="http://schemas.microsoft.com/office/drawing/2014/chart" uri="{C3380CC4-5D6E-409C-BE32-E72D297353CC}">
                <c16:uniqueId val="{0000000D-A452-3B46-9A12-6614D029B100}"/>
              </c:ext>
            </c:extLst>
          </c:dPt>
          <c:dLbls>
            <c:spPr>
              <a:noFill/>
              <a:ln>
                <a:noFill/>
              </a:ln>
              <a:effectLst/>
            </c:spPr>
            <c:txPr>
              <a:bodyPr/>
              <a:lstStyle/>
              <a:p>
                <a:pPr>
                  <a:defRPr sz="1400" b="1">
                    <a:solidFill>
                      <a:srgbClr val="FFFFFF"/>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0.0</c:v>
                </c:pt>
                <c:pt idx="1">
                  <c:v>0.1</c:v>
                </c:pt>
                <c:pt idx="2">
                  <c:v>0.2</c:v>
                </c:pt>
                <c:pt idx="3">
                  <c:v>0.3
(default)</c:v>
                </c:pt>
                <c:pt idx="4">
                  <c:v>0.5</c:v>
                </c:pt>
                <c:pt idx="5">
                  <c:v>0.7</c:v>
                </c:pt>
                <c:pt idx="6">
                  <c:v>1.0</c:v>
                </c:pt>
              </c:strCache>
            </c:strRef>
          </c:cat>
          <c:val>
            <c:numRef>
              <c:f>Sheet1!$B$2:$B$8</c:f>
              <c:numCache>
                <c:formatCode>General</c:formatCode>
                <c:ptCount val="7"/>
                <c:pt idx="0">
                  <c:v>0.747</c:v>
                </c:pt>
                <c:pt idx="1">
                  <c:v>0.74099999999999999</c:v>
                </c:pt>
                <c:pt idx="2">
                  <c:v>0.73099999999999998</c:v>
                </c:pt>
                <c:pt idx="3">
                  <c:v>0.71599999999999997</c:v>
                </c:pt>
                <c:pt idx="4">
                  <c:v>0.68899999999999995</c:v>
                </c:pt>
                <c:pt idx="5">
                  <c:v>0.66300000000000003</c:v>
                </c:pt>
                <c:pt idx="6">
                  <c:v>0.64900000000000002</c:v>
                </c:pt>
              </c:numCache>
            </c:numRef>
          </c:val>
          <c:extLst>
            <c:ext xmlns:c16="http://schemas.microsoft.com/office/drawing/2014/chart" uri="{C3380CC4-5D6E-409C-BE32-E72D297353CC}">
              <c16:uniqueId val="{0000000E-A452-3B46-9A12-6614D029B100}"/>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300">
                <a:solidFill>
                  <a:srgbClr val="FFFFFF"/>
                </a:solidFill>
              </a:defRPr>
            </a:pPr>
            <a:endParaRPr lang="en-US"/>
          </a:p>
        </c:txPr>
        <c:crossAx val="-2113994440"/>
        <c:crosses val="autoZero"/>
        <c:auto val="1"/>
        <c:lblAlgn val="ctr"/>
        <c:lblOffset val="100"/>
        <c:noMultiLvlLbl val="0"/>
      </c:catAx>
      <c:valAx>
        <c:axId val="-2113994440"/>
        <c:scaling>
          <c:orientation val="minMax"/>
          <c:max val="0.77"/>
          <c:min val="0.62"/>
        </c:scaling>
        <c:delete val="0"/>
        <c:axPos val="l"/>
        <c:numFmt formatCode="General" sourceLinked="1"/>
        <c:majorTickMark val="out"/>
        <c:minorTickMark val="none"/>
        <c:tickLblPos val="nextTo"/>
        <c:txPr>
          <a:bodyPr/>
          <a:lstStyle/>
          <a:p>
            <a:pPr>
              <a:defRPr sz="1100">
                <a:solidFill>
                  <a:srgbClr val="D6E4F0"/>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lineChart>
        <c:grouping val="standard"/>
        <c:varyColors val="0"/>
        <c:ser>
          <c:idx val="0"/>
          <c:order val="0"/>
          <c:tx>
            <c:strRef>
              <c:f>Sheet1!$B$1</c:f>
              <c:strCache>
                <c:ptCount val="1"/>
                <c:pt idx="0">
                  <c:v>LLM Conversion %</c:v>
                </c:pt>
              </c:strCache>
            </c:strRef>
          </c:tx>
          <c:spPr>
            <a:ln w="38100">
              <a:solidFill>
                <a:srgbClr val="2E75B6"/>
              </a:solidFill>
            </a:ln>
          </c:spPr>
          <c:marker>
            <c:symbol val="none"/>
          </c:marker>
          <c:dLbls>
            <c:spPr>
              <a:noFill/>
              <a:ln>
                <a:noFill/>
              </a:ln>
              <a:effectLst/>
            </c:spPr>
            <c:txPr>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Very Low
(0.0–0.2)</c:v>
                </c:pt>
                <c:pt idx="1">
                  <c:v>Low
(0.2–0.4)</c:v>
                </c:pt>
                <c:pt idx="2">
                  <c:v>Medium
(0.4–0.6)</c:v>
                </c:pt>
                <c:pt idx="3">
                  <c:v>High
(0.6–0.8)</c:v>
                </c:pt>
                <c:pt idx="4">
                  <c:v>Very High
(0.8–1.0)</c:v>
                </c:pt>
              </c:strCache>
            </c:strRef>
          </c:cat>
          <c:val>
            <c:numRef>
              <c:f>Sheet1!$B$2:$B$6</c:f>
              <c:numCache>
                <c:formatCode>General</c:formatCode>
                <c:ptCount val="5"/>
                <c:pt idx="0">
                  <c:v>78.599999999999994</c:v>
                </c:pt>
                <c:pt idx="1">
                  <c:v>80.2</c:v>
                </c:pt>
                <c:pt idx="2">
                  <c:v>82</c:v>
                </c:pt>
                <c:pt idx="3">
                  <c:v>83.7</c:v>
                </c:pt>
                <c:pt idx="4">
                  <c:v>85.2</c:v>
                </c:pt>
              </c:numCache>
            </c:numRef>
          </c:val>
          <c:smooth val="0"/>
          <c:extLst>
            <c:ext xmlns:c16="http://schemas.microsoft.com/office/drawing/2014/chart" uri="{C3380CC4-5D6E-409C-BE32-E72D297353CC}">
              <c16:uniqueId val="{00000000-12E5-6C4C-8D8B-70F047FFF90D}"/>
            </c:ext>
          </c:extLst>
        </c:ser>
        <c:ser>
          <c:idx val="1"/>
          <c:order val="1"/>
          <c:tx>
            <c:strRef>
              <c:f>Sheet1!$C$1</c:f>
              <c:strCache>
                <c:ptCount val="1"/>
                <c:pt idx="0">
                  <c:v>No-LLM Conversion %</c:v>
                </c:pt>
              </c:strCache>
            </c:strRef>
          </c:tx>
          <c:spPr>
            <a:ln w="25400">
              <a:solidFill>
                <a:srgbClr val="888899"/>
              </a:solidFill>
            </a:ln>
          </c:spPr>
          <c:marker>
            <c:symbol val="none"/>
          </c:marker>
          <c:dLbls>
            <c:spPr>
              <a:noFill/>
              <a:ln>
                <a:noFill/>
              </a:ln>
              <a:effectLst/>
            </c:spPr>
            <c:txPr>
              <a:bodyPr/>
              <a:lstStyle/>
              <a:p>
                <a:pPr>
                  <a:defRPr sz="1200" b="1"/>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Very Low
(0.0–0.2)</c:v>
                </c:pt>
                <c:pt idx="1">
                  <c:v>Low
(0.2–0.4)</c:v>
                </c:pt>
                <c:pt idx="2">
                  <c:v>Medium
(0.4–0.6)</c:v>
                </c:pt>
                <c:pt idx="3">
                  <c:v>High
(0.6–0.8)</c:v>
                </c:pt>
                <c:pt idx="4">
                  <c:v>Very High
(0.8–1.0)</c:v>
                </c:pt>
              </c:strCache>
            </c:strRef>
          </c:cat>
          <c:val>
            <c:numRef>
              <c:f>Sheet1!$C$2:$C$6</c:f>
              <c:numCache>
                <c:formatCode>General</c:formatCode>
                <c:ptCount val="5"/>
                <c:pt idx="0">
                  <c:v>80.400000000000006</c:v>
                </c:pt>
                <c:pt idx="1">
                  <c:v>80.400000000000006</c:v>
                </c:pt>
                <c:pt idx="2">
                  <c:v>80.400000000000006</c:v>
                </c:pt>
                <c:pt idx="3">
                  <c:v>80.400000000000006</c:v>
                </c:pt>
                <c:pt idx="4">
                  <c:v>80.400000000000006</c:v>
                </c:pt>
              </c:numCache>
            </c:numRef>
          </c:val>
          <c:smooth val="0"/>
          <c:extLst>
            <c:ext xmlns:c16="http://schemas.microsoft.com/office/drawing/2014/chart" uri="{C3380CC4-5D6E-409C-BE32-E72D297353CC}">
              <c16:uniqueId val="{00000001-12E5-6C4C-8D8B-70F047FFF90D}"/>
            </c:ext>
          </c:extLst>
        </c:ser>
        <c:dLbls>
          <c:showLegendKey val="0"/>
          <c:showVal val="1"/>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200"/>
            </a:pPr>
            <a:endParaRPr lang="en-US"/>
          </a:p>
        </c:txPr>
        <c:crossAx val="2140495176"/>
        <c:crosses val="autoZero"/>
        <c:auto val="1"/>
        <c:lblAlgn val="ctr"/>
        <c:lblOffset val="100"/>
        <c:noMultiLvlLbl val="0"/>
      </c:catAx>
      <c:valAx>
        <c:axId val="2140495176"/>
        <c:scaling>
          <c:orientation val="minMax"/>
          <c:max val="87"/>
          <c:min val="76"/>
        </c:scaling>
        <c:delete val="0"/>
        <c:axPos val="l"/>
        <c:numFmt formatCode="General" sourceLinked="1"/>
        <c:majorTickMark val="out"/>
        <c:minorTickMark val="none"/>
        <c:tickLblPos val="nextTo"/>
        <c:txPr>
          <a:bodyPr/>
          <a:lstStyle/>
          <a:p>
            <a:pPr>
              <a:defRPr sz="1100"/>
            </a:pPr>
            <a:endParaRPr lang="en-US"/>
          </a:p>
        </c:txPr>
        <c:crossAx val="2118791784"/>
        <c:crosses val="autoZero"/>
        <c:crossBetween val="between"/>
      </c:valAx>
    </c:plotArea>
    <c:legend>
      <c:legendPos val="r"/>
      <c:overlay val="0"/>
      <c:txPr>
        <a:bodyPr/>
        <a:lstStyle/>
        <a:p>
          <a:pPr>
            <a:defRPr sz="1200"/>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2888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This project investigates what happens to consumer welfare, restaurant revenue, and platform economics when an LLM — like ChatGPT — intermediates food delivery discovery. We simulate 10,000 consumer sessions across four payment mechanisms.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OpenAI's partnership with Uber Eats is the real-world motivation. ChatGPT can now recommend restaurants and initiate orders. When the AI controls the shortlist, whoever pays the AI controls visibility. The central question is how that payment structure shapes outcomes for all sides of the market.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1,000 consumers with heterogeneous preferences; 50 restaurants across 9 cuisines; three platforms with different commission structures; one LLM that can be neutral or sponsored. In no-LLM world, consumers open their 2 most-loyal platforms with a cuisine filter. In the LLM world, they describe intent and the AI returns a cross-platform top-5 shortlist.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LLM is not replacing the platform. It only replaces the discovery layer — the search bar and sponsored feed. The platform still processes payments, dispatches delivery, maintains restaurant relationships, and sets commission rates. In paid regimes, the platform pays the LLM for routing traffic, but that payment is worthwhile because redirected orders generate more commission revenue than the fee.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No-LLM: consumers are loyal to specific apps. They filter by cuisine and see a platform-curated feed. They only see offers from those 2 platforms. LLM: the consumer describes intent — cuisine, budget, time — and the AI aggregates all 50 restaurants across all 3 platforms into a top-5 shortlist. The payment regime determines whether that shortlist is purely intent-ranked or partially biased toward sponsors.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Stylized example for a single consumer. Thai food, $35 budget, 40 min max. No-LLM: opens QuickEats and NomNom — best Thai option is $36 and 44 min, both overruns. LLM Neutral: aggregates all platforms, finds FoodRush Thai at $32 and 35 min — all constraints satisfied. CPC: FoodRush pays the highest per-click rate so it receives an unconditional ranking boost. CPFI: the sponsorship boost is multiplied by the predicted intent fulfilment score, so sponsored options only get amplification when they actually satisfy the consumer's intent. This is the core mechanism difference between regimes.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 fulfilment is the cleanest welfare metric — it captures whether the consumer's stated goal was achieved across all four dimensions: cuisine, budget, delivery time, and quality. Conversion tells us whether a purchase happened but not whether it was a good match. Platform net revenue is the key supply-side metric. HHI and Gini measure how concentrated restaurant exposure is — high concentration means a few restaurants capture almost all orders.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Experiment 1 establishes whether LLM intermediation helps relative to the direct search baseline. Experiment 2 is the core: comparing four payment regimes. Experiment 3 sweeps bias strength to find the regulatory threshold. Experiment 4 tests whether adoption determines quality or just volume.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neutral LLM raises intent fulfilment from 0.683 to 0.747 — a 9.3% improvement — even after giving the no-LLM baseline both platform loyalty and a cuisine filter. The gain comes from cross-platform aggregation: consumers find better-fit offers that their loyal platforms didn't carry. Average price falls $1.71, delivery time falls 1.7 minutes, conversion rises 1.2 percentage points.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paradox: neutral LLM is good for consumers but bad for platforms. The LLM routes to best-fit restaurants, which are often lower-commission than what a platform's own feed would surface. Platform net revenue falls $1,483 in aggregate. Restaurant profit per order also falls 8.6%. Platforms have no financial incentive to pay for neutral access. This is why paid regimes exist — they change routing in ways that can make platforms willing to participate.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Platforms pay the LLM voluntarily because the routing bias brings them more orders. The extra commission revenue exceeds the LLM fee. We calibrate LLM payments to 50% of gross platform surplus — platforms keep half. NomNom loses traffic in paid regimes, but that's a competitive externality from rival sponsorship, not a cost it bears directly.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CPC bills on clicks including those that don't convert. The LLM is incentivized to push high-bidding platforms regardless of satisfaction. CPA bills only on completed orders — the LLM has some incentive to avoid bad recommendations. CPFI scales payment by intent fulfilment score: a high-bid off-intent offer earns less than a moderate-bid on-intent offer. Under CPFI the LLM has a direct financial incentive to rank by consumer welfare.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CPC causes the largest distortion because it rewards clicks regardless of intent satisfaction. FoodRush pays $0.80 per click versus NomNom's $0.30, so the LLM biases toward FoodRush regardless of consumer-offer fit. CPA improves slightly: billing only on purchases. CPFI matches neutral because the sponsorship boost for any offer is multiplied by its predicted intent fulfilment score — off-intent sponsored options get little amplification.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paid regimes exceed the no-LLM baseline because rates are calibrated to value created by routing — platforms keep 50% of surplus. CPC generates the most ($72,468) because FoodRush's high commission makes redirected orders high-value. CPFI generates the least of the paid regimes ($71,309) because its alignment mechanism limits routing bias. Not every platform wins: NomNom loses traffic in all paid regimes as a competitive externality.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CPC creates extreme concentration. FoodRush pays $0.80 per click — 2.7x NomNom's rate. The additive bias bonus for FoodRush dominates shortlist composition. FoodRush jumps from 33% to 67%; NomNom is nearly eliminated at 3.8%. Under CPFI, concentration is dramatically lower: FoodRush still does well at 46.5%, but NomNom retains 12.8%. The CPFI mechanism only amplifies FoodRush when its restaurants actually fit the consumer's intent.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Green bars are above the no-LLM baseline of 0.683. Orange bars are degraded but better than no-LLM. Red bars fall below the no-LLM baseline. Crossover at bias 0.7–1.0. LLM revenue gains are sharply diminishing above 0.5 — raising bias from 0.5 to 1.0 adds only $358 in revenue while cutting intent fulfilment 4 percentage points. A cap at 0.10–0.20 preserves ~95% of consumer welfare gains at minimal revenue cost. This mirrors disclosure-style regulation: cap the weight of paid placement, don't prohibit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distinct effects. Demand effect (strong): conversion rises from 78.6% to 85.2% as trust increases — consumers who trust the AI follow recommendations more often. Quality effect (flat): intent fulfilment stays 0.747–0.749 regardless of trust. The LLM's algorithm determines shortlist quality, not adoption rate. Policy implication: you don't need mass adoption to benefit from good algorithmic design.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takeaways. 1: Neutral LLM improves consumer welfare +9.3% through cross-platform aggregation, but platforms lose $1,483 so they have negative WTP for neutral access. 2: CPFI is the best mechanism — intent fulfilment matches neutral (0.747), shortlist relevance slightly above (0.981), positive aggregate platform returns. 3: The bias cap of 0.20 is the regulatory threshold — below it welfare degradation is modest; above it harm accelerates and at 1.0 the LLM is worse than direct search. 4: CPC produces 67% FoodRush concentration and 3.8% NomNom, turning discovery into a winner-take-share game.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captures the core mechanism but abstracts away strategic dynamics. Real platforms would adapt: restaurants would game the LLM's ranking, platforms might negotiate exclusivity, competing LLMs would change bargaining. The static one-shot assumption is conservative — it likely understates concentration effects that emerge when high-bid platforms build cumulative advantages.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LLM discovery layer is a public good for consumers when neutral, but a commercial routing mechanism once paid. The key policy question is not whether to allow paid LLM placement, but how to design payment so it stays aligned with consumer welfare. CPFI achieves this by making the LLM's reward contingent on consumer outcomes. A bias cap prevents paid placement from overwhelming consumer-fit signals even under CPFI.</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Monte Carlo runs per scenario × 1,000 consumer sessions = 10,000 sessions per scenario. Each run draws fresh market and consumer populations from the same distributions.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Commission rates reflect realistic food delivery market structure. FoodRush's 25% rate is at the high end of industry norms; NomNom's 15% represents a lower-margin platform competing on delivery fee and logistics quality.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Restaurant quality and price are correlated to reflect real market structure where premium restaurants tend to charge more. The noise term ensures overlap so consumers can find value at any quality level.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Promo discounts come out of the platform's subsidy budget, not the restaurant's margin. The model assumes the platform covers half of the promo discount as a subsidy.</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1,000 consumers are generated fresh per Monte Carlo run. Consumer heterogeneity drives variation in which restaurants are purchased and which platforms receive orders.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 sampling adds session-level randomness on top of consumer-level heterogeneity. Two consumers with identical profiles may submit slightly different intents in any given session.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no-LLM baseline is a strong baseline: consumers use cuisine filters and have platform loyalty. It is not a naive random-choice model. The LLM advantage comes from cross-platform aggregation, not from replacing a random consumer.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Platform ranking deliberately includes commission revenue as a factor — platforms are not neutral. This reflects the real incentive for platforms to surface higher-commission restaurants even when they are not the best consumer match.</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two-stage interaction (click then buy) is important for CPC vs CPA distinction. CPC pays on Stage 1 (click). CPA and CPFI pay on Stage 2 (purchase).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LLM ranking formula is designed to capture the consumer's stated intent. It weights cuisine match most heavily, followed by quality, then affordability. The neutral regime adds no sponsorship bias.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FoodRush has the highest sponsorship rate and the highest commission — this combination maximizes both its advantage under CPC and the platform surplus calculation. NomNom's low rate and low commission mean it benefits least and loses most traffic under paid regimes.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multiplicative structure means any single zero (wrong cuisine, or extreme price/time overrun) collapses fulfilment to zero. Quality adjusts the maximum possible score but does not rescue a cuisine or budget violation.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utility formula drives MNL choice probabilities. Cuisine match has the highest coefficient (2.0) reflecting its primary role in food delivery intent. Sensitivities are consumer-specific, creating meaningful heterogeneity in which offers different consumers prefer.</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MNL is standard for discrete choice modeling. The logit structure ensures all options receive positive probability but high-utility options are much more likely to be chosen.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two-stage structure is what distinguishes CPC mechanically from CPA and CPFI. CPC can be paid on clicks that do not convert — this is the source of its misalignment.</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50% subsidy split means platforms bear half the promo discount cost. This is a simplifying assumption — in practice the split is negotiated. The LLM payment is zero for the neutral regime and calibrated via WTP estimation for paid regimes.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NomNom generates the highest restaurant profit per order because its 15% commission rate is the lowest. FoodRush generates the lowest restaurant profit but the highest platform revenue per order.</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CPC pays on click regardless of purchase — this is the mechanistic source of CPC misalignment. CPA improves by requiring a purchase. CPFI further requires the purchase to be a good intent match, making the LLM's financial incentive directly proportional to consumer welfare.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50% surplus capture rate is a modeling choice. In practice, the LLM's bargaining share would depend on competition between LLMs and platform alternatives. We use 50% as a symmetric split.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Intent fulfilment is conditioned on purchase — it measures quality of completed orders, not attempted sessions. Shortlist relevance is computed on every shortlist generated, not just those that led to purchases.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no-LLM baseline is not naive: consumers use both loyalty and cuisine filters. The LLM still wins because it aggregates across platforms and balances four intent dimensions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CPFI achieves neutral-level consumer welfare with positive platform returns. CPC achieves the highest platform revenue but at the cost of severe market concentration and consumer harm.</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Revenue gains are sharply diminishing above bias = 0.5: raising from 0.5 to 1.0 adds only $358 while cutting intent fulfilment 4 percentage points. A bias cap at 0.10–0.20 is the practical regulatory threshold.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Trust is drawn from Uniform(0,1) for each consumer across experiments. Each trust band subsets to consumers with trust in that range and re-runs both LLM and no-LLM scenarios for direct comparison.</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missing dynamic is platform strategic response. If platforms could adjust commission rates or inventory visibility in response to LLM routing, the equilibrium outcomes could differ substantially from the static simulation.</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defensive framing addresses the question: if platform net revenue rises under paid regimes, why is this a problem? The answer is that the aggregate gain masks a competitive redistribution from low-bid to high-bid platforms, and the consumer harm from CPC is not captured in the aggregate platform revenue number.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834640"/>
            <a:ext cx="12188952" cy="635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731520"/>
            <a:ext cx="10332720" cy="1188720"/>
          </a:xfrm>
          <a:prstGeom prst="rect">
            <a:avLst/>
          </a:prstGeom>
          <a:noFill/>
        </p:spPr>
        <p:txBody>
          <a:bodyPr wrap="square">
            <a:spAutoFit/>
          </a:bodyPr>
          <a:lstStyle/>
          <a:p>
            <a:pPr algn="ctr"/>
            <a:r>
              <a:rPr sz="4600" b="1" i="0">
                <a:solidFill>
                  <a:srgbClr val="FFFFFF"/>
                </a:solidFill>
                <a:latin typeface="Calibri"/>
              </a:rPr>
              <a:t>AI-Mediated Food Delivery</a:t>
            </a:r>
          </a:p>
        </p:txBody>
      </p:sp>
      <p:sp>
        <p:nvSpPr>
          <p:cNvPr id="5" name="TextBox 4"/>
          <p:cNvSpPr txBox="1"/>
          <p:nvPr/>
        </p:nvSpPr>
        <p:spPr>
          <a:xfrm>
            <a:off x="914400" y="1828800"/>
            <a:ext cx="10332720" cy="914400"/>
          </a:xfrm>
          <a:prstGeom prst="rect">
            <a:avLst/>
          </a:prstGeom>
          <a:noFill/>
        </p:spPr>
        <p:txBody>
          <a:bodyPr wrap="square">
            <a:spAutoFit/>
          </a:bodyPr>
          <a:lstStyle/>
          <a:p>
            <a:pPr algn="ctr"/>
            <a:r>
              <a:rPr sz="4600" b="1" i="0">
                <a:solidFill>
                  <a:srgbClr val="F0AB00"/>
                </a:solidFill>
                <a:latin typeface="Calibri"/>
              </a:rPr>
              <a:t>Marketplace Simulation</a:t>
            </a:r>
          </a:p>
        </p:txBody>
      </p:sp>
      <p:sp>
        <p:nvSpPr>
          <p:cNvPr id="6" name="TextBox 5"/>
          <p:cNvSpPr txBox="1"/>
          <p:nvPr/>
        </p:nvSpPr>
        <p:spPr>
          <a:xfrm>
            <a:off x="914400" y="3063240"/>
            <a:ext cx="10332720" cy="502920"/>
          </a:xfrm>
          <a:prstGeom prst="rect">
            <a:avLst/>
          </a:prstGeom>
          <a:noFill/>
        </p:spPr>
        <p:txBody>
          <a:bodyPr wrap="square">
            <a:spAutoFit/>
          </a:bodyPr>
          <a:lstStyle/>
          <a:p>
            <a:pPr algn="ctr"/>
            <a:r>
              <a:rPr sz="1800" b="0" i="1">
                <a:solidFill>
                  <a:srgbClr val="D6E4F0"/>
                </a:solidFill>
                <a:latin typeface="Calibri"/>
              </a:rPr>
              <a:t>Monetisation Design  ·  Sponsorship Bias  ·  Consumer Welfare</a:t>
            </a:r>
          </a:p>
        </p:txBody>
      </p:sp>
      <p:sp>
        <p:nvSpPr>
          <p:cNvPr id="7" name="TextBox 6"/>
          <p:cNvSpPr txBox="1"/>
          <p:nvPr/>
        </p:nvSpPr>
        <p:spPr>
          <a:xfrm>
            <a:off x="914400" y="3840480"/>
            <a:ext cx="10332720" cy="365760"/>
          </a:xfrm>
          <a:prstGeom prst="rect">
            <a:avLst/>
          </a:prstGeom>
          <a:noFill/>
        </p:spPr>
        <p:txBody>
          <a:bodyPr wrap="square">
            <a:spAutoFit/>
          </a:bodyPr>
          <a:lstStyle/>
          <a:p>
            <a:pPr algn="ctr"/>
            <a:r>
              <a:rPr sz="1300" b="0" i="0">
                <a:solidFill>
                  <a:srgbClr val="7FA7CC"/>
                </a:solidFill>
                <a:latin typeface="Calibri"/>
              </a:rPr>
              <a:t>Columbia University  ·  Digital Marketplaces  ·  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When the LLM controls discovery, who wins?</a:t>
            </a:r>
          </a:p>
        </p:txBody>
      </p:sp>
      <p:sp>
        <p:nvSpPr>
          <p:cNvPr id="8" name="Rectangle 7"/>
          <p:cNvSpPr/>
          <p:nvPr/>
        </p:nvSpPr>
        <p:spPr>
          <a:xfrm>
            <a:off x="365760" y="1051560"/>
            <a:ext cx="3657600" cy="320040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143000"/>
            <a:ext cx="3383280" cy="502920"/>
          </a:xfrm>
          <a:prstGeom prst="rect">
            <a:avLst/>
          </a:prstGeom>
          <a:noFill/>
        </p:spPr>
        <p:txBody>
          <a:bodyPr wrap="square">
            <a:spAutoFit/>
          </a:bodyPr>
          <a:lstStyle/>
          <a:p>
            <a:pPr algn="l"/>
            <a:r>
              <a:rPr sz="1600" b="1" i="0">
                <a:solidFill>
                  <a:srgbClr val="222233"/>
                </a:solidFill>
                <a:latin typeface="Calibri"/>
              </a:rPr>
              <a:t>Traditional discovery</a:t>
            </a:r>
          </a:p>
        </p:txBody>
      </p:sp>
      <p:sp>
        <p:nvSpPr>
          <p:cNvPr id="10" name="TextBox 9"/>
          <p:cNvSpPr txBox="1"/>
          <p:nvPr/>
        </p:nvSpPr>
        <p:spPr>
          <a:xfrm>
            <a:off x="502920" y="1691640"/>
            <a:ext cx="3383280" cy="2286000"/>
          </a:xfrm>
          <a:prstGeom prst="rect">
            <a:avLst/>
          </a:prstGeom>
          <a:noFill/>
        </p:spPr>
        <p:txBody>
          <a:bodyPr wrap="square">
            <a:spAutoFit/>
          </a:bodyPr>
          <a:lstStyle/>
          <a:p>
            <a:pPr algn="l"/>
            <a:r>
              <a:rPr sz="1400" b="0" i="0">
                <a:solidFill>
                  <a:srgbClr val="222233"/>
                </a:solidFill>
                <a:latin typeface="Calibri"/>
              </a:rPr>
              <a:t>Platforms control restaurant ranking through app search and sponsored placement.</a:t>
            </a:r>
          </a:p>
        </p:txBody>
      </p:sp>
      <p:sp>
        <p:nvSpPr>
          <p:cNvPr id="11" name="Rectangle 10"/>
          <p:cNvSpPr/>
          <p:nvPr/>
        </p:nvSpPr>
        <p:spPr>
          <a:xfrm>
            <a:off x="4297680" y="1051560"/>
            <a:ext cx="3657600" cy="3200400"/>
          </a:xfrm>
          <a:prstGeom prst="rect">
            <a:avLst/>
          </a:prstGeom>
          <a:solidFill>
            <a:srgbClr val="D6E4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34840" y="1143000"/>
            <a:ext cx="3383280" cy="502920"/>
          </a:xfrm>
          <a:prstGeom prst="rect">
            <a:avLst/>
          </a:prstGeom>
          <a:noFill/>
        </p:spPr>
        <p:txBody>
          <a:bodyPr wrap="square">
            <a:spAutoFit/>
          </a:bodyPr>
          <a:lstStyle/>
          <a:p>
            <a:pPr algn="l"/>
            <a:r>
              <a:rPr sz="1600" b="1" i="0">
                <a:solidFill>
                  <a:srgbClr val="1A2E4A"/>
                </a:solidFill>
                <a:latin typeface="Calibri"/>
              </a:rPr>
              <a:t>LLM as discovery layer</a:t>
            </a:r>
          </a:p>
        </p:txBody>
      </p:sp>
      <p:sp>
        <p:nvSpPr>
          <p:cNvPr id="13" name="TextBox 12"/>
          <p:cNvSpPr txBox="1"/>
          <p:nvPr/>
        </p:nvSpPr>
        <p:spPr>
          <a:xfrm>
            <a:off x="4434840" y="1691640"/>
            <a:ext cx="3383280" cy="2286000"/>
          </a:xfrm>
          <a:prstGeom prst="rect">
            <a:avLst/>
          </a:prstGeom>
          <a:noFill/>
        </p:spPr>
        <p:txBody>
          <a:bodyPr wrap="square">
            <a:spAutoFit/>
          </a:bodyPr>
          <a:lstStyle/>
          <a:p>
            <a:pPr algn="l"/>
            <a:r>
              <a:rPr sz="1400" b="0" i="0">
                <a:solidFill>
                  <a:srgbClr val="1A2E4A"/>
                </a:solidFill>
                <a:latin typeface="Calibri"/>
              </a:rPr>
              <a:t>LLMs can aggregate options across all platforms and return a cross-platform shortlist.</a:t>
            </a:r>
          </a:p>
        </p:txBody>
      </p:sp>
      <p:sp>
        <p:nvSpPr>
          <p:cNvPr id="14" name="Rectangle 13"/>
          <p:cNvSpPr/>
          <p:nvPr/>
        </p:nvSpPr>
        <p:spPr>
          <a:xfrm>
            <a:off x="8229600" y="1051560"/>
            <a:ext cx="3657600" cy="3200400"/>
          </a:xfrm>
          <a:prstGeom prst="rect">
            <a:avLst/>
          </a:prstGeom>
          <a:solidFill>
            <a:srgbClr val="FFEC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66760" y="1143000"/>
            <a:ext cx="3383280" cy="502920"/>
          </a:xfrm>
          <a:prstGeom prst="rect">
            <a:avLst/>
          </a:prstGeom>
          <a:noFill/>
        </p:spPr>
        <p:txBody>
          <a:bodyPr wrap="square">
            <a:spAutoFit/>
          </a:bodyPr>
          <a:lstStyle/>
          <a:p>
            <a:pPr algn="l"/>
            <a:r>
              <a:rPr sz="1600" b="1" i="0">
                <a:solidFill>
                  <a:srgbClr val="5D4000"/>
                </a:solidFill>
                <a:latin typeface="Calibri"/>
              </a:rPr>
              <a:t>The real question</a:t>
            </a:r>
          </a:p>
        </p:txBody>
      </p:sp>
      <p:sp>
        <p:nvSpPr>
          <p:cNvPr id="16" name="TextBox 15"/>
          <p:cNvSpPr txBox="1"/>
          <p:nvPr/>
        </p:nvSpPr>
        <p:spPr>
          <a:xfrm>
            <a:off x="8366760" y="1691640"/>
            <a:ext cx="3383280" cy="2286000"/>
          </a:xfrm>
          <a:prstGeom prst="rect">
            <a:avLst/>
          </a:prstGeom>
          <a:noFill/>
        </p:spPr>
        <p:txBody>
          <a:bodyPr wrap="square">
            <a:spAutoFit/>
          </a:bodyPr>
          <a:lstStyle/>
          <a:p>
            <a:pPr algn="l"/>
            <a:r>
              <a:rPr sz="1400" b="0" i="0">
                <a:solidFill>
                  <a:srgbClr val="5D4000"/>
                </a:solidFill>
                <a:latin typeface="Calibri"/>
              </a:rPr>
              <a:t>Not just whether LLMs improve matching — but how monetisation affects incentives.</a:t>
            </a:r>
          </a:p>
        </p:txBody>
      </p:sp>
      <p:sp>
        <p:nvSpPr>
          <p:cNvPr id="17" name="Rectangle 16"/>
          <p:cNvSpPr/>
          <p:nvPr/>
        </p:nvSpPr>
        <p:spPr>
          <a:xfrm>
            <a:off x="365760" y="4480560"/>
            <a:ext cx="11430000" cy="169164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4526280"/>
            <a:ext cx="2743200" cy="457200"/>
          </a:xfrm>
          <a:prstGeom prst="rect">
            <a:avLst/>
          </a:prstGeom>
          <a:noFill/>
        </p:spPr>
        <p:txBody>
          <a:bodyPr wrap="square">
            <a:spAutoFit/>
          </a:bodyPr>
          <a:lstStyle/>
          <a:p>
            <a:pPr algn="l"/>
            <a:r>
              <a:rPr sz="1400" b="0" i="1">
                <a:solidFill>
                  <a:srgbClr val="D6E4F0"/>
                </a:solidFill>
                <a:latin typeface="Calibri"/>
              </a:rPr>
              <a:t>Main question:</a:t>
            </a:r>
          </a:p>
        </p:txBody>
      </p:sp>
      <p:sp>
        <p:nvSpPr>
          <p:cNvPr id="19" name="TextBox 18"/>
          <p:cNvSpPr txBox="1"/>
          <p:nvPr/>
        </p:nvSpPr>
        <p:spPr>
          <a:xfrm>
            <a:off x="548640" y="4937760"/>
            <a:ext cx="11064240" cy="1051560"/>
          </a:xfrm>
          <a:prstGeom prst="rect">
            <a:avLst/>
          </a:prstGeom>
          <a:noFill/>
        </p:spPr>
        <p:txBody>
          <a:bodyPr wrap="square">
            <a:spAutoFit/>
          </a:bodyPr>
          <a:lstStyle/>
          <a:p>
            <a:pPr algn="l"/>
            <a:r>
              <a:rPr sz="2000" b="1" i="0">
                <a:solidFill>
                  <a:srgbClr val="FFFFFF"/>
                </a:solidFill>
                <a:latin typeface="Calibri"/>
              </a:rPr>
              <a:t>How do different LLM payment mechanisms affect consumer welfare, platform profits, and market concentration?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The simulation has four actors</a:t>
            </a:r>
          </a:p>
        </p:txBody>
      </p:sp>
      <p:sp>
        <p:nvSpPr>
          <p:cNvPr id="8" name="Rectangle 7"/>
          <p:cNvSpPr/>
          <p:nvPr/>
        </p:nvSpPr>
        <p:spPr>
          <a:xfrm>
            <a:off x="274320" y="1005840"/>
            <a:ext cx="2743200" cy="51663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51560"/>
            <a:ext cx="2743200" cy="502920"/>
          </a:xfrm>
          <a:prstGeom prst="rect">
            <a:avLst/>
          </a:prstGeom>
          <a:noFill/>
        </p:spPr>
        <p:txBody>
          <a:bodyPr wrap="square">
            <a:spAutoFit/>
          </a:bodyPr>
          <a:lstStyle/>
          <a:p>
            <a:pPr algn="ctr"/>
            <a:r>
              <a:rPr sz="1800" b="1" i="0">
                <a:solidFill>
                  <a:srgbClr val="FFFFFF"/>
                </a:solidFill>
                <a:latin typeface="Calibri"/>
              </a:rPr>
              <a:t>Consumers</a:t>
            </a:r>
          </a:p>
        </p:txBody>
      </p:sp>
      <p:sp>
        <p:nvSpPr>
          <p:cNvPr id="10" name="Rectangle 9"/>
          <p:cNvSpPr/>
          <p:nvPr/>
        </p:nvSpPr>
        <p:spPr>
          <a:xfrm>
            <a:off x="274320" y="1554480"/>
            <a:ext cx="274320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 y="1627632"/>
            <a:ext cx="2578608" cy="566928"/>
          </a:xfrm>
          <a:prstGeom prst="rect">
            <a:avLst/>
          </a:prstGeom>
          <a:noFill/>
        </p:spPr>
        <p:txBody>
          <a:bodyPr wrap="square">
            <a:spAutoFit/>
          </a:bodyPr>
          <a:lstStyle/>
          <a:p>
            <a:pPr algn="l"/>
            <a:r>
              <a:rPr sz="1200" b="0" i="0">
                <a:solidFill>
                  <a:srgbClr val="FFFFFF"/>
                </a:solidFill>
                <a:latin typeface="Calibri"/>
              </a:rPr>
              <a:t>Cuisine prefs, budget, max delivery time</a:t>
            </a:r>
          </a:p>
        </p:txBody>
      </p:sp>
      <p:sp>
        <p:nvSpPr>
          <p:cNvPr id="12" name="TextBox 11"/>
          <p:cNvSpPr txBox="1"/>
          <p:nvPr/>
        </p:nvSpPr>
        <p:spPr>
          <a:xfrm>
            <a:off x="384048" y="2221992"/>
            <a:ext cx="2578608" cy="566928"/>
          </a:xfrm>
          <a:prstGeom prst="rect">
            <a:avLst/>
          </a:prstGeom>
          <a:noFill/>
        </p:spPr>
        <p:txBody>
          <a:bodyPr wrap="square">
            <a:spAutoFit/>
          </a:bodyPr>
          <a:lstStyle/>
          <a:p>
            <a:pPr algn="l"/>
            <a:r>
              <a:rPr sz="1200" b="0" i="0">
                <a:solidFill>
                  <a:srgbClr val="FFFFFF"/>
                </a:solidFill>
                <a:latin typeface="Calibri"/>
              </a:rPr>
              <a:t>Price / time / quality sensitivity</a:t>
            </a:r>
          </a:p>
        </p:txBody>
      </p:sp>
      <p:sp>
        <p:nvSpPr>
          <p:cNvPr id="13" name="TextBox 12"/>
          <p:cNvSpPr txBox="1"/>
          <p:nvPr/>
        </p:nvSpPr>
        <p:spPr>
          <a:xfrm>
            <a:off x="384048" y="2816352"/>
            <a:ext cx="2578608" cy="566928"/>
          </a:xfrm>
          <a:prstGeom prst="rect">
            <a:avLst/>
          </a:prstGeom>
          <a:noFill/>
        </p:spPr>
        <p:txBody>
          <a:bodyPr wrap="square">
            <a:spAutoFit/>
          </a:bodyPr>
          <a:lstStyle/>
          <a:p>
            <a:pPr algn="l"/>
            <a:r>
              <a:rPr sz="1200" b="0" i="0">
                <a:solidFill>
                  <a:srgbClr val="FFFFFF"/>
                </a:solidFill>
                <a:latin typeface="Calibri"/>
              </a:rPr>
              <a:t>Platform loyalty  ·  LLM trust</a:t>
            </a:r>
          </a:p>
        </p:txBody>
      </p:sp>
      <p:sp>
        <p:nvSpPr>
          <p:cNvPr id="14" name="TextBox 13"/>
          <p:cNvSpPr txBox="1"/>
          <p:nvPr/>
        </p:nvSpPr>
        <p:spPr>
          <a:xfrm>
            <a:off x="384048" y="3410712"/>
            <a:ext cx="2578608" cy="566928"/>
          </a:xfrm>
          <a:prstGeom prst="rect">
            <a:avLst/>
          </a:prstGeom>
          <a:noFill/>
        </p:spPr>
        <p:txBody>
          <a:bodyPr wrap="square">
            <a:spAutoFit/>
          </a:bodyPr>
          <a:lstStyle/>
          <a:p>
            <a:pPr algn="l"/>
            <a:r>
              <a:rPr sz="1200" b="0" i="0">
                <a:solidFill>
                  <a:srgbClr val="FFFFFF"/>
                </a:solidFill>
                <a:latin typeface="Calibri"/>
              </a:rPr>
              <a:t>No-LLM: top-2 loyal platforms</a:t>
            </a:r>
          </a:p>
        </p:txBody>
      </p:sp>
      <p:sp>
        <p:nvSpPr>
          <p:cNvPr id="15" name="TextBox 14"/>
          <p:cNvSpPr txBox="1"/>
          <p:nvPr/>
        </p:nvSpPr>
        <p:spPr>
          <a:xfrm>
            <a:off x="384048" y="4005072"/>
            <a:ext cx="2578608" cy="566928"/>
          </a:xfrm>
          <a:prstGeom prst="rect">
            <a:avLst/>
          </a:prstGeom>
          <a:noFill/>
        </p:spPr>
        <p:txBody>
          <a:bodyPr wrap="square">
            <a:spAutoFit/>
          </a:bodyPr>
          <a:lstStyle/>
          <a:p>
            <a:pPr algn="l"/>
            <a:r>
              <a:rPr sz="1200" b="0" i="0">
                <a:solidFill>
                  <a:srgbClr val="FFFFFF"/>
                </a:solidFill>
                <a:latin typeface="Calibri"/>
              </a:rPr>
              <a:t>LLM: top-5 shortlist</a:t>
            </a:r>
          </a:p>
        </p:txBody>
      </p:sp>
      <p:sp>
        <p:nvSpPr>
          <p:cNvPr id="16" name="Rectangle 15"/>
          <p:cNvSpPr/>
          <p:nvPr/>
        </p:nvSpPr>
        <p:spPr>
          <a:xfrm>
            <a:off x="3218688" y="1005840"/>
            <a:ext cx="2743200" cy="516636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18688" y="1051560"/>
            <a:ext cx="2743200" cy="502920"/>
          </a:xfrm>
          <a:prstGeom prst="rect">
            <a:avLst/>
          </a:prstGeom>
          <a:noFill/>
        </p:spPr>
        <p:txBody>
          <a:bodyPr wrap="square">
            <a:spAutoFit/>
          </a:bodyPr>
          <a:lstStyle/>
          <a:p>
            <a:pPr algn="ctr"/>
            <a:r>
              <a:rPr sz="1800" b="1" i="0">
                <a:solidFill>
                  <a:srgbClr val="FFFFFF"/>
                </a:solidFill>
                <a:latin typeface="Calibri"/>
              </a:rPr>
              <a:t>Restaurants</a:t>
            </a:r>
          </a:p>
        </p:txBody>
      </p:sp>
      <p:sp>
        <p:nvSpPr>
          <p:cNvPr id="18" name="Rectangle 17"/>
          <p:cNvSpPr/>
          <p:nvPr/>
        </p:nvSpPr>
        <p:spPr>
          <a:xfrm>
            <a:off x="3218688" y="1554480"/>
            <a:ext cx="274320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28416" y="1627632"/>
            <a:ext cx="2578608" cy="566928"/>
          </a:xfrm>
          <a:prstGeom prst="rect">
            <a:avLst/>
          </a:prstGeom>
          <a:noFill/>
        </p:spPr>
        <p:txBody>
          <a:bodyPr wrap="square">
            <a:spAutoFit/>
          </a:bodyPr>
          <a:lstStyle/>
          <a:p>
            <a:pPr algn="l"/>
            <a:r>
              <a:rPr sz="1200" b="0" i="0">
                <a:solidFill>
                  <a:srgbClr val="FFFFFF"/>
                </a:solidFill>
                <a:latin typeface="Calibri"/>
              </a:rPr>
              <a:t>Cuisine, quality (2–5 stars)</a:t>
            </a:r>
          </a:p>
        </p:txBody>
      </p:sp>
      <p:sp>
        <p:nvSpPr>
          <p:cNvPr id="20" name="TextBox 19"/>
          <p:cNvSpPr txBox="1"/>
          <p:nvPr/>
        </p:nvSpPr>
        <p:spPr>
          <a:xfrm>
            <a:off x="3328416" y="2221992"/>
            <a:ext cx="2578608" cy="566928"/>
          </a:xfrm>
          <a:prstGeom prst="rect">
            <a:avLst/>
          </a:prstGeom>
          <a:noFill/>
        </p:spPr>
        <p:txBody>
          <a:bodyPr wrap="square">
            <a:spAutoFit/>
          </a:bodyPr>
          <a:lstStyle/>
          <a:p>
            <a:pPr algn="l"/>
            <a:r>
              <a:rPr sz="1200" b="0" i="0">
                <a:solidFill>
                  <a:srgbClr val="FFFFFF"/>
                </a:solidFill>
                <a:latin typeface="Calibri"/>
              </a:rPr>
              <a:t>Menu price, prep time, cost ratio</a:t>
            </a:r>
          </a:p>
        </p:txBody>
      </p:sp>
      <p:sp>
        <p:nvSpPr>
          <p:cNvPr id="21" name="TextBox 20"/>
          <p:cNvSpPr txBox="1"/>
          <p:nvPr/>
        </p:nvSpPr>
        <p:spPr>
          <a:xfrm>
            <a:off x="3328416" y="2816352"/>
            <a:ext cx="2578608" cy="566928"/>
          </a:xfrm>
          <a:prstGeom prst="rect">
            <a:avLst/>
          </a:prstGeom>
          <a:noFill/>
        </p:spPr>
        <p:txBody>
          <a:bodyPr wrap="square">
            <a:spAutoFit/>
          </a:bodyPr>
          <a:lstStyle/>
          <a:p>
            <a:pPr algn="l"/>
            <a:r>
              <a:rPr sz="1200" b="0" i="0">
                <a:solidFill>
                  <a:srgbClr val="FFFFFF"/>
                </a:solidFill>
                <a:latin typeface="Calibri"/>
              </a:rPr>
              <a:t>Listed on 1–3 platforms</a:t>
            </a:r>
          </a:p>
        </p:txBody>
      </p:sp>
      <p:sp>
        <p:nvSpPr>
          <p:cNvPr id="22" name="TextBox 21"/>
          <p:cNvSpPr txBox="1"/>
          <p:nvPr/>
        </p:nvSpPr>
        <p:spPr>
          <a:xfrm>
            <a:off x="3328416" y="3410712"/>
            <a:ext cx="2578608" cy="566928"/>
          </a:xfrm>
          <a:prstGeom prst="rect">
            <a:avLst/>
          </a:prstGeom>
          <a:noFill/>
        </p:spPr>
        <p:txBody>
          <a:bodyPr wrap="square">
            <a:spAutoFit/>
          </a:bodyPr>
          <a:lstStyle/>
          <a:p>
            <a:pPr algn="l"/>
            <a:r>
              <a:rPr sz="1200" b="0" i="0">
                <a:solidFill>
                  <a:srgbClr val="FFFFFF"/>
                </a:solidFill>
                <a:latin typeface="Calibri"/>
              </a:rPr>
              <a:t>Profit = revenue – cost – commission</a:t>
            </a:r>
          </a:p>
        </p:txBody>
      </p:sp>
      <p:sp>
        <p:nvSpPr>
          <p:cNvPr id="23" name="Rectangle 22"/>
          <p:cNvSpPr/>
          <p:nvPr/>
        </p:nvSpPr>
        <p:spPr>
          <a:xfrm>
            <a:off x="6163056" y="1005840"/>
            <a:ext cx="2743200" cy="51663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63056" y="1051560"/>
            <a:ext cx="2743200" cy="502920"/>
          </a:xfrm>
          <a:prstGeom prst="rect">
            <a:avLst/>
          </a:prstGeom>
          <a:noFill/>
        </p:spPr>
        <p:txBody>
          <a:bodyPr wrap="square">
            <a:spAutoFit/>
          </a:bodyPr>
          <a:lstStyle/>
          <a:p>
            <a:pPr algn="ctr"/>
            <a:r>
              <a:rPr sz="1800" b="1" i="0">
                <a:solidFill>
                  <a:srgbClr val="FFFFFF"/>
                </a:solidFill>
                <a:latin typeface="Calibri"/>
              </a:rPr>
              <a:t>Platforms</a:t>
            </a:r>
          </a:p>
        </p:txBody>
      </p:sp>
      <p:sp>
        <p:nvSpPr>
          <p:cNvPr id="25" name="Rectangle 24"/>
          <p:cNvSpPr/>
          <p:nvPr/>
        </p:nvSpPr>
        <p:spPr>
          <a:xfrm>
            <a:off x="6163056" y="1554480"/>
            <a:ext cx="274320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72784" y="1627632"/>
            <a:ext cx="2578608" cy="566928"/>
          </a:xfrm>
          <a:prstGeom prst="rect">
            <a:avLst/>
          </a:prstGeom>
          <a:noFill/>
        </p:spPr>
        <p:txBody>
          <a:bodyPr wrap="square">
            <a:spAutoFit/>
          </a:bodyPr>
          <a:lstStyle/>
          <a:p>
            <a:pPr algn="l"/>
            <a:r>
              <a:rPr sz="1200" b="0" i="0">
                <a:solidFill>
                  <a:srgbClr val="FFFFFF"/>
                </a:solidFill>
                <a:latin typeface="Calibri"/>
              </a:rPr>
              <a:t>QuickEats   20% commission</a:t>
            </a:r>
          </a:p>
        </p:txBody>
      </p:sp>
      <p:sp>
        <p:nvSpPr>
          <p:cNvPr id="27" name="TextBox 26"/>
          <p:cNvSpPr txBox="1"/>
          <p:nvPr/>
        </p:nvSpPr>
        <p:spPr>
          <a:xfrm>
            <a:off x="6272784" y="2221992"/>
            <a:ext cx="2578608" cy="566928"/>
          </a:xfrm>
          <a:prstGeom prst="rect">
            <a:avLst/>
          </a:prstGeom>
          <a:noFill/>
        </p:spPr>
        <p:txBody>
          <a:bodyPr wrap="square">
            <a:spAutoFit/>
          </a:bodyPr>
          <a:lstStyle/>
          <a:p>
            <a:pPr algn="l"/>
            <a:r>
              <a:rPr sz="1200" b="0" i="0">
                <a:solidFill>
                  <a:srgbClr val="FFFFFF"/>
                </a:solidFill>
                <a:latin typeface="Calibri"/>
              </a:rPr>
              <a:t>FoodRush    25% commission</a:t>
            </a:r>
          </a:p>
        </p:txBody>
      </p:sp>
      <p:sp>
        <p:nvSpPr>
          <p:cNvPr id="28" name="TextBox 27"/>
          <p:cNvSpPr txBox="1"/>
          <p:nvPr/>
        </p:nvSpPr>
        <p:spPr>
          <a:xfrm>
            <a:off x="6272784" y="2816352"/>
            <a:ext cx="2578608" cy="566928"/>
          </a:xfrm>
          <a:prstGeom prst="rect">
            <a:avLst/>
          </a:prstGeom>
          <a:noFill/>
        </p:spPr>
        <p:txBody>
          <a:bodyPr wrap="square">
            <a:spAutoFit/>
          </a:bodyPr>
          <a:lstStyle/>
          <a:p>
            <a:pPr algn="l"/>
            <a:r>
              <a:rPr sz="1200" b="0" i="0">
                <a:solidFill>
                  <a:srgbClr val="FFFFFF"/>
                </a:solidFill>
                <a:latin typeface="Calibri"/>
              </a:rPr>
              <a:t>NomNom      15% commission</a:t>
            </a:r>
          </a:p>
        </p:txBody>
      </p:sp>
      <p:sp>
        <p:nvSpPr>
          <p:cNvPr id="29" name="TextBox 28"/>
          <p:cNvSpPr txBox="1"/>
          <p:nvPr/>
        </p:nvSpPr>
        <p:spPr>
          <a:xfrm>
            <a:off x="6272784" y="3410712"/>
            <a:ext cx="2578608" cy="566928"/>
          </a:xfrm>
          <a:prstGeom prst="rect">
            <a:avLst/>
          </a:prstGeom>
          <a:noFill/>
        </p:spPr>
        <p:txBody>
          <a:bodyPr wrap="square">
            <a:spAutoFit/>
          </a:bodyPr>
          <a:lstStyle/>
          <a:p>
            <a:pPr algn="l"/>
            <a:r>
              <a:rPr sz="1200" b="0" i="0">
                <a:solidFill>
                  <a:srgbClr val="FFFFFF"/>
                </a:solidFill>
                <a:latin typeface="Calibri"/>
              </a:rPr>
              <a:t>Earn: commission + delivery fee</a:t>
            </a:r>
          </a:p>
        </p:txBody>
      </p:sp>
      <p:sp>
        <p:nvSpPr>
          <p:cNvPr id="30" name="TextBox 29"/>
          <p:cNvSpPr txBox="1"/>
          <p:nvPr/>
        </p:nvSpPr>
        <p:spPr>
          <a:xfrm>
            <a:off x="6272784" y="4005072"/>
            <a:ext cx="2578608" cy="566928"/>
          </a:xfrm>
          <a:prstGeom prst="rect">
            <a:avLst/>
          </a:prstGeom>
          <a:noFill/>
        </p:spPr>
        <p:txBody>
          <a:bodyPr wrap="square">
            <a:spAutoFit/>
          </a:bodyPr>
          <a:lstStyle/>
          <a:p>
            <a:pPr algn="l"/>
            <a:r>
              <a:rPr sz="1100" b="0" i="1">
                <a:solidFill>
                  <a:srgbClr val="D6E4F0"/>
                </a:solidFill>
                <a:latin typeface="Calibri"/>
              </a:rPr>
              <a:t>– promo subsidy – LLM payment</a:t>
            </a:r>
          </a:p>
        </p:txBody>
      </p:sp>
      <p:sp>
        <p:nvSpPr>
          <p:cNvPr id="31" name="Rectangle 30"/>
          <p:cNvSpPr/>
          <p:nvPr/>
        </p:nvSpPr>
        <p:spPr>
          <a:xfrm>
            <a:off x="9107424" y="1005840"/>
            <a:ext cx="2743200" cy="5166360"/>
          </a:xfrm>
          <a:prstGeom prst="rect">
            <a:avLst/>
          </a:prstGeom>
          <a:solidFill>
            <a:srgbClr val="6C3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07424" y="1051560"/>
            <a:ext cx="2743200" cy="502920"/>
          </a:xfrm>
          <a:prstGeom prst="rect">
            <a:avLst/>
          </a:prstGeom>
          <a:noFill/>
        </p:spPr>
        <p:txBody>
          <a:bodyPr wrap="square">
            <a:spAutoFit/>
          </a:bodyPr>
          <a:lstStyle/>
          <a:p>
            <a:pPr algn="ctr"/>
            <a:r>
              <a:rPr sz="1800" b="1" i="0">
                <a:solidFill>
                  <a:srgbClr val="FFFFFF"/>
                </a:solidFill>
                <a:latin typeface="Calibri"/>
              </a:rPr>
              <a:t>LLM</a:t>
            </a:r>
          </a:p>
        </p:txBody>
      </p:sp>
      <p:sp>
        <p:nvSpPr>
          <p:cNvPr id="33" name="Rectangle 32"/>
          <p:cNvSpPr/>
          <p:nvPr/>
        </p:nvSpPr>
        <p:spPr>
          <a:xfrm>
            <a:off x="9107424" y="1554480"/>
            <a:ext cx="274320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17152" y="1627632"/>
            <a:ext cx="2578608" cy="566928"/>
          </a:xfrm>
          <a:prstGeom prst="rect">
            <a:avLst/>
          </a:prstGeom>
          <a:noFill/>
        </p:spPr>
        <p:txBody>
          <a:bodyPr wrap="square">
            <a:spAutoFit/>
          </a:bodyPr>
          <a:lstStyle/>
          <a:p>
            <a:pPr algn="l"/>
            <a:r>
              <a:rPr sz="1200" b="0" i="0">
                <a:solidFill>
                  <a:srgbClr val="FFFFFF"/>
                </a:solidFill>
                <a:latin typeface="Calibri"/>
              </a:rPr>
              <a:t>Aggregates all platform offers</a:t>
            </a:r>
          </a:p>
        </p:txBody>
      </p:sp>
      <p:sp>
        <p:nvSpPr>
          <p:cNvPr id="35" name="TextBox 34"/>
          <p:cNvSpPr txBox="1"/>
          <p:nvPr/>
        </p:nvSpPr>
        <p:spPr>
          <a:xfrm>
            <a:off x="9217152" y="2221992"/>
            <a:ext cx="2578608" cy="566928"/>
          </a:xfrm>
          <a:prstGeom prst="rect">
            <a:avLst/>
          </a:prstGeom>
          <a:noFill/>
        </p:spPr>
        <p:txBody>
          <a:bodyPr wrap="square">
            <a:spAutoFit/>
          </a:bodyPr>
          <a:lstStyle/>
          <a:p>
            <a:pPr algn="l"/>
            <a:r>
              <a:rPr sz="1200" b="0" i="0">
                <a:solidFill>
                  <a:srgbClr val="FFFFFF"/>
                </a:solidFill>
                <a:latin typeface="Calibri"/>
              </a:rPr>
              <a:t>Produces top-5 shortlist</a:t>
            </a:r>
          </a:p>
        </p:txBody>
      </p:sp>
      <p:sp>
        <p:nvSpPr>
          <p:cNvPr id="36" name="TextBox 35"/>
          <p:cNvSpPr txBox="1"/>
          <p:nvPr/>
        </p:nvSpPr>
        <p:spPr>
          <a:xfrm>
            <a:off x="9217152" y="2816352"/>
            <a:ext cx="2578608" cy="566928"/>
          </a:xfrm>
          <a:prstGeom prst="rect">
            <a:avLst/>
          </a:prstGeom>
          <a:noFill/>
        </p:spPr>
        <p:txBody>
          <a:bodyPr wrap="square">
            <a:spAutoFit/>
          </a:bodyPr>
          <a:lstStyle/>
          <a:p>
            <a:pPr algn="l"/>
            <a:r>
              <a:rPr sz="1200" b="0" i="0">
                <a:solidFill>
                  <a:srgbClr val="FFFFFF"/>
                </a:solidFill>
                <a:latin typeface="Calibri"/>
              </a:rPr>
              <a:t>Ranks: consumer intent ± sponsorship</a:t>
            </a:r>
          </a:p>
        </p:txBody>
      </p:sp>
      <p:sp>
        <p:nvSpPr>
          <p:cNvPr id="37" name="TextBox 36"/>
          <p:cNvSpPr txBox="1"/>
          <p:nvPr/>
        </p:nvSpPr>
        <p:spPr>
          <a:xfrm>
            <a:off x="9217152" y="3410712"/>
            <a:ext cx="2578608" cy="566928"/>
          </a:xfrm>
          <a:prstGeom prst="rect">
            <a:avLst/>
          </a:prstGeom>
          <a:noFill/>
        </p:spPr>
        <p:txBody>
          <a:bodyPr wrap="square">
            <a:spAutoFit/>
          </a:bodyPr>
          <a:lstStyle/>
          <a:p>
            <a:pPr algn="l"/>
            <a:r>
              <a:rPr sz="1200" b="0" i="0">
                <a:solidFill>
                  <a:srgbClr val="FFFFFF"/>
                </a:solidFill>
                <a:latin typeface="Calibri"/>
              </a:rPr>
              <a:t>Neutral OR paid per regime</a:t>
            </a:r>
          </a:p>
        </p:txBody>
      </p:sp>
      <p:sp>
        <p:nvSpPr>
          <p:cNvPr id="38" name="TextBox 37"/>
          <p:cNvSpPr txBox="1"/>
          <p:nvPr/>
        </p:nvSpPr>
        <p:spPr>
          <a:xfrm>
            <a:off x="274320" y="6263640"/>
            <a:ext cx="11612880" cy="365760"/>
          </a:xfrm>
          <a:prstGeom prst="rect">
            <a:avLst/>
          </a:prstGeom>
          <a:noFill/>
        </p:spPr>
        <p:txBody>
          <a:bodyPr wrap="square">
            <a:spAutoFit/>
          </a:bodyPr>
          <a:lstStyle/>
          <a:p>
            <a:pPr algn="ctr"/>
            <a:r>
              <a:rPr sz="1300" b="0" i="1">
                <a:solidFill>
                  <a:srgbClr val="888899"/>
                </a:solidFill>
                <a:latin typeface="Calibri"/>
              </a:rPr>
              <a:t>Consumer intent  →  LLM / platform discovery  →  platform fulfillment  →  restaurant order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Platforms still earn because they fulfill the order</a:t>
            </a:r>
          </a:p>
        </p:txBody>
      </p:sp>
      <p:sp>
        <p:nvSpPr>
          <p:cNvPr id="8" name="Rectangle 7"/>
          <p:cNvSpPr/>
          <p:nvPr/>
        </p:nvSpPr>
        <p:spPr>
          <a:xfrm>
            <a:off x="365760" y="1005840"/>
            <a:ext cx="7315200" cy="23774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115568"/>
            <a:ext cx="7040880" cy="502920"/>
          </a:xfrm>
          <a:prstGeom prst="rect">
            <a:avLst/>
          </a:prstGeom>
          <a:noFill/>
        </p:spPr>
        <p:txBody>
          <a:bodyPr wrap="square">
            <a:spAutoFit/>
          </a:bodyPr>
          <a:lstStyle/>
          <a:p>
            <a:pPr algn="l"/>
            <a:r>
              <a:rPr sz="1500" b="1" i="0">
                <a:solidFill>
                  <a:srgbClr val="F0AB00"/>
                </a:solidFill>
                <a:latin typeface="Calibri"/>
              </a:rPr>
              <a:t>Platform net  =  commission  +  delivery fee  –  promo subsidy  –  LLM payment</a:t>
            </a:r>
          </a:p>
        </p:txBody>
      </p:sp>
      <p:sp>
        <p:nvSpPr>
          <p:cNvPr id="10" name="Rectangle 9"/>
          <p:cNvSpPr/>
          <p:nvPr/>
        </p:nvSpPr>
        <p:spPr>
          <a:xfrm>
            <a:off x="502920" y="1664208"/>
            <a:ext cx="694944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783080"/>
            <a:ext cx="7040880" cy="411480"/>
          </a:xfrm>
          <a:prstGeom prst="rect">
            <a:avLst/>
          </a:prstGeom>
          <a:noFill/>
        </p:spPr>
        <p:txBody>
          <a:bodyPr wrap="square">
            <a:spAutoFit/>
          </a:bodyPr>
          <a:lstStyle/>
          <a:p>
            <a:pPr algn="l"/>
            <a:r>
              <a:rPr sz="1300" b="0" i="1">
                <a:solidFill>
                  <a:srgbClr val="D6E4F0"/>
                </a:solidFill>
                <a:latin typeface="Calibri"/>
              </a:rPr>
              <a:t>Restaurant profit  =  menu price  –  production cost  –  platform commission</a:t>
            </a:r>
          </a:p>
        </p:txBody>
      </p:sp>
      <p:sp>
        <p:nvSpPr>
          <p:cNvPr id="12" name="TextBox 11"/>
          <p:cNvSpPr txBox="1"/>
          <p:nvPr/>
        </p:nvSpPr>
        <p:spPr>
          <a:xfrm>
            <a:off x="502920" y="2212848"/>
            <a:ext cx="7040880" cy="411480"/>
          </a:xfrm>
          <a:prstGeom prst="rect">
            <a:avLst/>
          </a:prstGeom>
          <a:noFill/>
        </p:spPr>
        <p:txBody>
          <a:bodyPr wrap="square">
            <a:spAutoFit/>
          </a:bodyPr>
          <a:lstStyle/>
          <a:p>
            <a:pPr algn="l"/>
            <a:r>
              <a:rPr sz="1300" b="0" i="1">
                <a:solidFill>
                  <a:srgbClr val="D6E4F0"/>
                </a:solidFill>
                <a:latin typeface="Calibri"/>
              </a:rPr>
              <a:t>Consumer pays  =  menu price  +  delivery fee  –  promo discount</a:t>
            </a:r>
          </a:p>
        </p:txBody>
      </p:sp>
      <p:sp>
        <p:nvSpPr>
          <p:cNvPr id="13" name="Rectangle 12"/>
          <p:cNvSpPr/>
          <p:nvPr/>
        </p:nvSpPr>
        <p:spPr>
          <a:xfrm>
            <a:off x="457200" y="3657600"/>
            <a:ext cx="2011680" cy="13716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977639"/>
            <a:ext cx="2011680" cy="731520"/>
          </a:xfrm>
          <a:prstGeom prst="rect">
            <a:avLst/>
          </a:prstGeom>
          <a:noFill/>
        </p:spPr>
        <p:txBody>
          <a:bodyPr wrap="square">
            <a:spAutoFit/>
          </a:bodyPr>
          <a:lstStyle/>
          <a:p>
            <a:pPr algn="ctr"/>
            <a:r>
              <a:rPr sz="1500" b="1" i="0">
                <a:solidFill>
                  <a:srgbClr val="FFFFFF"/>
                </a:solidFill>
                <a:latin typeface="Calibri"/>
              </a:rPr>
              <a:t>Consumer
payment</a:t>
            </a:r>
          </a:p>
        </p:txBody>
      </p:sp>
      <p:sp>
        <p:nvSpPr>
          <p:cNvPr id="15" name="Rectangle 14"/>
          <p:cNvSpPr/>
          <p:nvPr/>
        </p:nvSpPr>
        <p:spPr>
          <a:xfrm>
            <a:off x="3017520" y="3657600"/>
            <a:ext cx="2011680" cy="137160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017520" y="3977639"/>
            <a:ext cx="2011680" cy="731520"/>
          </a:xfrm>
          <a:prstGeom prst="rect">
            <a:avLst/>
          </a:prstGeom>
          <a:noFill/>
        </p:spPr>
        <p:txBody>
          <a:bodyPr wrap="square">
            <a:spAutoFit/>
          </a:bodyPr>
          <a:lstStyle/>
          <a:p>
            <a:pPr algn="ctr"/>
            <a:r>
              <a:rPr sz="1500" b="1" i="0">
                <a:solidFill>
                  <a:srgbClr val="FFFFFF"/>
                </a:solidFill>
                <a:latin typeface="Calibri"/>
              </a:rPr>
              <a:t>Platform
(fulfillment)</a:t>
            </a:r>
          </a:p>
        </p:txBody>
      </p:sp>
      <p:sp>
        <p:nvSpPr>
          <p:cNvPr id="17" name="Rectangle 16"/>
          <p:cNvSpPr/>
          <p:nvPr/>
        </p:nvSpPr>
        <p:spPr>
          <a:xfrm>
            <a:off x="5577840" y="3657600"/>
            <a:ext cx="2011680" cy="137160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577840" y="3977639"/>
            <a:ext cx="2011680" cy="731520"/>
          </a:xfrm>
          <a:prstGeom prst="rect">
            <a:avLst/>
          </a:prstGeom>
          <a:noFill/>
        </p:spPr>
        <p:txBody>
          <a:bodyPr wrap="square">
            <a:spAutoFit/>
          </a:bodyPr>
          <a:lstStyle/>
          <a:p>
            <a:pPr algn="ctr"/>
            <a:r>
              <a:rPr sz="1500" b="1" i="0">
                <a:solidFill>
                  <a:srgbClr val="FFFFFF"/>
                </a:solidFill>
                <a:latin typeface="Calibri"/>
              </a:rPr>
              <a:t>Restaurant
(order)</a:t>
            </a:r>
          </a:p>
        </p:txBody>
      </p:sp>
      <p:sp>
        <p:nvSpPr>
          <p:cNvPr id="19" name="TextBox 18"/>
          <p:cNvSpPr txBox="1"/>
          <p:nvPr/>
        </p:nvSpPr>
        <p:spPr>
          <a:xfrm>
            <a:off x="2542032" y="4160520"/>
            <a:ext cx="402336" cy="457200"/>
          </a:xfrm>
          <a:prstGeom prst="rect">
            <a:avLst/>
          </a:prstGeom>
          <a:noFill/>
        </p:spPr>
        <p:txBody>
          <a:bodyPr wrap="square">
            <a:spAutoFit/>
          </a:bodyPr>
          <a:lstStyle/>
          <a:p>
            <a:pPr algn="ctr"/>
            <a:r>
              <a:rPr sz="2600" b="1" i="0">
                <a:solidFill>
                  <a:srgbClr val="F0AB00"/>
                </a:solidFill>
                <a:latin typeface="Calibri"/>
              </a:rPr>
              <a:t>→</a:t>
            </a:r>
          </a:p>
        </p:txBody>
      </p:sp>
      <p:sp>
        <p:nvSpPr>
          <p:cNvPr id="20" name="TextBox 19"/>
          <p:cNvSpPr txBox="1"/>
          <p:nvPr/>
        </p:nvSpPr>
        <p:spPr>
          <a:xfrm>
            <a:off x="5102352" y="4160520"/>
            <a:ext cx="402336" cy="457200"/>
          </a:xfrm>
          <a:prstGeom prst="rect">
            <a:avLst/>
          </a:prstGeom>
          <a:noFill/>
        </p:spPr>
        <p:txBody>
          <a:bodyPr wrap="square">
            <a:spAutoFit/>
          </a:bodyPr>
          <a:lstStyle/>
          <a:p>
            <a:pPr algn="ctr"/>
            <a:r>
              <a:rPr sz="2600" b="1" i="0">
                <a:solidFill>
                  <a:srgbClr val="F0AB00"/>
                </a:solidFill>
                <a:latin typeface="Calibri"/>
              </a:rPr>
              <a:t>→</a:t>
            </a:r>
          </a:p>
        </p:txBody>
      </p:sp>
      <p:sp>
        <p:nvSpPr>
          <p:cNvPr id="21" name="Rectangle 20"/>
          <p:cNvSpPr/>
          <p:nvPr/>
        </p:nvSpPr>
        <p:spPr>
          <a:xfrm>
            <a:off x="3474720" y="5212080"/>
            <a:ext cx="2011680" cy="1097280"/>
          </a:xfrm>
          <a:prstGeom prst="rect">
            <a:avLst/>
          </a:prstGeom>
          <a:solidFill>
            <a:srgbClr val="6C3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474720" y="5303520"/>
            <a:ext cx="2011680" cy="822960"/>
          </a:xfrm>
          <a:prstGeom prst="rect">
            <a:avLst/>
          </a:prstGeom>
          <a:noFill/>
        </p:spPr>
        <p:txBody>
          <a:bodyPr wrap="square">
            <a:spAutoFit/>
          </a:bodyPr>
          <a:lstStyle/>
          <a:p>
            <a:pPr algn="ctr"/>
            <a:r>
              <a:rPr sz="1300" b="1" i="0">
                <a:solidFill>
                  <a:srgbClr val="FFFFFF"/>
                </a:solidFill>
                <a:latin typeface="Calibri"/>
              </a:rPr>
              <a:t>LLM
(paid regimes)</a:t>
            </a:r>
          </a:p>
        </p:txBody>
      </p:sp>
      <p:sp>
        <p:nvSpPr>
          <p:cNvPr id="23" name="TextBox 22"/>
          <p:cNvSpPr txBox="1"/>
          <p:nvPr/>
        </p:nvSpPr>
        <p:spPr>
          <a:xfrm>
            <a:off x="3200400" y="5029200"/>
            <a:ext cx="2560320" cy="365760"/>
          </a:xfrm>
          <a:prstGeom prst="rect">
            <a:avLst/>
          </a:prstGeom>
          <a:noFill/>
        </p:spPr>
        <p:txBody>
          <a:bodyPr wrap="square">
            <a:spAutoFit/>
          </a:bodyPr>
          <a:lstStyle/>
          <a:p>
            <a:pPr algn="ctr"/>
            <a:r>
              <a:rPr sz="1200" b="0" i="1">
                <a:solidFill>
                  <a:srgbClr val="F0AB00"/>
                </a:solidFill>
                <a:latin typeface="Calibri"/>
              </a:rPr>
              <a:t>↑  LLM payment</a:t>
            </a:r>
          </a:p>
        </p:txBody>
      </p:sp>
      <p:sp>
        <p:nvSpPr>
          <p:cNvPr id="24" name="Rectangle 23"/>
          <p:cNvSpPr/>
          <p:nvPr/>
        </p:nvSpPr>
        <p:spPr>
          <a:xfrm>
            <a:off x="7955279" y="1005840"/>
            <a:ext cx="3931920" cy="53035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92440" y="1097280"/>
            <a:ext cx="3657600" cy="411480"/>
          </a:xfrm>
          <a:prstGeom prst="rect">
            <a:avLst/>
          </a:prstGeom>
          <a:noFill/>
        </p:spPr>
        <p:txBody>
          <a:bodyPr wrap="square">
            <a:spAutoFit/>
          </a:bodyPr>
          <a:lstStyle/>
          <a:p>
            <a:pPr algn="l"/>
            <a:r>
              <a:rPr sz="1500" b="1" i="0">
                <a:solidFill>
                  <a:srgbClr val="F0AB00"/>
                </a:solidFill>
                <a:latin typeface="Calibri"/>
              </a:rPr>
              <a:t>Key clarification</a:t>
            </a:r>
          </a:p>
        </p:txBody>
      </p:sp>
      <p:sp>
        <p:nvSpPr>
          <p:cNvPr id="26" name="TextBox 25"/>
          <p:cNvSpPr txBox="1"/>
          <p:nvPr/>
        </p:nvSpPr>
        <p:spPr>
          <a:xfrm>
            <a:off x="8092440" y="1554480"/>
            <a:ext cx="3657600" cy="640080"/>
          </a:xfrm>
          <a:prstGeom prst="rect">
            <a:avLst/>
          </a:prstGeom>
          <a:noFill/>
        </p:spPr>
        <p:txBody>
          <a:bodyPr wrap="square">
            <a:spAutoFit/>
          </a:bodyPr>
          <a:lstStyle/>
          <a:p>
            <a:pPr algn="l"/>
            <a:r>
              <a:rPr sz="1300" b="0" i="0">
                <a:solidFill>
                  <a:srgbClr val="D6E4F0"/>
                </a:solidFill>
                <a:latin typeface="Calibri"/>
              </a:rPr>
              <a:t>The LLM controls discovery.
The platform still controls:</a:t>
            </a:r>
          </a:p>
        </p:txBody>
      </p:sp>
      <p:sp>
        <p:nvSpPr>
          <p:cNvPr id="27" name="TextBox 26"/>
          <p:cNvSpPr txBox="1"/>
          <p:nvPr/>
        </p:nvSpPr>
        <p:spPr>
          <a:xfrm>
            <a:off x="8092440" y="2286000"/>
            <a:ext cx="3657600" cy="457200"/>
          </a:xfrm>
          <a:prstGeom prst="rect">
            <a:avLst/>
          </a:prstGeom>
          <a:noFill/>
        </p:spPr>
        <p:txBody>
          <a:bodyPr wrap="square">
            <a:spAutoFit/>
          </a:bodyPr>
          <a:lstStyle/>
          <a:p>
            <a:pPr algn="l"/>
            <a:r>
              <a:rPr sz="1300" b="0" i="0">
                <a:solidFill>
                  <a:srgbClr val="FFFFFF"/>
                </a:solidFill>
                <a:latin typeface="Calibri"/>
              </a:rPr>
              <a:t>·  Fulfillment + delivery infrastructure</a:t>
            </a:r>
          </a:p>
        </p:txBody>
      </p:sp>
      <p:sp>
        <p:nvSpPr>
          <p:cNvPr id="28" name="TextBox 27"/>
          <p:cNvSpPr txBox="1"/>
          <p:nvPr/>
        </p:nvSpPr>
        <p:spPr>
          <a:xfrm>
            <a:off x="8092440" y="2761488"/>
            <a:ext cx="3657600" cy="457200"/>
          </a:xfrm>
          <a:prstGeom prst="rect">
            <a:avLst/>
          </a:prstGeom>
          <a:noFill/>
        </p:spPr>
        <p:txBody>
          <a:bodyPr wrap="square">
            <a:spAutoFit/>
          </a:bodyPr>
          <a:lstStyle/>
          <a:p>
            <a:pPr algn="l"/>
            <a:r>
              <a:rPr sz="1300" b="0" i="0">
                <a:solidFill>
                  <a:srgbClr val="FFFFFF"/>
                </a:solidFill>
                <a:latin typeface="Calibri"/>
              </a:rPr>
              <a:t>·  Payment processing</a:t>
            </a:r>
          </a:p>
        </p:txBody>
      </p:sp>
      <p:sp>
        <p:nvSpPr>
          <p:cNvPr id="29" name="TextBox 28"/>
          <p:cNvSpPr txBox="1"/>
          <p:nvPr/>
        </p:nvSpPr>
        <p:spPr>
          <a:xfrm>
            <a:off x="8092440" y="3236976"/>
            <a:ext cx="3657600" cy="457200"/>
          </a:xfrm>
          <a:prstGeom prst="rect">
            <a:avLst/>
          </a:prstGeom>
          <a:noFill/>
        </p:spPr>
        <p:txBody>
          <a:bodyPr wrap="square">
            <a:spAutoFit/>
          </a:bodyPr>
          <a:lstStyle/>
          <a:p>
            <a:pPr algn="l"/>
            <a:r>
              <a:rPr sz="1300" b="0" i="0">
                <a:solidFill>
                  <a:srgbClr val="FFFFFF"/>
                </a:solidFill>
                <a:latin typeface="Calibri"/>
              </a:rPr>
              <a:t>·  Merchant relationships</a:t>
            </a:r>
          </a:p>
        </p:txBody>
      </p:sp>
      <p:sp>
        <p:nvSpPr>
          <p:cNvPr id="30" name="TextBox 29"/>
          <p:cNvSpPr txBox="1"/>
          <p:nvPr/>
        </p:nvSpPr>
        <p:spPr>
          <a:xfrm>
            <a:off x="8092440" y="3712464"/>
            <a:ext cx="3657600" cy="457200"/>
          </a:xfrm>
          <a:prstGeom prst="rect">
            <a:avLst/>
          </a:prstGeom>
          <a:noFill/>
        </p:spPr>
        <p:txBody>
          <a:bodyPr wrap="square">
            <a:spAutoFit/>
          </a:bodyPr>
          <a:lstStyle/>
          <a:p>
            <a:pPr algn="l"/>
            <a:r>
              <a:rPr sz="1300" b="0" i="0">
                <a:solidFill>
                  <a:srgbClr val="FFFFFF"/>
                </a:solidFill>
                <a:latin typeface="Calibri"/>
              </a:rPr>
              <a:t>·  Commission rates</a:t>
            </a:r>
          </a:p>
        </p:txBody>
      </p:sp>
      <p:sp>
        <p:nvSpPr>
          <p:cNvPr id="31" name="Rectangle 30"/>
          <p:cNvSpPr/>
          <p:nvPr/>
        </p:nvSpPr>
        <p:spPr>
          <a:xfrm>
            <a:off x="8092440" y="4251960"/>
            <a:ext cx="365760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92440" y="4389120"/>
            <a:ext cx="3657600" cy="1097280"/>
          </a:xfrm>
          <a:prstGeom prst="rect">
            <a:avLst/>
          </a:prstGeom>
          <a:noFill/>
        </p:spPr>
        <p:txBody>
          <a:bodyPr wrap="square">
            <a:spAutoFit/>
          </a:bodyPr>
          <a:lstStyle/>
          <a:p>
            <a:pPr algn="ctr"/>
            <a:r>
              <a:rPr sz="1800" b="1" i="0">
                <a:solidFill>
                  <a:srgbClr val="FFFFFF"/>
                </a:solidFill>
                <a:latin typeface="Calibri"/>
              </a:rPr>
              <a:t>The LLM replaces discovery.
Not fulfillment.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Two worlds: direct platform search vs. LLM-mediated search</a:t>
            </a:r>
          </a:p>
        </p:txBody>
      </p:sp>
      <p:sp>
        <p:nvSpPr>
          <p:cNvPr id="8" name="Rectangle 7"/>
          <p:cNvSpPr/>
          <p:nvPr/>
        </p:nvSpPr>
        <p:spPr>
          <a:xfrm>
            <a:off x="274320" y="1005840"/>
            <a:ext cx="5303520" cy="5303520"/>
          </a:xfrm>
          <a:prstGeom prst="rect">
            <a:avLst/>
          </a:prstGeom>
          <a:solidFill>
            <a:srgbClr val="FFFFFF"/>
          </a:solidFill>
          <a:ln w="190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05840"/>
            <a:ext cx="5303520" cy="502920"/>
          </a:xfrm>
          <a:prstGeom prst="rect">
            <a:avLst/>
          </a:prstGeom>
          <a:noFill/>
        </p:spPr>
        <p:txBody>
          <a:bodyPr wrap="square">
            <a:spAutoFit/>
          </a:bodyPr>
          <a:lstStyle/>
          <a:p>
            <a:pPr algn="ctr"/>
            <a:r>
              <a:rPr sz="1500" b="1" i="0">
                <a:solidFill>
                  <a:srgbClr val="888899"/>
                </a:solidFill>
                <a:latin typeface="Calibri"/>
              </a:rPr>
              <a:t>World A — No-LLM</a:t>
            </a:r>
          </a:p>
        </p:txBody>
      </p:sp>
      <p:sp>
        <p:nvSpPr>
          <p:cNvPr id="10" name="Rectangle 9"/>
          <p:cNvSpPr/>
          <p:nvPr/>
        </p:nvSpPr>
        <p:spPr>
          <a:xfrm>
            <a:off x="457200" y="1600200"/>
            <a:ext cx="4937760" cy="82296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645920"/>
            <a:ext cx="4846320" cy="731520"/>
          </a:xfrm>
          <a:prstGeom prst="rect">
            <a:avLst/>
          </a:prstGeom>
          <a:noFill/>
        </p:spPr>
        <p:txBody>
          <a:bodyPr wrap="square">
            <a:spAutoFit/>
          </a:bodyPr>
          <a:lstStyle/>
          <a:p>
            <a:pPr algn="ctr"/>
            <a:r>
              <a:rPr sz="1300" b="0" i="0">
                <a:solidFill>
                  <a:srgbClr val="222233"/>
                </a:solidFill>
                <a:latin typeface="Calibri"/>
              </a:rPr>
              <a:t>Consumer opens 2 most-loyal platforms</a:t>
            </a:r>
          </a:p>
        </p:txBody>
      </p:sp>
      <p:sp>
        <p:nvSpPr>
          <p:cNvPr id="12" name="TextBox 11"/>
          <p:cNvSpPr txBox="1"/>
          <p:nvPr/>
        </p:nvSpPr>
        <p:spPr>
          <a:xfrm>
            <a:off x="2651760" y="2423160"/>
            <a:ext cx="365760" cy="320040"/>
          </a:xfrm>
          <a:prstGeom prst="rect">
            <a:avLst/>
          </a:prstGeom>
          <a:noFill/>
        </p:spPr>
        <p:txBody>
          <a:bodyPr wrap="square">
            <a:spAutoFit/>
          </a:bodyPr>
          <a:lstStyle/>
          <a:p>
            <a:pPr algn="ctr"/>
            <a:r>
              <a:rPr sz="1800" b="0" i="0">
                <a:solidFill>
                  <a:srgbClr val="888899"/>
                </a:solidFill>
                <a:latin typeface="Calibri"/>
              </a:rPr>
              <a:t>↓</a:t>
            </a:r>
          </a:p>
        </p:txBody>
      </p:sp>
      <p:sp>
        <p:nvSpPr>
          <p:cNvPr id="13" name="Rectangle 12"/>
          <p:cNvSpPr/>
          <p:nvPr/>
        </p:nvSpPr>
        <p:spPr>
          <a:xfrm>
            <a:off x="457200" y="2697480"/>
            <a:ext cx="4937760" cy="822960"/>
          </a:xfrm>
          <a:prstGeom prst="rect">
            <a:avLst/>
          </a:prstGeom>
          <a:solidFill>
            <a:srgbClr val="FFEC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743200"/>
            <a:ext cx="4846320" cy="731520"/>
          </a:xfrm>
          <a:prstGeom prst="rect">
            <a:avLst/>
          </a:prstGeom>
          <a:noFill/>
        </p:spPr>
        <p:txBody>
          <a:bodyPr wrap="square">
            <a:spAutoFit/>
          </a:bodyPr>
          <a:lstStyle/>
          <a:p>
            <a:pPr algn="ctr"/>
            <a:r>
              <a:rPr sz="1300" b="0" i="0">
                <a:solidFill>
                  <a:srgbClr val="222233"/>
                </a:solidFill>
                <a:latin typeface="Calibri"/>
              </a:rPr>
              <a:t>Cuisine filter + platform ranking
(quality · commission · promo · sponsored)</a:t>
            </a:r>
          </a:p>
        </p:txBody>
      </p:sp>
      <p:sp>
        <p:nvSpPr>
          <p:cNvPr id="15" name="TextBox 14"/>
          <p:cNvSpPr txBox="1"/>
          <p:nvPr/>
        </p:nvSpPr>
        <p:spPr>
          <a:xfrm>
            <a:off x="2651760" y="3520440"/>
            <a:ext cx="365760" cy="320040"/>
          </a:xfrm>
          <a:prstGeom prst="rect">
            <a:avLst/>
          </a:prstGeom>
          <a:noFill/>
        </p:spPr>
        <p:txBody>
          <a:bodyPr wrap="square">
            <a:spAutoFit/>
          </a:bodyPr>
          <a:lstStyle/>
          <a:p>
            <a:pPr algn="ctr"/>
            <a:r>
              <a:rPr sz="1800" b="0" i="0">
                <a:solidFill>
                  <a:srgbClr val="888899"/>
                </a:solidFill>
                <a:latin typeface="Calibri"/>
              </a:rPr>
              <a:t>↓</a:t>
            </a:r>
          </a:p>
        </p:txBody>
      </p:sp>
      <p:sp>
        <p:nvSpPr>
          <p:cNvPr id="16" name="Rectangle 15"/>
          <p:cNvSpPr/>
          <p:nvPr/>
        </p:nvSpPr>
        <p:spPr>
          <a:xfrm>
            <a:off x="457200" y="3794760"/>
            <a:ext cx="4937760" cy="82296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3840480"/>
            <a:ext cx="4846320" cy="731520"/>
          </a:xfrm>
          <a:prstGeom prst="rect">
            <a:avLst/>
          </a:prstGeom>
          <a:noFill/>
        </p:spPr>
        <p:txBody>
          <a:bodyPr wrap="square">
            <a:spAutoFit/>
          </a:bodyPr>
          <a:lstStyle/>
          <a:p>
            <a:pPr algn="ctr"/>
            <a:r>
              <a:rPr sz="1300" b="0" i="0">
                <a:solidFill>
                  <a:srgbClr val="222233"/>
                </a:solidFill>
                <a:latin typeface="Calibri"/>
              </a:rPr>
              <a:t>Visible offers from those 2 platforms only</a:t>
            </a:r>
          </a:p>
        </p:txBody>
      </p:sp>
      <p:sp>
        <p:nvSpPr>
          <p:cNvPr id="18" name="TextBox 17"/>
          <p:cNvSpPr txBox="1"/>
          <p:nvPr/>
        </p:nvSpPr>
        <p:spPr>
          <a:xfrm>
            <a:off x="2651760" y="4617720"/>
            <a:ext cx="365760" cy="320040"/>
          </a:xfrm>
          <a:prstGeom prst="rect">
            <a:avLst/>
          </a:prstGeom>
          <a:noFill/>
        </p:spPr>
        <p:txBody>
          <a:bodyPr wrap="square">
            <a:spAutoFit/>
          </a:bodyPr>
          <a:lstStyle/>
          <a:p>
            <a:pPr algn="ctr"/>
            <a:r>
              <a:rPr sz="1800" b="0" i="0">
                <a:solidFill>
                  <a:srgbClr val="888899"/>
                </a:solidFill>
                <a:latin typeface="Calibri"/>
              </a:rPr>
              <a:t>↓</a:t>
            </a:r>
          </a:p>
        </p:txBody>
      </p:sp>
      <p:sp>
        <p:nvSpPr>
          <p:cNvPr id="19" name="Rectangle 18"/>
          <p:cNvSpPr/>
          <p:nvPr/>
        </p:nvSpPr>
        <p:spPr>
          <a:xfrm>
            <a:off x="457200" y="4892040"/>
            <a:ext cx="4937760" cy="82296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4937760"/>
            <a:ext cx="4846320" cy="731520"/>
          </a:xfrm>
          <a:prstGeom prst="rect">
            <a:avLst/>
          </a:prstGeom>
          <a:noFill/>
        </p:spPr>
        <p:txBody>
          <a:bodyPr wrap="square">
            <a:spAutoFit/>
          </a:bodyPr>
          <a:lstStyle/>
          <a:p>
            <a:pPr algn="ctr"/>
            <a:r>
              <a:rPr sz="1300" b="0" i="0">
                <a:solidFill>
                  <a:srgbClr val="222233"/>
                </a:solidFill>
                <a:latin typeface="Calibri"/>
              </a:rPr>
              <a:t>Purchase or abandon</a:t>
            </a:r>
          </a:p>
        </p:txBody>
      </p:sp>
      <p:sp>
        <p:nvSpPr>
          <p:cNvPr id="21" name="TextBox 20"/>
          <p:cNvSpPr txBox="1"/>
          <p:nvPr/>
        </p:nvSpPr>
        <p:spPr>
          <a:xfrm>
            <a:off x="5715000" y="3566160"/>
            <a:ext cx="777240" cy="594360"/>
          </a:xfrm>
          <a:prstGeom prst="rect">
            <a:avLst/>
          </a:prstGeom>
          <a:noFill/>
        </p:spPr>
        <p:txBody>
          <a:bodyPr wrap="square">
            <a:spAutoFit/>
          </a:bodyPr>
          <a:lstStyle/>
          <a:p>
            <a:pPr algn="ctr"/>
            <a:r>
              <a:rPr sz="2800" b="1" i="0">
                <a:solidFill>
                  <a:srgbClr val="1A2E4A"/>
                </a:solidFill>
                <a:latin typeface="Calibri"/>
              </a:rPr>
              <a:t>VS</a:t>
            </a:r>
          </a:p>
        </p:txBody>
      </p:sp>
      <p:sp>
        <p:nvSpPr>
          <p:cNvPr id="22" name="Rectangle 21"/>
          <p:cNvSpPr/>
          <p:nvPr/>
        </p:nvSpPr>
        <p:spPr>
          <a:xfrm>
            <a:off x="6583680" y="1005840"/>
            <a:ext cx="5303520" cy="5303520"/>
          </a:xfrm>
          <a:prstGeom prst="rect">
            <a:avLst/>
          </a:prstGeom>
          <a:solidFill>
            <a:srgbClr val="FFFFFF"/>
          </a:solidFill>
          <a:ln w="317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0" y="1005840"/>
            <a:ext cx="5303520" cy="502920"/>
          </a:xfrm>
          <a:prstGeom prst="rect">
            <a:avLst/>
          </a:prstGeom>
          <a:noFill/>
        </p:spPr>
        <p:txBody>
          <a:bodyPr wrap="square">
            <a:spAutoFit/>
          </a:bodyPr>
          <a:lstStyle/>
          <a:p>
            <a:pPr algn="ctr"/>
            <a:r>
              <a:rPr sz="1500" b="1" i="0">
                <a:solidFill>
                  <a:srgbClr val="2E75B6"/>
                </a:solidFill>
                <a:latin typeface="Calibri"/>
              </a:rPr>
              <a:t>World B — LLM</a:t>
            </a:r>
          </a:p>
        </p:txBody>
      </p:sp>
      <p:sp>
        <p:nvSpPr>
          <p:cNvPr id="24" name="Rectangle 23"/>
          <p:cNvSpPr/>
          <p:nvPr/>
        </p:nvSpPr>
        <p:spPr>
          <a:xfrm>
            <a:off x="6766560" y="1600200"/>
            <a:ext cx="4937760" cy="82296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12280" y="1645920"/>
            <a:ext cx="4846320" cy="731520"/>
          </a:xfrm>
          <a:prstGeom prst="rect">
            <a:avLst/>
          </a:prstGeom>
          <a:noFill/>
        </p:spPr>
        <p:txBody>
          <a:bodyPr wrap="square">
            <a:spAutoFit/>
          </a:bodyPr>
          <a:lstStyle/>
          <a:p>
            <a:pPr algn="ctr"/>
            <a:r>
              <a:rPr sz="1300" b="0" i="0">
                <a:solidFill>
                  <a:srgbClr val="222233"/>
                </a:solidFill>
                <a:latin typeface="Calibri"/>
              </a:rPr>
              <a:t>Consumer states intent: cuisine, budget, time</a:t>
            </a:r>
          </a:p>
        </p:txBody>
      </p:sp>
      <p:sp>
        <p:nvSpPr>
          <p:cNvPr id="26" name="TextBox 25"/>
          <p:cNvSpPr txBox="1"/>
          <p:nvPr/>
        </p:nvSpPr>
        <p:spPr>
          <a:xfrm>
            <a:off x="9144000" y="2423160"/>
            <a:ext cx="365760" cy="320040"/>
          </a:xfrm>
          <a:prstGeom prst="rect">
            <a:avLst/>
          </a:prstGeom>
          <a:noFill/>
        </p:spPr>
        <p:txBody>
          <a:bodyPr wrap="square">
            <a:spAutoFit/>
          </a:bodyPr>
          <a:lstStyle/>
          <a:p>
            <a:pPr algn="ctr"/>
            <a:r>
              <a:rPr sz="1800" b="0" i="0">
                <a:solidFill>
                  <a:srgbClr val="2E75B6"/>
                </a:solidFill>
                <a:latin typeface="Calibri"/>
              </a:rPr>
              <a:t>↓</a:t>
            </a:r>
          </a:p>
        </p:txBody>
      </p:sp>
      <p:sp>
        <p:nvSpPr>
          <p:cNvPr id="27" name="Rectangle 26"/>
          <p:cNvSpPr/>
          <p:nvPr/>
        </p:nvSpPr>
        <p:spPr>
          <a:xfrm>
            <a:off x="6766560" y="2697480"/>
            <a:ext cx="4937760" cy="822960"/>
          </a:xfrm>
          <a:prstGeom prst="rect">
            <a:avLst/>
          </a:prstGeom>
          <a:solidFill>
            <a:srgbClr val="BBDE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12280" y="2743200"/>
            <a:ext cx="4846320" cy="731520"/>
          </a:xfrm>
          <a:prstGeom prst="rect">
            <a:avLst/>
          </a:prstGeom>
          <a:noFill/>
        </p:spPr>
        <p:txBody>
          <a:bodyPr wrap="square">
            <a:spAutoFit/>
          </a:bodyPr>
          <a:lstStyle/>
          <a:p>
            <a:pPr algn="ctr"/>
            <a:r>
              <a:rPr sz="1300" b="0" i="0">
                <a:solidFill>
                  <a:srgbClr val="222233"/>
                </a:solidFill>
                <a:latin typeface="Calibri"/>
              </a:rPr>
              <a:t>LLM aggregates all platform offers
(sees all 3 platforms simultaneously)</a:t>
            </a:r>
          </a:p>
        </p:txBody>
      </p:sp>
      <p:sp>
        <p:nvSpPr>
          <p:cNvPr id="29" name="TextBox 28"/>
          <p:cNvSpPr txBox="1"/>
          <p:nvPr/>
        </p:nvSpPr>
        <p:spPr>
          <a:xfrm>
            <a:off x="9144000" y="3520440"/>
            <a:ext cx="365760" cy="320040"/>
          </a:xfrm>
          <a:prstGeom prst="rect">
            <a:avLst/>
          </a:prstGeom>
          <a:noFill/>
        </p:spPr>
        <p:txBody>
          <a:bodyPr wrap="square">
            <a:spAutoFit/>
          </a:bodyPr>
          <a:lstStyle/>
          <a:p>
            <a:pPr algn="ctr"/>
            <a:r>
              <a:rPr sz="1800" b="0" i="0">
                <a:solidFill>
                  <a:srgbClr val="2E75B6"/>
                </a:solidFill>
                <a:latin typeface="Calibri"/>
              </a:rPr>
              <a:t>↓</a:t>
            </a:r>
          </a:p>
        </p:txBody>
      </p:sp>
      <p:sp>
        <p:nvSpPr>
          <p:cNvPr id="30" name="Rectangle 29"/>
          <p:cNvSpPr/>
          <p:nvPr/>
        </p:nvSpPr>
        <p:spPr>
          <a:xfrm>
            <a:off x="6766560" y="3794760"/>
            <a:ext cx="4937760" cy="822960"/>
          </a:xfrm>
          <a:prstGeom prst="rect">
            <a:avLst/>
          </a:prstGeom>
          <a:solidFill>
            <a:srgbClr val="FFEC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12280" y="3840480"/>
            <a:ext cx="4846320" cy="731520"/>
          </a:xfrm>
          <a:prstGeom prst="rect">
            <a:avLst/>
          </a:prstGeom>
          <a:noFill/>
        </p:spPr>
        <p:txBody>
          <a:bodyPr wrap="square">
            <a:spAutoFit/>
          </a:bodyPr>
          <a:lstStyle/>
          <a:p>
            <a:pPr algn="ctr"/>
            <a:r>
              <a:rPr sz="1300" b="0" i="0">
                <a:solidFill>
                  <a:srgbClr val="222233"/>
                </a:solidFill>
                <a:latin typeface="Calibri"/>
              </a:rPr>
              <a:t>Top-5 shortlist returned
(ranked by intent fit ± sponsorship bias)</a:t>
            </a:r>
          </a:p>
        </p:txBody>
      </p:sp>
      <p:sp>
        <p:nvSpPr>
          <p:cNvPr id="32" name="TextBox 31"/>
          <p:cNvSpPr txBox="1"/>
          <p:nvPr/>
        </p:nvSpPr>
        <p:spPr>
          <a:xfrm>
            <a:off x="9144000" y="4617720"/>
            <a:ext cx="365760" cy="320040"/>
          </a:xfrm>
          <a:prstGeom prst="rect">
            <a:avLst/>
          </a:prstGeom>
          <a:noFill/>
        </p:spPr>
        <p:txBody>
          <a:bodyPr wrap="square">
            <a:spAutoFit/>
          </a:bodyPr>
          <a:lstStyle/>
          <a:p>
            <a:pPr algn="ctr"/>
            <a:r>
              <a:rPr sz="1800" b="0" i="0">
                <a:solidFill>
                  <a:srgbClr val="2E75B6"/>
                </a:solidFill>
                <a:latin typeface="Calibri"/>
              </a:rPr>
              <a:t>↓</a:t>
            </a:r>
          </a:p>
        </p:txBody>
      </p:sp>
      <p:sp>
        <p:nvSpPr>
          <p:cNvPr id="33" name="Rectangle 32"/>
          <p:cNvSpPr/>
          <p:nvPr/>
        </p:nvSpPr>
        <p:spPr>
          <a:xfrm>
            <a:off x="6766560" y="4892040"/>
            <a:ext cx="4937760" cy="82296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12280" y="4937760"/>
            <a:ext cx="4846320" cy="731520"/>
          </a:xfrm>
          <a:prstGeom prst="rect">
            <a:avLst/>
          </a:prstGeom>
          <a:noFill/>
        </p:spPr>
        <p:txBody>
          <a:bodyPr wrap="square">
            <a:spAutoFit/>
          </a:bodyPr>
          <a:lstStyle/>
          <a:p>
            <a:pPr algn="ctr"/>
            <a:r>
              <a:rPr sz="1300" b="0" i="0">
                <a:solidFill>
                  <a:srgbClr val="222233"/>
                </a:solidFill>
                <a:latin typeface="Calibri"/>
              </a:rPr>
              <a:t>Click → purchase or abandon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One consumer, four worlds — how the mechanism plays out</a:t>
            </a:r>
          </a:p>
        </p:txBody>
      </p:sp>
      <p:sp>
        <p:nvSpPr>
          <p:cNvPr id="8" name="Rectangle 7"/>
          <p:cNvSpPr/>
          <p:nvPr/>
        </p:nvSpPr>
        <p:spPr>
          <a:xfrm>
            <a:off x="274320" y="1005840"/>
            <a:ext cx="2331720" cy="530352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97280"/>
            <a:ext cx="2331720" cy="777240"/>
          </a:xfrm>
          <a:prstGeom prst="rect">
            <a:avLst/>
          </a:prstGeom>
          <a:noFill/>
        </p:spPr>
        <p:txBody>
          <a:bodyPr wrap="square">
            <a:spAutoFit/>
          </a:bodyPr>
          <a:lstStyle/>
          <a:p>
            <a:pPr algn="ctr"/>
            <a:r>
              <a:rPr sz="1400" b="1" i="0">
                <a:solidFill>
                  <a:srgbClr val="F0AB00"/>
                </a:solidFill>
                <a:latin typeface="Calibri"/>
              </a:rPr>
              <a:t>CONSUMER
INTENT</a:t>
            </a:r>
          </a:p>
        </p:txBody>
      </p:sp>
      <p:sp>
        <p:nvSpPr>
          <p:cNvPr id="10" name="Rectangle 9"/>
          <p:cNvSpPr/>
          <p:nvPr/>
        </p:nvSpPr>
        <p:spPr>
          <a:xfrm>
            <a:off x="365760" y="1874519"/>
            <a:ext cx="214884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2011680"/>
            <a:ext cx="2011680" cy="292608"/>
          </a:xfrm>
          <a:prstGeom prst="rect">
            <a:avLst/>
          </a:prstGeom>
          <a:noFill/>
        </p:spPr>
        <p:txBody>
          <a:bodyPr wrap="square">
            <a:spAutoFit/>
          </a:bodyPr>
          <a:lstStyle/>
          <a:p>
            <a:pPr algn="l"/>
            <a:r>
              <a:rPr sz="1000" b="0" i="1">
                <a:solidFill>
                  <a:srgbClr val="D6E4F0"/>
                </a:solidFill>
                <a:latin typeface="Calibri"/>
              </a:rPr>
              <a:t>Cuisine</a:t>
            </a:r>
          </a:p>
        </p:txBody>
      </p:sp>
      <p:sp>
        <p:nvSpPr>
          <p:cNvPr id="12" name="TextBox 11"/>
          <p:cNvSpPr txBox="1"/>
          <p:nvPr/>
        </p:nvSpPr>
        <p:spPr>
          <a:xfrm>
            <a:off x="411480" y="2286000"/>
            <a:ext cx="2011680" cy="502920"/>
          </a:xfrm>
          <a:prstGeom prst="rect">
            <a:avLst/>
          </a:prstGeom>
          <a:noFill/>
        </p:spPr>
        <p:txBody>
          <a:bodyPr wrap="square">
            <a:spAutoFit/>
          </a:bodyPr>
          <a:lstStyle/>
          <a:p>
            <a:pPr algn="l"/>
            <a:r>
              <a:rPr sz="2200" b="1" i="0">
                <a:solidFill>
                  <a:srgbClr val="FFFFFF"/>
                </a:solidFill>
                <a:latin typeface="Calibri"/>
              </a:rPr>
              <a:t>Thai</a:t>
            </a:r>
          </a:p>
        </p:txBody>
      </p:sp>
      <p:sp>
        <p:nvSpPr>
          <p:cNvPr id="13" name="Rectangle 12"/>
          <p:cNvSpPr/>
          <p:nvPr/>
        </p:nvSpPr>
        <p:spPr>
          <a:xfrm>
            <a:off x="457200" y="2834640"/>
            <a:ext cx="1828800" cy="12700"/>
          </a:xfrm>
          <a:prstGeom prst="rect">
            <a:avLst/>
          </a:prstGeom>
          <a:solidFill>
            <a:srgbClr val="2A3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1480" y="3017520"/>
            <a:ext cx="2011680" cy="292608"/>
          </a:xfrm>
          <a:prstGeom prst="rect">
            <a:avLst/>
          </a:prstGeom>
          <a:noFill/>
        </p:spPr>
        <p:txBody>
          <a:bodyPr wrap="square">
            <a:spAutoFit/>
          </a:bodyPr>
          <a:lstStyle/>
          <a:p>
            <a:pPr algn="l"/>
            <a:r>
              <a:rPr sz="1000" b="0" i="1">
                <a:solidFill>
                  <a:srgbClr val="D6E4F0"/>
                </a:solidFill>
                <a:latin typeface="Calibri"/>
              </a:rPr>
              <a:t>Budget</a:t>
            </a:r>
          </a:p>
        </p:txBody>
      </p:sp>
      <p:sp>
        <p:nvSpPr>
          <p:cNvPr id="15" name="TextBox 14"/>
          <p:cNvSpPr txBox="1"/>
          <p:nvPr/>
        </p:nvSpPr>
        <p:spPr>
          <a:xfrm>
            <a:off x="411480" y="3291840"/>
            <a:ext cx="2011680" cy="502920"/>
          </a:xfrm>
          <a:prstGeom prst="rect">
            <a:avLst/>
          </a:prstGeom>
          <a:noFill/>
        </p:spPr>
        <p:txBody>
          <a:bodyPr wrap="square">
            <a:spAutoFit/>
          </a:bodyPr>
          <a:lstStyle/>
          <a:p>
            <a:pPr algn="l"/>
            <a:r>
              <a:rPr sz="2200" b="1" i="0">
                <a:solidFill>
                  <a:srgbClr val="FFFFFF"/>
                </a:solidFill>
                <a:latin typeface="Calibri"/>
              </a:rPr>
              <a:t>$35</a:t>
            </a:r>
          </a:p>
        </p:txBody>
      </p:sp>
      <p:sp>
        <p:nvSpPr>
          <p:cNvPr id="16" name="Rectangle 15"/>
          <p:cNvSpPr/>
          <p:nvPr/>
        </p:nvSpPr>
        <p:spPr>
          <a:xfrm>
            <a:off x="457200" y="3840480"/>
            <a:ext cx="1828800" cy="12700"/>
          </a:xfrm>
          <a:prstGeom prst="rect">
            <a:avLst/>
          </a:prstGeom>
          <a:solidFill>
            <a:srgbClr val="2A3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4023360"/>
            <a:ext cx="2011680" cy="292608"/>
          </a:xfrm>
          <a:prstGeom prst="rect">
            <a:avLst/>
          </a:prstGeom>
          <a:noFill/>
        </p:spPr>
        <p:txBody>
          <a:bodyPr wrap="square">
            <a:spAutoFit/>
          </a:bodyPr>
          <a:lstStyle/>
          <a:p>
            <a:pPr algn="l"/>
            <a:r>
              <a:rPr sz="1000" b="0" i="1">
                <a:solidFill>
                  <a:srgbClr val="D6E4F0"/>
                </a:solidFill>
                <a:latin typeface="Calibri"/>
              </a:rPr>
              <a:t>Max time</a:t>
            </a:r>
          </a:p>
        </p:txBody>
      </p:sp>
      <p:sp>
        <p:nvSpPr>
          <p:cNvPr id="18" name="TextBox 17"/>
          <p:cNvSpPr txBox="1"/>
          <p:nvPr/>
        </p:nvSpPr>
        <p:spPr>
          <a:xfrm>
            <a:off x="411480" y="4297680"/>
            <a:ext cx="2011680" cy="502920"/>
          </a:xfrm>
          <a:prstGeom prst="rect">
            <a:avLst/>
          </a:prstGeom>
          <a:noFill/>
        </p:spPr>
        <p:txBody>
          <a:bodyPr wrap="square">
            <a:spAutoFit/>
          </a:bodyPr>
          <a:lstStyle/>
          <a:p>
            <a:pPr algn="l"/>
            <a:r>
              <a:rPr sz="2200" b="1" i="0">
                <a:solidFill>
                  <a:srgbClr val="FFFFFF"/>
                </a:solidFill>
                <a:latin typeface="Calibri"/>
              </a:rPr>
              <a:t>40 min</a:t>
            </a:r>
          </a:p>
        </p:txBody>
      </p:sp>
      <p:sp>
        <p:nvSpPr>
          <p:cNvPr id="19" name="Rectangle 18"/>
          <p:cNvSpPr/>
          <p:nvPr/>
        </p:nvSpPr>
        <p:spPr>
          <a:xfrm>
            <a:off x="2788920" y="1005840"/>
            <a:ext cx="2194560" cy="502920"/>
          </a:xfrm>
          <a:prstGeom prst="rect">
            <a:avLst/>
          </a:prstGeom>
          <a:solidFill>
            <a:srgbClr val="888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788920" y="1005840"/>
            <a:ext cx="2194560" cy="502920"/>
          </a:xfrm>
          <a:prstGeom prst="rect">
            <a:avLst/>
          </a:prstGeom>
          <a:noFill/>
        </p:spPr>
        <p:txBody>
          <a:bodyPr wrap="square">
            <a:spAutoFit/>
          </a:bodyPr>
          <a:lstStyle/>
          <a:p>
            <a:pPr algn="ctr"/>
            <a:r>
              <a:rPr sz="1300" b="1" i="0">
                <a:solidFill>
                  <a:srgbClr val="FFFFFF"/>
                </a:solidFill>
                <a:latin typeface="Calibri"/>
              </a:rPr>
              <a:t>No-LLM</a:t>
            </a:r>
          </a:p>
        </p:txBody>
      </p:sp>
      <p:sp>
        <p:nvSpPr>
          <p:cNvPr id="21" name="Rectangle 20"/>
          <p:cNvSpPr/>
          <p:nvPr/>
        </p:nvSpPr>
        <p:spPr>
          <a:xfrm>
            <a:off x="2788920" y="1554480"/>
            <a:ext cx="2194560" cy="91440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852928" y="1572768"/>
            <a:ext cx="2194560" cy="256032"/>
          </a:xfrm>
          <a:prstGeom prst="rect">
            <a:avLst/>
          </a:prstGeom>
          <a:noFill/>
        </p:spPr>
        <p:txBody>
          <a:bodyPr wrap="square">
            <a:spAutoFit/>
          </a:bodyPr>
          <a:lstStyle/>
          <a:p>
            <a:pPr algn="l"/>
            <a:r>
              <a:rPr sz="900" b="0" i="1">
                <a:solidFill>
                  <a:srgbClr val="888899"/>
                </a:solidFill>
                <a:latin typeface="Calibri"/>
              </a:rPr>
              <a:t>Visible offers</a:t>
            </a:r>
          </a:p>
        </p:txBody>
      </p:sp>
      <p:sp>
        <p:nvSpPr>
          <p:cNvPr id="23" name="TextBox 22"/>
          <p:cNvSpPr txBox="1"/>
          <p:nvPr/>
        </p:nvSpPr>
        <p:spPr>
          <a:xfrm>
            <a:off x="2852928" y="1810512"/>
            <a:ext cx="2103120" cy="621792"/>
          </a:xfrm>
          <a:prstGeom prst="rect">
            <a:avLst/>
          </a:prstGeom>
          <a:noFill/>
        </p:spPr>
        <p:txBody>
          <a:bodyPr wrap="square">
            <a:spAutoFit/>
          </a:bodyPr>
          <a:lstStyle/>
          <a:p>
            <a:pPr algn="l"/>
            <a:r>
              <a:rPr sz="1100" b="0" i="0">
                <a:solidFill>
                  <a:srgbClr val="222233"/>
                </a:solidFill>
                <a:latin typeface="Calibri"/>
              </a:rPr>
              <a:t>QuickEats +
NomNom only</a:t>
            </a:r>
          </a:p>
        </p:txBody>
      </p:sp>
      <p:sp>
        <p:nvSpPr>
          <p:cNvPr id="24" name="Rectangle 23"/>
          <p:cNvSpPr/>
          <p:nvPr/>
        </p:nvSpPr>
        <p:spPr>
          <a:xfrm>
            <a:off x="2788920" y="2514600"/>
            <a:ext cx="2194560" cy="1325880"/>
          </a:xfrm>
          <a:prstGeom prst="rect">
            <a:avLst/>
          </a:prstGeom>
          <a:solidFill>
            <a:srgbClr val="FFFFFF"/>
          </a:solidFill>
          <a:ln w="190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52928" y="2542032"/>
            <a:ext cx="2194560" cy="256032"/>
          </a:xfrm>
          <a:prstGeom prst="rect">
            <a:avLst/>
          </a:prstGeom>
          <a:noFill/>
        </p:spPr>
        <p:txBody>
          <a:bodyPr wrap="square">
            <a:spAutoFit/>
          </a:bodyPr>
          <a:lstStyle/>
          <a:p>
            <a:pPr algn="l"/>
            <a:r>
              <a:rPr sz="900" b="0" i="1">
                <a:solidFill>
                  <a:srgbClr val="888899"/>
                </a:solidFill>
                <a:latin typeface="Calibri"/>
              </a:rPr>
              <a:t>Best offer found</a:t>
            </a:r>
          </a:p>
        </p:txBody>
      </p:sp>
      <p:sp>
        <p:nvSpPr>
          <p:cNvPr id="26" name="TextBox 25"/>
          <p:cNvSpPr txBox="1"/>
          <p:nvPr/>
        </p:nvSpPr>
        <p:spPr>
          <a:xfrm>
            <a:off x="2852928" y="2779776"/>
            <a:ext cx="2103120" cy="1024128"/>
          </a:xfrm>
          <a:prstGeom prst="rect">
            <a:avLst/>
          </a:prstGeom>
          <a:noFill/>
        </p:spPr>
        <p:txBody>
          <a:bodyPr wrap="square">
            <a:spAutoFit/>
          </a:bodyPr>
          <a:lstStyle/>
          <a:p>
            <a:pPr algn="l"/>
            <a:r>
              <a:rPr sz="1200" b="1" i="0">
                <a:solidFill>
                  <a:srgbClr val="222233"/>
                </a:solidFill>
                <a:latin typeface="Calibri"/>
              </a:rPr>
              <a:t>$36 total
44 min · 3.5★</a:t>
            </a:r>
          </a:p>
        </p:txBody>
      </p:sp>
      <p:sp>
        <p:nvSpPr>
          <p:cNvPr id="27" name="Rectangle 26"/>
          <p:cNvSpPr/>
          <p:nvPr/>
        </p:nvSpPr>
        <p:spPr>
          <a:xfrm>
            <a:off x="2788920" y="3886200"/>
            <a:ext cx="2194560" cy="1188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88920" y="3913632"/>
            <a:ext cx="2194560" cy="1143000"/>
          </a:xfrm>
          <a:prstGeom prst="rect">
            <a:avLst/>
          </a:prstGeom>
          <a:noFill/>
        </p:spPr>
        <p:txBody>
          <a:bodyPr wrap="square">
            <a:spAutoFit/>
          </a:bodyPr>
          <a:lstStyle/>
          <a:p>
            <a:pPr algn="ctr"/>
            <a:r>
              <a:rPr sz="1100" b="1" i="0">
                <a:solidFill>
                  <a:srgbClr val="FFFFFF"/>
                </a:solidFill>
                <a:latin typeface="Calibri"/>
              </a:rPr>
              <a:t>Budget +$1
Time +4 min
OVERRUN</a:t>
            </a:r>
          </a:p>
        </p:txBody>
      </p:sp>
      <p:sp>
        <p:nvSpPr>
          <p:cNvPr id="29" name="Rectangle 28"/>
          <p:cNvSpPr/>
          <p:nvPr/>
        </p:nvSpPr>
        <p:spPr>
          <a:xfrm>
            <a:off x="2788920" y="5120640"/>
            <a:ext cx="2194560" cy="11430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852928" y="5148072"/>
            <a:ext cx="2194560" cy="256032"/>
          </a:xfrm>
          <a:prstGeom prst="rect">
            <a:avLst/>
          </a:prstGeom>
          <a:noFill/>
        </p:spPr>
        <p:txBody>
          <a:bodyPr wrap="square">
            <a:spAutoFit/>
          </a:bodyPr>
          <a:lstStyle/>
          <a:p>
            <a:pPr algn="l"/>
            <a:r>
              <a:rPr sz="900" b="0" i="1">
                <a:solidFill>
                  <a:srgbClr val="D6E4F0"/>
                </a:solidFill>
                <a:latin typeface="Calibri"/>
              </a:rPr>
              <a:t>Ranking:</a:t>
            </a:r>
          </a:p>
        </p:txBody>
      </p:sp>
      <p:sp>
        <p:nvSpPr>
          <p:cNvPr id="31" name="TextBox 30"/>
          <p:cNvSpPr txBox="1"/>
          <p:nvPr/>
        </p:nvSpPr>
        <p:spPr>
          <a:xfrm>
            <a:off x="2852928" y="5385816"/>
            <a:ext cx="2103120" cy="841248"/>
          </a:xfrm>
          <a:prstGeom prst="rect">
            <a:avLst/>
          </a:prstGeom>
          <a:noFill/>
        </p:spPr>
        <p:txBody>
          <a:bodyPr wrap="square">
            <a:spAutoFit/>
          </a:bodyPr>
          <a:lstStyle/>
          <a:p>
            <a:pPr algn="l"/>
            <a:r>
              <a:rPr sz="1100" b="0" i="0">
                <a:solidFill>
                  <a:srgbClr val="D6E4F0"/>
                </a:solidFill>
                <a:latin typeface="Calibri"/>
              </a:rPr>
              <a:t>Platform algorithm
(loyal feed)</a:t>
            </a:r>
          </a:p>
        </p:txBody>
      </p:sp>
      <p:sp>
        <p:nvSpPr>
          <p:cNvPr id="32" name="Rectangle 31"/>
          <p:cNvSpPr/>
          <p:nvPr/>
        </p:nvSpPr>
        <p:spPr>
          <a:xfrm>
            <a:off x="5193792" y="1005840"/>
            <a:ext cx="2194560" cy="50292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193792" y="1005840"/>
            <a:ext cx="2194560" cy="502920"/>
          </a:xfrm>
          <a:prstGeom prst="rect">
            <a:avLst/>
          </a:prstGeom>
          <a:noFill/>
        </p:spPr>
        <p:txBody>
          <a:bodyPr wrap="square">
            <a:spAutoFit/>
          </a:bodyPr>
          <a:lstStyle/>
          <a:p>
            <a:pPr algn="ctr"/>
            <a:r>
              <a:rPr sz="1300" b="1" i="0">
                <a:solidFill>
                  <a:srgbClr val="FFFFFF"/>
                </a:solidFill>
                <a:latin typeface="Calibri"/>
              </a:rPr>
              <a:t>LLM Neutral</a:t>
            </a:r>
          </a:p>
        </p:txBody>
      </p:sp>
      <p:sp>
        <p:nvSpPr>
          <p:cNvPr id="34" name="Rectangle 33"/>
          <p:cNvSpPr/>
          <p:nvPr/>
        </p:nvSpPr>
        <p:spPr>
          <a:xfrm>
            <a:off x="5193792" y="1554480"/>
            <a:ext cx="2194560" cy="91440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257800" y="1572768"/>
            <a:ext cx="2194560" cy="256032"/>
          </a:xfrm>
          <a:prstGeom prst="rect">
            <a:avLst/>
          </a:prstGeom>
          <a:noFill/>
        </p:spPr>
        <p:txBody>
          <a:bodyPr wrap="square">
            <a:spAutoFit/>
          </a:bodyPr>
          <a:lstStyle/>
          <a:p>
            <a:pPr algn="l"/>
            <a:r>
              <a:rPr sz="900" b="0" i="1">
                <a:solidFill>
                  <a:srgbClr val="888899"/>
                </a:solidFill>
                <a:latin typeface="Calibri"/>
              </a:rPr>
              <a:t>Visible offers</a:t>
            </a:r>
          </a:p>
        </p:txBody>
      </p:sp>
      <p:sp>
        <p:nvSpPr>
          <p:cNvPr id="36" name="TextBox 35"/>
          <p:cNvSpPr txBox="1"/>
          <p:nvPr/>
        </p:nvSpPr>
        <p:spPr>
          <a:xfrm>
            <a:off x="5257800" y="1810512"/>
            <a:ext cx="2103120" cy="621792"/>
          </a:xfrm>
          <a:prstGeom prst="rect">
            <a:avLst/>
          </a:prstGeom>
          <a:noFill/>
        </p:spPr>
        <p:txBody>
          <a:bodyPr wrap="square">
            <a:spAutoFit/>
          </a:bodyPr>
          <a:lstStyle/>
          <a:p>
            <a:pPr algn="l"/>
            <a:r>
              <a:rPr sz="1100" b="0" i="0">
                <a:solidFill>
                  <a:srgbClr val="222233"/>
                </a:solidFill>
                <a:latin typeface="Calibri"/>
              </a:rPr>
              <a:t>All 3 platforms
aggregated</a:t>
            </a:r>
          </a:p>
        </p:txBody>
      </p:sp>
      <p:sp>
        <p:nvSpPr>
          <p:cNvPr id="37" name="Rectangle 36"/>
          <p:cNvSpPr/>
          <p:nvPr/>
        </p:nvSpPr>
        <p:spPr>
          <a:xfrm>
            <a:off x="5193792" y="2514600"/>
            <a:ext cx="2194560" cy="1325880"/>
          </a:xfrm>
          <a:prstGeom prst="rect">
            <a:avLst/>
          </a:prstGeom>
          <a:solidFill>
            <a:srgbClr val="FFFFFF"/>
          </a:solidFill>
          <a:ln w="19050">
            <a:solidFill>
              <a:srgbClr val="0088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257800" y="2542032"/>
            <a:ext cx="2194560" cy="256032"/>
          </a:xfrm>
          <a:prstGeom prst="rect">
            <a:avLst/>
          </a:prstGeom>
          <a:noFill/>
        </p:spPr>
        <p:txBody>
          <a:bodyPr wrap="square">
            <a:spAutoFit/>
          </a:bodyPr>
          <a:lstStyle/>
          <a:p>
            <a:pPr algn="l"/>
            <a:r>
              <a:rPr sz="900" b="0" i="1">
                <a:solidFill>
                  <a:srgbClr val="888899"/>
                </a:solidFill>
                <a:latin typeface="Calibri"/>
              </a:rPr>
              <a:t>Best offer found</a:t>
            </a:r>
          </a:p>
        </p:txBody>
      </p:sp>
      <p:sp>
        <p:nvSpPr>
          <p:cNvPr id="39" name="TextBox 38"/>
          <p:cNvSpPr txBox="1"/>
          <p:nvPr/>
        </p:nvSpPr>
        <p:spPr>
          <a:xfrm>
            <a:off x="5257800" y="2779776"/>
            <a:ext cx="2103120" cy="1024128"/>
          </a:xfrm>
          <a:prstGeom prst="rect">
            <a:avLst/>
          </a:prstGeom>
          <a:noFill/>
        </p:spPr>
        <p:txBody>
          <a:bodyPr wrap="square">
            <a:spAutoFit/>
          </a:bodyPr>
          <a:lstStyle/>
          <a:p>
            <a:pPr algn="l"/>
            <a:r>
              <a:rPr sz="1200" b="1" i="0">
                <a:solidFill>
                  <a:srgbClr val="222233"/>
                </a:solidFill>
                <a:latin typeface="Calibri"/>
              </a:rPr>
              <a:t>$32 total
35 min · 4.5★</a:t>
            </a:r>
          </a:p>
        </p:txBody>
      </p:sp>
      <p:sp>
        <p:nvSpPr>
          <p:cNvPr id="40" name="Rectangle 39"/>
          <p:cNvSpPr/>
          <p:nvPr/>
        </p:nvSpPr>
        <p:spPr>
          <a:xfrm>
            <a:off x="5193792" y="3886200"/>
            <a:ext cx="2194560" cy="118872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93792" y="3913632"/>
            <a:ext cx="2194560" cy="1143000"/>
          </a:xfrm>
          <a:prstGeom prst="rect">
            <a:avLst/>
          </a:prstGeom>
          <a:noFill/>
        </p:spPr>
        <p:txBody>
          <a:bodyPr wrap="square">
            <a:spAutoFit/>
          </a:bodyPr>
          <a:lstStyle/>
          <a:p>
            <a:pPr algn="ctr"/>
            <a:r>
              <a:rPr sz="1100" b="1" i="0">
                <a:solidFill>
                  <a:srgbClr val="FFFFFF"/>
                </a:solidFill>
                <a:latin typeface="Calibri"/>
              </a:rPr>
              <a:t>All constraints
MET</a:t>
            </a:r>
          </a:p>
        </p:txBody>
      </p:sp>
      <p:sp>
        <p:nvSpPr>
          <p:cNvPr id="42" name="Rectangle 41"/>
          <p:cNvSpPr/>
          <p:nvPr/>
        </p:nvSpPr>
        <p:spPr>
          <a:xfrm>
            <a:off x="5193792" y="5120640"/>
            <a:ext cx="2194560" cy="11430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257800" y="5148072"/>
            <a:ext cx="2194560" cy="256032"/>
          </a:xfrm>
          <a:prstGeom prst="rect">
            <a:avLst/>
          </a:prstGeom>
          <a:noFill/>
        </p:spPr>
        <p:txBody>
          <a:bodyPr wrap="square">
            <a:spAutoFit/>
          </a:bodyPr>
          <a:lstStyle/>
          <a:p>
            <a:pPr algn="l"/>
            <a:r>
              <a:rPr sz="900" b="0" i="1">
                <a:solidFill>
                  <a:srgbClr val="D6E4F0"/>
                </a:solidFill>
                <a:latin typeface="Calibri"/>
              </a:rPr>
              <a:t>Ranking:</a:t>
            </a:r>
          </a:p>
        </p:txBody>
      </p:sp>
      <p:sp>
        <p:nvSpPr>
          <p:cNvPr id="44" name="TextBox 43"/>
          <p:cNvSpPr txBox="1"/>
          <p:nvPr/>
        </p:nvSpPr>
        <p:spPr>
          <a:xfrm>
            <a:off x="5257800" y="5385816"/>
            <a:ext cx="2103120" cy="841248"/>
          </a:xfrm>
          <a:prstGeom prst="rect">
            <a:avLst/>
          </a:prstGeom>
          <a:noFill/>
        </p:spPr>
        <p:txBody>
          <a:bodyPr wrap="square">
            <a:spAutoFit/>
          </a:bodyPr>
          <a:lstStyle/>
          <a:p>
            <a:pPr algn="l"/>
            <a:r>
              <a:rPr sz="1100" b="0" i="0">
                <a:solidFill>
                  <a:srgbClr val="D6E4F0"/>
                </a:solidFill>
                <a:latin typeface="Calibri"/>
              </a:rPr>
              <a:t>Pure consumer
intent fit</a:t>
            </a:r>
          </a:p>
        </p:txBody>
      </p:sp>
      <p:sp>
        <p:nvSpPr>
          <p:cNvPr id="45" name="Rectangle 44"/>
          <p:cNvSpPr/>
          <p:nvPr/>
        </p:nvSpPr>
        <p:spPr>
          <a:xfrm>
            <a:off x="7598664" y="1005840"/>
            <a:ext cx="2194560" cy="5029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598664" y="1005840"/>
            <a:ext cx="2194560" cy="502920"/>
          </a:xfrm>
          <a:prstGeom prst="rect">
            <a:avLst/>
          </a:prstGeom>
          <a:noFill/>
        </p:spPr>
        <p:txBody>
          <a:bodyPr wrap="square">
            <a:spAutoFit/>
          </a:bodyPr>
          <a:lstStyle/>
          <a:p>
            <a:pPr algn="ctr"/>
            <a:r>
              <a:rPr sz="1300" b="1" i="0">
                <a:solidFill>
                  <a:srgbClr val="FFFFFF"/>
                </a:solidFill>
                <a:latin typeface="Calibri"/>
              </a:rPr>
              <a:t>LLM CPC</a:t>
            </a:r>
          </a:p>
        </p:txBody>
      </p:sp>
      <p:sp>
        <p:nvSpPr>
          <p:cNvPr id="47" name="Rectangle 46"/>
          <p:cNvSpPr/>
          <p:nvPr/>
        </p:nvSpPr>
        <p:spPr>
          <a:xfrm>
            <a:off x="7598664" y="1554480"/>
            <a:ext cx="2194560" cy="91440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662672" y="1572768"/>
            <a:ext cx="2194560" cy="256032"/>
          </a:xfrm>
          <a:prstGeom prst="rect">
            <a:avLst/>
          </a:prstGeom>
          <a:noFill/>
        </p:spPr>
        <p:txBody>
          <a:bodyPr wrap="square">
            <a:spAutoFit/>
          </a:bodyPr>
          <a:lstStyle/>
          <a:p>
            <a:pPr algn="l"/>
            <a:r>
              <a:rPr sz="900" b="0" i="1">
                <a:solidFill>
                  <a:srgbClr val="888899"/>
                </a:solidFill>
                <a:latin typeface="Calibri"/>
              </a:rPr>
              <a:t>Visible offers</a:t>
            </a:r>
          </a:p>
        </p:txBody>
      </p:sp>
      <p:sp>
        <p:nvSpPr>
          <p:cNvPr id="49" name="TextBox 48"/>
          <p:cNvSpPr txBox="1"/>
          <p:nvPr/>
        </p:nvSpPr>
        <p:spPr>
          <a:xfrm>
            <a:off x="7662672" y="1810512"/>
            <a:ext cx="2103120" cy="621792"/>
          </a:xfrm>
          <a:prstGeom prst="rect">
            <a:avLst/>
          </a:prstGeom>
          <a:noFill/>
        </p:spPr>
        <p:txBody>
          <a:bodyPr wrap="square">
            <a:spAutoFit/>
          </a:bodyPr>
          <a:lstStyle/>
          <a:p>
            <a:pPr algn="l"/>
            <a:r>
              <a:rPr sz="1100" b="0" i="0">
                <a:solidFill>
                  <a:srgbClr val="222233"/>
                </a:solidFill>
                <a:latin typeface="Calibri"/>
              </a:rPr>
              <a:t>All 3 platforms
aggregated</a:t>
            </a:r>
          </a:p>
        </p:txBody>
      </p:sp>
      <p:sp>
        <p:nvSpPr>
          <p:cNvPr id="50" name="Rectangle 49"/>
          <p:cNvSpPr/>
          <p:nvPr/>
        </p:nvSpPr>
        <p:spPr>
          <a:xfrm>
            <a:off x="7598664" y="2514600"/>
            <a:ext cx="2194560" cy="1325880"/>
          </a:xfrm>
          <a:prstGeom prst="rect">
            <a:avLst/>
          </a:prstGeom>
          <a:solidFill>
            <a:srgbClr val="FFFFFF"/>
          </a:solidFill>
          <a:ln w="19050">
            <a:solidFill>
              <a:srgbClr val="E67E2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662672" y="2542032"/>
            <a:ext cx="2194560" cy="256032"/>
          </a:xfrm>
          <a:prstGeom prst="rect">
            <a:avLst/>
          </a:prstGeom>
          <a:noFill/>
        </p:spPr>
        <p:txBody>
          <a:bodyPr wrap="square">
            <a:spAutoFit/>
          </a:bodyPr>
          <a:lstStyle/>
          <a:p>
            <a:pPr algn="l"/>
            <a:r>
              <a:rPr sz="900" b="0" i="1">
                <a:solidFill>
                  <a:srgbClr val="888899"/>
                </a:solidFill>
                <a:latin typeface="Calibri"/>
              </a:rPr>
              <a:t>Best offer found</a:t>
            </a:r>
          </a:p>
        </p:txBody>
      </p:sp>
      <p:sp>
        <p:nvSpPr>
          <p:cNvPr id="52" name="TextBox 51"/>
          <p:cNvSpPr txBox="1"/>
          <p:nvPr/>
        </p:nvSpPr>
        <p:spPr>
          <a:xfrm>
            <a:off x="7662672" y="2779776"/>
            <a:ext cx="2103120" cy="1024128"/>
          </a:xfrm>
          <a:prstGeom prst="rect">
            <a:avLst/>
          </a:prstGeom>
          <a:noFill/>
        </p:spPr>
        <p:txBody>
          <a:bodyPr wrap="square">
            <a:spAutoFit/>
          </a:bodyPr>
          <a:lstStyle/>
          <a:p>
            <a:pPr algn="l"/>
            <a:r>
              <a:rPr sz="1200" b="1" i="0">
                <a:solidFill>
                  <a:srgbClr val="222233"/>
                </a:solidFill>
                <a:latin typeface="Calibri"/>
              </a:rPr>
              <a:t>$32 total
35 min · 4.5★
+ FoodRush boosted</a:t>
            </a:r>
          </a:p>
        </p:txBody>
      </p:sp>
      <p:sp>
        <p:nvSpPr>
          <p:cNvPr id="53" name="Rectangle 52"/>
          <p:cNvSpPr/>
          <p:nvPr/>
        </p:nvSpPr>
        <p:spPr>
          <a:xfrm>
            <a:off x="7598664" y="3886200"/>
            <a:ext cx="2194560" cy="118872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598664" y="3913632"/>
            <a:ext cx="2194560" cy="1143000"/>
          </a:xfrm>
          <a:prstGeom prst="rect">
            <a:avLst/>
          </a:prstGeom>
          <a:noFill/>
        </p:spPr>
        <p:txBody>
          <a:bodyPr wrap="square">
            <a:spAutoFit/>
          </a:bodyPr>
          <a:lstStyle/>
          <a:p>
            <a:pPr algn="ctr"/>
            <a:r>
              <a:rPr sz="1100" b="1" i="0">
                <a:solidFill>
                  <a:srgbClr val="FFFFFF"/>
                </a:solidFill>
                <a:latin typeface="Calibri"/>
              </a:rPr>
              <a:t>Constraints met
but ranking biased
by bid size</a:t>
            </a:r>
          </a:p>
        </p:txBody>
      </p:sp>
      <p:sp>
        <p:nvSpPr>
          <p:cNvPr id="55" name="Rectangle 54"/>
          <p:cNvSpPr/>
          <p:nvPr/>
        </p:nvSpPr>
        <p:spPr>
          <a:xfrm>
            <a:off x="7598664" y="5120640"/>
            <a:ext cx="2194560" cy="11430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662672" y="5148072"/>
            <a:ext cx="2194560" cy="256032"/>
          </a:xfrm>
          <a:prstGeom prst="rect">
            <a:avLst/>
          </a:prstGeom>
          <a:noFill/>
        </p:spPr>
        <p:txBody>
          <a:bodyPr wrap="square">
            <a:spAutoFit/>
          </a:bodyPr>
          <a:lstStyle/>
          <a:p>
            <a:pPr algn="l"/>
            <a:r>
              <a:rPr sz="900" b="0" i="1">
                <a:solidFill>
                  <a:srgbClr val="D6E4F0"/>
                </a:solidFill>
                <a:latin typeface="Calibri"/>
              </a:rPr>
              <a:t>Ranking:</a:t>
            </a:r>
          </a:p>
        </p:txBody>
      </p:sp>
      <p:sp>
        <p:nvSpPr>
          <p:cNvPr id="57" name="TextBox 56"/>
          <p:cNvSpPr txBox="1"/>
          <p:nvPr/>
        </p:nvSpPr>
        <p:spPr>
          <a:xfrm>
            <a:off x="7662672" y="5385816"/>
            <a:ext cx="2103120" cy="841248"/>
          </a:xfrm>
          <a:prstGeom prst="rect">
            <a:avLst/>
          </a:prstGeom>
          <a:noFill/>
        </p:spPr>
        <p:txBody>
          <a:bodyPr wrap="square">
            <a:spAutoFit/>
          </a:bodyPr>
          <a:lstStyle/>
          <a:p>
            <a:pPr algn="l"/>
            <a:r>
              <a:rPr sz="1100" b="0" i="0">
                <a:solidFill>
                  <a:srgbClr val="D6E4F0"/>
                </a:solidFill>
                <a:latin typeface="Calibri"/>
              </a:rPr>
              <a:t>Pays per click
→ unconditional boost</a:t>
            </a:r>
          </a:p>
        </p:txBody>
      </p:sp>
      <p:sp>
        <p:nvSpPr>
          <p:cNvPr id="58" name="Rectangle 57"/>
          <p:cNvSpPr/>
          <p:nvPr/>
        </p:nvSpPr>
        <p:spPr>
          <a:xfrm>
            <a:off x="10003536" y="1005840"/>
            <a:ext cx="2194560" cy="50292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003536" y="1005840"/>
            <a:ext cx="2194560" cy="502920"/>
          </a:xfrm>
          <a:prstGeom prst="rect">
            <a:avLst/>
          </a:prstGeom>
          <a:noFill/>
        </p:spPr>
        <p:txBody>
          <a:bodyPr wrap="square">
            <a:spAutoFit/>
          </a:bodyPr>
          <a:lstStyle/>
          <a:p>
            <a:pPr algn="ctr"/>
            <a:r>
              <a:rPr sz="1300" b="1" i="0">
                <a:solidFill>
                  <a:srgbClr val="FFFFFF"/>
                </a:solidFill>
                <a:latin typeface="Calibri"/>
              </a:rPr>
              <a:t>LLM CPFI</a:t>
            </a:r>
          </a:p>
        </p:txBody>
      </p:sp>
      <p:sp>
        <p:nvSpPr>
          <p:cNvPr id="60" name="Rectangle 59"/>
          <p:cNvSpPr/>
          <p:nvPr/>
        </p:nvSpPr>
        <p:spPr>
          <a:xfrm>
            <a:off x="10003536" y="1554480"/>
            <a:ext cx="2194560" cy="91440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0067544" y="1572768"/>
            <a:ext cx="2194560" cy="256032"/>
          </a:xfrm>
          <a:prstGeom prst="rect">
            <a:avLst/>
          </a:prstGeom>
          <a:noFill/>
        </p:spPr>
        <p:txBody>
          <a:bodyPr wrap="square">
            <a:spAutoFit/>
          </a:bodyPr>
          <a:lstStyle/>
          <a:p>
            <a:pPr algn="l"/>
            <a:r>
              <a:rPr sz="900" b="0" i="1">
                <a:solidFill>
                  <a:srgbClr val="888899"/>
                </a:solidFill>
                <a:latin typeface="Calibri"/>
              </a:rPr>
              <a:t>Visible offers</a:t>
            </a:r>
          </a:p>
        </p:txBody>
      </p:sp>
      <p:sp>
        <p:nvSpPr>
          <p:cNvPr id="62" name="TextBox 61"/>
          <p:cNvSpPr txBox="1"/>
          <p:nvPr/>
        </p:nvSpPr>
        <p:spPr>
          <a:xfrm>
            <a:off x="10067544" y="1810512"/>
            <a:ext cx="2103120" cy="621792"/>
          </a:xfrm>
          <a:prstGeom prst="rect">
            <a:avLst/>
          </a:prstGeom>
          <a:noFill/>
        </p:spPr>
        <p:txBody>
          <a:bodyPr wrap="square">
            <a:spAutoFit/>
          </a:bodyPr>
          <a:lstStyle/>
          <a:p>
            <a:pPr algn="l"/>
            <a:r>
              <a:rPr sz="1100" b="0" i="0">
                <a:solidFill>
                  <a:srgbClr val="222233"/>
                </a:solidFill>
                <a:latin typeface="Calibri"/>
              </a:rPr>
              <a:t>All 3 platforms
aggregated</a:t>
            </a:r>
          </a:p>
        </p:txBody>
      </p:sp>
      <p:sp>
        <p:nvSpPr>
          <p:cNvPr id="63" name="Rectangle 62"/>
          <p:cNvSpPr/>
          <p:nvPr/>
        </p:nvSpPr>
        <p:spPr>
          <a:xfrm>
            <a:off x="10003536" y="2514600"/>
            <a:ext cx="2194560" cy="1325880"/>
          </a:xfrm>
          <a:prstGeom prst="rect">
            <a:avLst/>
          </a:prstGeom>
          <a:solidFill>
            <a:srgbClr val="FFFFFF"/>
          </a:solidFill>
          <a:ln w="19050">
            <a:solidFill>
              <a:srgbClr val="27965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067544" y="2542032"/>
            <a:ext cx="2194560" cy="256032"/>
          </a:xfrm>
          <a:prstGeom prst="rect">
            <a:avLst/>
          </a:prstGeom>
          <a:noFill/>
        </p:spPr>
        <p:txBody>
          <a:bodyPr wrap="square">
            <a:spAutoFit/>
          </a:bodyPr>
          <a:lstStyle/>
          <a:p>
            <a:pPr algn="l"/>
            <a:r>
              <a:rPr sz="900" b="0" i="1">
                <a:solidFill>
                  <a:srgbClr val="888899"/>
                </a:solidFill>
                <a:latin typeface="Calibri"/>
              </a:rPr>
              <a:t>Best offer found</a:t>
            </a:r>
          </a:p>
        </p:txBody>
      </p:sp>
      <p:sp>
        <p:nvSpPr>
          <p:cNvPr id="65" name="TextBox 64"/>
          <p:cNvSpPr txBox="1"/>
          <p:nvPr/>
        </p:nvSpPr>
        <p:spPr>
          <a:xfrm>
            <a:off x="10067544" y="2779776"/>
            <a:ext cx="2103120" cy="1024128"/>
          </a:xfrm>
          <a:prstGeom prst="rect">
            <a:avLst/>
          </a:prstGeom>
          <a:noFill/>
        </p:spPr>
        <p:txBody>
          <a:bodyPr wrap="square">
            <a:spAutoFit/>
          </a:bodyPr>
          <a:lstStyle/>
          <a:p>
            <a:pPr algn="l"/>
            <a:r>
              <a:rPr sz="1200" b="1" i="0">
                <a:solidFill>
                  <a:srgbClr val="222233"/>
                </a:solidFill>
                <a:latin typeface="Calibri"/>
              </a:rPr>
              <a:t>$32 total
35 min · 4.5★</a:t>
            </a:r>
          </a:p>
        </p:txBody>
      </p:sp>
      <p:sp>
        <p:nvSpPr>
          <p:cNvPr id="66" name="Rectangle 65"/>
          <p:cNvSpPr/>
          <p:nvPr/>
        </p:nvSpPr>
        <p:spPr>
          <a:xfrm>
            <a:off x="10003536" y="3886200"/>
            <a:ext cx="2194560" cy="118872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003536" y="3913632"/>
            <a:ext cx="2194560" cy="1143000"/>
          </a:xfrm>
          <a:prstGeom prst="rect">
            <a:avLst/>
          </a:prstGeom>
          <a:noFill/>
        </p:spPr>
        <p:txBody>
          <a:bodyPr wrap="square">
            <a:spAutoFit/>
          </a:bodyPr>
          <a:lstStyle/>
          <a:p>
            <a:pPr algn="ctr"/>
            <a:r>
              <a:rPr sz="1100" b="1" i="0">
                <a:solidFill>
                  <a:srgbClr val="FFFFFF"/>
                </a:solidFill>
                <a:latin typeface="Calibri"/>
              </a:rPr>
              <a:t>Constraints met
Sponsorship only
if intent fits</a:t>
            </a:r>
          </a:p>
        </p:txBody>
      </p:sp>
      <p:sp>
        <p:nvSpPr>
          <p:cNvPr id="68" name="Rectangle 67"/>
          <p:cNvSpPr/>
          <p:nvPr/>
        </p:nvSpPr>
        <p:spPr>
          <a:xfrm>
            <a:off x="10003536" y="5120640"/>
            <a:ext cx="2194560" cy="11430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0067544" y="5148072"/>
            <a:ext cx="2194560" cy="256032"/>
          </a:xfrm>
          <a:prstGeom prst="rect">
            <a:avLst/>
          </a:prstGeom>
          <a:noFill/>
        </p:spPr>
        <p:txBody>
          <a:bodyPr wrap="square">
            <a:spAutoFit/>
          </a:bodyPr>
          <a:lstStyle/>
          <a:p>
            <a:pPr algn="l"/>
            <a:r>
              <a:rPr sz="900" b="0" i="1">
                <a:solidFill>
                  <a:srgbClr val="D6E4F0"/>
                </a:solidFill>
                <a:latin typeface="Calibri"/>
              </a:rPr>
              <a:t>Ranking:</a:t>
            </a:r>
          </a:p>
        </p:txBody>
      </p:sp>
      <p:sp>
        <p:nvSpPr>
          <p:cNvPr id="70" name="TextBox 69"/>
          <p:cNvSpPr txBox="1"/>
          <p:nvPr/>
        </p:nvSpPr>
        <p:spPr>
          <a:xfrm>
            <a:off x="10067544" y="5385816"/>
            <a:ext cx="2103120" cy="841248"/>
          </a:xfrm>
          <a:prstGeom prst="rect">
            <a:avLst/>
          </a:prstGeom>
          <a:noFill/>
        </p:spPr>
        <p:txBody>
          <a:bodyPr wrap="square">
            <a:spAutoFit/>
          </a:bodyPr>
          <a:lstStyle/>
          <a:p>
            <a:pPr algn="l"/>
            <a:r>
              <a:rPr sz="1100" b="0" i="0">
                <a:solidFill>
                  <a:srgbClr val="D6E4F0"/>
                </a:solidFill>
                <a:latin typeface="Calibri"/>
              </a:rPr>
              <a:t>Pays per fulfilled
intent → aligned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We measure outcomes for each side of the market</a:t>
            </a:r>
          </a:p>
        </p:txBody>
      </p:sp>
      <p:sp>
        <p:nvSpPr>
          <p:cNvPr id="8" name="Rectangle 7"/>
          <p:cNvSpPr/>
          <p:nvPr/>
        </p:nvSpPr>
        <p:spPr>
          <a:xfrm>
            <a:off x="274320" y="1005840"/>
            <a:ext cx="2788920" cy="51663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05840"/>
            <a:ext cx="2788920" cy="502920"/>
          </a:xfrm>
          <a:prstGeom prst="rect">
            <a:avLst/>
          </a:prstGeom>
          <a:noFill/>
        </p:spPr>
        <p:txBody>
          <a:bodyPr wrap="square">
            <a:spAutoFit/>
          </a:bodyPr>
          <a:lstStyle/>
          <a:p>
            <a:pPr algn="ctr"/>
            <a:r>
              <a:rPr sz="1800" b="1" i="0">
                <a:solidFill>
                  <a:srgbClr val="FFFFFF"/>
                </a:solidFill>
                <a:latin typeface="Calibri"/>
              </a:rPr>
              <a:t>Consumer</a:t>
            </a:r>
          </a:p>
        </p:txBody>
      </p:sp>
      <p:sp>
        <p:nvSpPr>
          <p:cNvPr id="10" name="Rectangle 9"/>
          <p:cNvSpPr/>
          <p:nvPr/>
        </p:nvSpPr>
        <p:spPr>
          <a:xfrm>
            <a:off x="274320" y="1508760"/>
            <a:ext cx="278892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1480" y="1627632"/>
            <a:ext cx="2578608" cy="594360"/>
          </a:xfrm>
          <a:prstGeom prst="rect">
            <a:avLst/>
          </a:prstGeom>
          <a:noFill/>
        </p:spPr>
        <p:txBody>
          <a:bodyPr wrap="square">
            <a:spAutoFit/>
          </a:bodyPr>
          <a:lstStyle/>
          <a:p>
            <a:pPr algn="l"/>
            <a:r>
              <a:rPr sz="1200" b="0" i="0">
                <a:solidFill>
                  <a:srgbClr val="FFFFFF"/>
                </a:solidFill>
                <a:latin typeface="Calibri"/>
              </a:rPr>
              <a:t>·  Conversion rate</a:t>
            </a:r>
          </a:p>
        </p:txBody>
      </p:sp>
      <p:sp>
        <p:nvSpPr>
          <p:cNvPr id="12" name="TextBox 11"/>
          <p:cNvSpPr txBox="1"/>
          <p:nvPr/>
        </p:nvSpPr>
        <p:spPr>
          <a:xfrm>
            <a:off x="411480" y="2295144"/>
            <a:ext cx="2578608" cy="594360"/>
          </a:xfrm>
          <a:prstGeom prst="rect">
            <a:avLst/>
          </a:prstGeom>
          <a:noFill/>
        </p:spPr>
        <p:txBody>
          <a:bodyPr wrap="square">
            <a:spAutoFit/>
          </a:bodyPr>
          <a:lstStyle/>
          <a:p>
            <a:pPr algn="l"/>
            <a:r>
              <a:rPr sz="1200" b="0" i="0">
                <a:solidFill>
                  <a:srgbClr val="FFFFFF"/>
                </a:solidFill>
                <a:latin typeface="Calibri"/>
              </a:rPr>
              <a:t>·  Intent fulfilment (0–1) ← primary</a:t>
            </a:r>
          </a:p>
        </p:txBody>
      </p:sp>
      <p:sp>
        <p:nvSpPr>
          <p:cNvPr id="13" name="TextBox 12"/>
          <p:cNvSpPr txBox="1"/>
          <p:nvPr/>
        </p:nvSpPr>
        <p:spPr>
          <a:xfrm>
            <a:off x="411480" y="2962656"/>
            <a:ext cx="2578608" cy="594360"/>
          </a:xfrm>
          <a:prstGeom prst="rect">
            <a:avLst/>
          </a:prstGeom>
          <a:noFill/>
        </p:spPr>
        <p:txBody>
          <a:bodyPr wrap="square">
            <a:spAutoFit/>
          </a:bodyPr>
          <a:lstStyle/>
          <a:p>
            <a:pPr algn="l"/>
            <a:r>
              <a:rPr sz="1200" b="0" i="0">
                <a:solidFill>
                  <a:srgbClr val="FFFFFF"/>
                </a:solidFill>
                <a:latin typeface="Calibri"/>
              </a:rPr>
              <a:t>·  Avg price paid</a:t>
            </a:r>
          </a:p>
        </p:txBody>
      </p:sp>
      <p:sp>
        <p:nvSpPr>
          <p:cNvPr id="14" name="TextBox 13"/>
          <p:cNvSpPr txBox="1"/>
          <p:nvPr/>
        </p:nvSpPr>
        <p:spPr>
          <a:xfrm>
            <a:off x="411480" y="3630168"/>
            <a:ext cx="2578608" cy="594360"/>
          </a:xfrm>
          <a:prstGeom prst="rect">
            <a:avLst/>
          </a:prstGeom>
          <a:noFill/>
        </p:spPr>
        <p:txBody>
          <a:bodyPr wrap="square">
            <a:spAutoFit/>
          </a:bodyPr>
          <a:lstStyle/>
          <a:p>
            <a:pPr algn="l"/>
            <a:r>
              <a:rPr sz="1200" b="0" i="0">
                <a:solidFill>
                  <a:srgbClr val="FFFFFF"/>
                </a:solidFill>
                <a:latin typeface="Calibri"/>
              </a:rPr>
              <a:t>·  Avg delivery time</a:t>
            </a:r>
          </a:p>
        </p:txBody>
      </p:sp>
      <p:sp>
        <p:nvSpPr>
          <p:cNvPr id="15" name="TextBox 14"/>
          <p:cNvSpPr txBox="1"/>
          <p:nvPr/>
        </p:nvSpPr>
        <p:spPr>
          <a:xfrm>
            <a:off x="411480" y="4297680"/>
            <a:ext cx="2578608" cy="594360"/>
          </a:xfrm>
          <a:prstGeom prst="rect">
            <a:avLst/>
          </a:prstGeom>
          <a:noFill/>
        </p:spPr>
        <p:txBody>
          <a:bodyPr wrap="square">
            <a:spAutoFit/>
          </a:bodyPr>
          <a:lstStyle/>
          <a:p>
            <a:pPr algn="l"/>
            <a:r>
              <a:rPr sz="1200" b="0" i="0">
                <a:solidFill>
                  <a:srgbClr val="FFFFFF"/>
                </a:solidFill>
                <a:latin typeface="Calibri"/>
              </a:rPr>
              <a:t>·  Consumer utility</a:t>
            </a:r>
          </a:p>
        </p:txBody>
      </p:sp>
      <p:sp>
        <p:nvSpPr>
          <p:cNvPr id="16" name="Rectangle 15"/>
          <p:cNvSpPr/>
          <p:nvPr/>
        </p:nvSpPr>
        <p:spPr>
          <a:xfrm>
            <a:off x="3218688" y="1005840"/>
            <a:ext cx="2788920" cy="51663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18688" y="1005840"/>
            <a:ext cx="2788920" cy="502920"/>
          </a:xfrm>
          <a:prstGeom prst="rect">
            <a:avLst/>
          </a:prstGeom>
          <a:noFill/>
        </p:spPr>
        <p:txBody>
          <a:bodyPr wrap="square">
            <a:spAutoFit/>
          </a:bodyPr>
          <a:lstStyle/>
          <a:p>
            <a:pPr algn="ctr"/>
            <a:r>
              <a:rPr sz="1800" b="1" i="0">
                <a:solidFill>
                  <a:srgbClr val="FFFFFF"/>
                </a:solidFill>
                <a:latin typeface="Calibri"/>
              </a:rPr>
              <a:t>Platform</a:t>
            </a:r>
          </a:p>
        </p:txBody>
      </p:sp>
      <p:sp>
        <p:nvSpPr>
          <p:cNvPr id="18" name="Rectangle 17"/>
          <p:cNvSpPr/>
          <p:nvPr/>
        </p:nvSpPr>
        <p:spPr>
          <a:xfrm>
            <a:off x="3218688" y="1508760"/>
            <a:ext cx="278892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55848" y="1627632"/>
            <a:ext cx="2578608" cy="594360"/>
          </a:xfrm>
          <a:prstGeom prst="rect">
            <a:avLst/>
          </a:prstGeom>
          <a:noFill/>
        </p:spPr>
        <p:txBody>
          <a:bodyPr wrap="square">
            <a:spAutoFit/>
          </a:bodyPr>
          <a:lstStyle/>
          <a:p>
            <a:pPr algn="l"/>
            <a:r>
              <a:rPr sz="1200" b="0" i="0">
                <a:solidFill>
                  <a:srgbClr val="FFFFFF"/>
                </a:solidFill>
                <a:latin typeface="Calibri"/>
              </a:rPr>
              <a:t>·  Platform net revenue</a:t>
            </a:r>
          </a:p>
        </p:txBody>
      </p:sp>
      <p:sp>
        <p:nvSpPr>
          <p:cNvPr id="20" name="TextBox 19"/>
          <p:cNvSpPr txBox="1"/>
          <p:nvPr/>
        </p:nvSpPr>
        <p:spPr>
          <a:xfrm>
            <a:off x="3355848" y="2295144"/>
            <a:ext cx="2578608" cy="594360"/>
          </a:xfrm>
          <a:prstGeom prst="rect">
            <a:avLst/>
          </a:prstGeom>
          <a:noFill/>
        </p:spPr>
        <p:txBody>
          <a:bodyPr wrap="square">
            <a:spAutoFit/>
          </a:bodyPr>
          <a:lstStyle/>
          <a:p>
            <a:pPr algn="l"/>
            <a:r>
              <a:rPr sz="1200" b="0" i="0">
                <a:solidFill>
                  <a:srgbClr val="FFFFFF"/>
                </a:solidFill>
                <a:latin typeface="Calibri"/>
              </a:rPr>
              <a:t>·  Order share by platform</a:t>
            </a:r>
          </a:p>
        </p:txBody>
      </p:sp>
      <p:sp>
        <p:nvSpPr>
          <p:cNvPr id="21" name="TextBox 20"/>
          <p:cNvSpPr txBox="1"/>
          <p:nvPr/>
        </p:nvSpPr>
        <p:spPr>
          <a:xfrm>
            <a:off x="3355848" y="2962656"/>
            <a:ext cx="2578608" cy="594360"/>
          </a:xfrm>
          <a:prstGeom prst="rect">
            <a:avLst/>
          </a:prstGeom>
          <a:noFill/>
        </p:spPr>
        <p:txBody>
          <a:bodyPr wrap="square">
            <a:spAutoFit/>
          </a:bodyPr>
          <a:lstStyle/>
          <a:p>
            <a:pPr algn="l"/>
            <a:r>
              <a:rPr sz="1200" b="0" i="0">
                <a:solidFill>
                  <a:srgbClr val="FFFFFF"/>
                </a:solidFill>
                <a:latin typeface="Calibri"/>
              </a:rPr>
              <a:t>·  Net vs no-LLM baseline</a:t>
            </a:r>
          </a:p>
        </p:txBody>
      </p:sp>
      <p:sp>
        <p:nvSpPr>
          <p:cNvPr id="22" name="Rectangle 21"/>
          <p:cNvSpPr/>
          <p:nvPr/>
        </p:nvSpPr>
        <p:spPr>
          <a:xfrm>
            <a:off x="6163056" y="1005840"/>
            <a:ext cx="2788920" cy="516636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63056" y="1005840"/>
            <a:ext cx="2788920" cy="502920"/>
          </a:xfrm>
          <a:prstGeom prst="rect">
            <a:avLst/>
          </a:prstGeom>
          <a:noFill/>
        </p:spPr>
        <p:txBody>
          <a:bodyPr wrap="square">
            <a:spAutoFit/>
          </a:bodyPr>
          <a:lstStyle/>
          <a:p>
            <a:pPr algn="ctr"/>
            <a:r>
              <a:rPr sz="1800" b="1" i="0">
                <a:solidFill>
                  <a:srgbClr val="FFFFFF"/>
                </a:solidFill>
                <a:latin typeface="Calibri"/>
              </a:rPr>
              <a:t>Restaurant</a:t>
            </a:r>
          </a:p>
        </p:txBody>
      </p:sp>
      <p:sp>
        <p:nvSpPr>
          <p:cNvPr id="24" name="Rectangle 23"/>
          <p:cNvSpPr/>
          <p:nvPr/>
        </p:nvSpPr>
        <p:spPr>
          <a:xfrm>
            <a:off x="6163056" y="1508760"/>
            <a:ext cx="278892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0216" y="1627632"/>
            <a:ext cx="2578608" cy="594360"/>
          </a:xfrm>
          <a:prstGeom prst="rect">
            <a:avLst/>
          </a:prstGeom>
          <a:noFill/>
        </p:spPr>
        <p:txBody>
          <a:bodyPr wrap="square">
            <a:spAutoFit/>
          </a:bodyPr>
          <a:lstStyle/>
          <a:p>
            <a:pPr algn="l"/>
            <a:r>
              <a:rPr sz="1200" b="0" i="0">
                <a:solidFill>
                  <a:srgbClr val="FFFFFF"/>
                </a:solidFill>
                <a:latin typeface="Calibri"/>
              </a:rPr>
              <a:t>·  Profit per order</a:t>
            </a:r>
          </a:p>
        </p:txBody>
      </p:sp>
      <p:sp>
        <p:nvSpPr>
          <p:cNvPr id="26" name="TextBox 25"/>
          <p:cNvSpPr txBox="1"/>
          <p:nvPr/>
        </p:nvSpPr>
        <p:spPr>
          <a:xfrm>
            <a:off x="6300216" y="2295144"/>
            <a:ext cx="2578608" cy="594360"/>
          </a:xfrm>
          <a:prstGeom prst="rect">
            <a:avLst/>
          </a:prstGeom>
          <a:noFill/>
        </p:spPr>
        <p:txBody>
          <a:bodyPr wrap="square">
            <a:spAutoFit/>
          </a:bodyPr>
          <a:lstStyle/>
          <a:p>
            <a:pPr algn="l"/>
            <a:r>
              <a:rPr sz="1200" b="0" i="0">
                <a:solidFill>
                  <a:srgbClr val="FFFFFF"/>
                </a:solidFill>
                <a:latin typeface="Calibri"/>
              </a:rPr>
              <a:t>·  Exposure HHI  ·  Gini</a:t>
            </a:r>
          </a:p>
        </p:txBody>
      </p:sp>
      <p:sp>
        <p:nvSpPr>
          <p:cNvPr id="27" name="TextBox 26"/>
          <p:cNvSpPr txBox="1"/>
          <p:nvPr/>
        </p:nvSpPr>
        <p:spPr>
          <a:xfrm>
            <a:off x="6300216" y="2962656"/>
            <a:ext cx="2578608" cy="594360"/>
          </a:xfrm>
          <a:prstGeom prst="rect">
            <a:avLst/>
          </a:prstGeom>
          <a:noFill/>
        </p:spPr>
        <p:txBody>
          <a:bodyPr wrap="square">
            <a:spAutoFit/>
          </a:bodyPr>
          <a:lstStyle/>
          <a:p>
            <a:pPr algn="l"/>
            <a:r>
              <a:rPr sz="1200" b="0" i="0">
                <a:solidFill>
                  <a:srgbClr val="FFFFFF"/>
                </a:solidFill>
                <a:latin typeface="Calibri"/>
              </a:rPr>
              <a:t>·  Order concentration</a:t>
            </a:r>
          </a:p>
        </p:txBody>
      </p:sp>
      <p:sp>
        <p:nvSpPr>
          <p:cNvPr id="28" name="Rectangle 27"/>
          <p:cNvSpPr/>
          <p:nvPr/>
        </p:nvSpPr>
        <p:spPr>
          <a:xfrm>
            <a:off x="9107424" y="1005840"/>
            <a:ext cx="2788920" cy="5166360"/>
          </a:xfrm>
          <a:prstGeom prst="rect">
            <a:avLst/>
          </a:prstGeom>
          <a:solidFill>
            <a:srgbClr val="6C3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07424" y="1005840"/>
            <a:ext cx="2788920" cy="502920"/>
          </a:xfrm>
          <a:prstGeom prst="rect">
            <a:avLst/>
          </a:prstGeom>
          <a:noFill/>
        </p:spPr>
        <p:txBody>
          <a:bodyPr wrap="square">
            <a:spAutoFit/>
          </a:bodyPr>
          <a:lstStyle/>
          <a:p>
            <a:pPr algn="ctr"/>
            <a:r>
              <a:rPr sz="1800" b="1" i="0">
                <a:solidFill>
                  <a:srgbClr val="FFFFFF"/>
                </a:solidFill>
                <a:latin typeface="Calibri"/>
              </a:rPr>
              <a:t>LLM</a:t>
            </a:r>
          </a:p>
        </p:txBody>
      </p:sp>
      <p:sp>
        <p:nvSpPr>
          <p:cNvPr id="30" name="Rectangle 29"/>
          <p:cNvSpPr/>
          <p:nvPr/>
        </p:nvSpPr>
        <p:spPr>
          <a:xfrm>
            <a:off x="9107424" y="1508760"/>
            <a:ext cx="2788920" cy="254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244584" y="1627632"/>
            <a:ext cx="2578608" cy="594360"/>
          </a:xfrm>
          <a:prstGeom prst="rect">
            <a:avLst/>
          </a:prstGeom>
          <a:noFill/>
        </p:spPr>
        <p:txBody>
          <a:bodyPr wrap="square">
            <a:spAutoFit/>
          </a:bodyPr>
          <a:lstStyle/>
          <a:p>
            <a:pPr algn="l"/>
            <a:r>
              <a:rPr sz="1200" b="0" i="0">
                <a:solidFill>
                  <a:srgbClr val="FFFFFF"/>
                </a:solidFill>
                <a:latin typeface="Calibri"/>
              </a:rPr>
              <a:t>·  LLM revenue</a:t>
            </a:r>
          </a:p>
        </p:txBody>
      </p:sp>
      <p:sp>
        <p:nvSpPr>
          <p:cNvPr id="32" name="TextBox 31"/>
          <p:cNvSpPr txBox="1"/>
          <p:nvPr/>
        </p:nvSpPr>
        <p:spPr>
          <a:xfrm>
            <a:off x="9244584" y="2295144"/>
            <a:ext cx="2578608" cy="594360"/>
          </a:xfrm>
          <a:prstGeom prst="rect">
            <a:avLst/>
          </a:prstGeom>
          <a:noFill/>
        </p:spPr>
        <p:txBody>
          <a:bodyPr wrap="square">
            <a:spAutoFit/>
          </a:bodyPr>
          <a:lstStyle/>
          <a:p>
            <a:pPr algn="l"/>
            <a:r>
              <a:rPr sz="1200" b="0" i="0">
                <a:solidFill>
                  <a:srgbClr val="FFFFFF"/>
                </a:solidFill>
                <a:latin typeface="Calibri"/>
              </a:rPr>
              <a:t>·  Click-through rate</a:t>
            </a:r>
          </a:p>
        </p:txBody>
      </p:sp>
      <p:sp>
        <p:nvSpPr>
          <p:cNvPr id="33" name="TextBox 32"/>
          <p:cNvSpPr txBox="1"/>
          <p:nvPr/>
        </p:nvSpPr>
        <p:spPr>
          <a:xfrm>
            <a:off x="9244584" y="2962656"/>
            <a:ext cx="2578608" cy="594360"/>
          </a:xfrm>
          <a:prstGeom prst="rect">
            <a:avLst/>
          </a:prstGeom>
          <a:noFill/>
        </p:spPr>
        <p:txBody>
          <a:bodyPr wrap="square">
            <a:spAutoFit/>
          </a:bodyPr>
          <a:lstStyle/>
          <a:p>
            <a:pPr algn="l"/>
            <a:r>
              <a:rPr sz="1200" b="0" i="0">
                <a:solidFill>
                  <a:srgbClr val="FFFFFF"/>
                </a:solidFill>
                <a:latin typeface="Calibri"/>
              </a:rPr>
              <a:t>·  Revenue per order</a:t>
            </a:r>
          </a:p>
        </p:txBody>
      </p:sp>
      <p:sp>
        <p:nvSpPr>
          <p:cNvPr id="34" name="TextBox 33"/>
          <p:cNvSpPr txBox="1"/>
          <p:nvPr/>
        </p:nvSpPr>
        <p:spPr>
          <a:xfrm>
            <a:off x="9244584" y="3630168"/>
            <a:ext cx="2578608" cy="594360"/>
          </a:xfrm>
          <a:prstGeom prst="rect">
            <a:avLst/>
          </a:prstGeom>
          <a:noFill/>
        </p:spPr>
        <p:txBody>
          <a:bodyPr wrap="square">
            <a:spAutoFit/>
          </a:bodyPr>
          <a:lstStyle/>
          <a:p>
            <a:pPr algn="l"/>
            <a:r>
              <a:rPr sz="1200" b="0" i="0">
                <a:solidFill>
                  <a:srgbClr val="FFFFFF"/>
                </a:solidFill>
                <a:latin typeface="Calibri"/>
              </a:rPr>
              <a:t>·  Shortlist relevance</a:t>
            </a:r>
          </a:p>
        </p:txBody>
      </p:sp>
      <p:sp>
        <p:nvSpPr>
          <p:cNvPr id="35" name="Rectangle 34"/>
          <p:cNvSpPr/>
          <p:nvPr/>
        </p:nvSpPr>
        <p:spPr>
          <a:xfrm>
            <a:off x="274320" y="6263640"/>
            <a:ext cx="11612880" cy="384048"/>
          </a:xfrm>
          <a:prstGeom prst="rect">
            <a:avLst/>
          </a:prstGeom>
          <a:solidFill>
            <a:srgbClr val="FFEC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6281928"/>
            <a:ext cx="11247120" cy="347472"/>
          </a:xfrm>
          <a:prstGeom prst="rect">
            <a:avLst/>
          </a:prstGeom>
          <a:noFill/>
        </p:spPr>
        <p:txBody>
          <a:bodyPr wrap="square">
            <a:spAutoFit/>
          </a:bodyPr>
          <a:lstStyle/>
          <a:p>
            <a:pPr algn="l"/>
            <a:r>
              <a:rPr sz="1300" b="1" i="0">
                <a:solidFill>
                  <a:srgbClr val="5D4000"/>
                </a:solidFill>
                <a:latin typeface="Calibri"/>
              </a:rPr>
              <a:t>Intent Fulfilment: did the consumer get the right cuisine, within budget, within their time limit, from a quality restaurant?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Four experiments, four questions</a:t>
            </a:r>
          </a:p>
        </p:txBody>
      </p:sp>
      <p:sp>
        <p:nvSpPr>
          <p:cNvPr id="8" name="Rectangle 7"/>
          <p:cNvSpPr/>
          <p:nvPr/>
        </p:nvSpPr>
        <p:spPr>
          <a:xfrm>
            <a:off x="320040" y="1005840"/>
            <a:ext cx="2788920" cy="521208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51560"/>
            <a:ext cx="2788920" cy="1097280"/>
          </a:xfrm>
          <a:prstGeom prst="rect">
            <a:avLst/>
          </a:prstGeom>
          <a:noFill/>
        </p:spPr>
        <p:txBody>
          <a:bodyPr wrap="square">
            <a:spAutoFit/>
          </a:bodyPr>
          <a:lstStyle/>
          <a:p>
            <a:pPr algn="ctr"/>
            <a:r>
              <a:rPr sz="6000" b="1" i="0">
                <a:solidFill>
                  <a:srgbClr val="FFFFFF"/>
                </a:solidFill>
                <a:latin typeface="Calibri"/>
              </a:rPr>
              <a:t>1</a:t>
            </a:r>
          </a:p>
        </p:txBody>
      </p:sp>
      <p:sp>
        <p:nvSpPr>
          <p:cNvPr id="10" name="TextBox 9"/>
          <p:cNvSpPr txBox="1"/>
          <p:nvPr/>
        </p:nvSpPr>
        <p:spPr>
          <a:xfrm>
            <a:off x="320040" y="2194560"/>
            <a:ext cx="2788920" cy="1234440"/>
          </a:xfrm>
          <a:prstGeom prst="rect">
            <a:avLst/>
          </a:prstGeom>
          <a:noFill/>
        </p:spPr>
        <p:txBody>
          <a:bodyPr wrap="square">
            <a:spAutoFit/>
          </a:bodyPr>
          <a:lstStyle/>
          <a:p>
            <a:pPr algn="ctr"/>
            <a:r>
              <a:rPr sz="1500" b="1" i="0">
                <a:solidFill>
                  <a:srgbClr val="FFFFFF"/>
                </a:solidFill>
                <a:latin typeface="Calibri"/>
              </a:rPr>
              <a:t>No-LLM
vs LLM Neutral</a:t>
            </a:r>
          </a:p>
        </p:txBody>
      </p:sp>
      <p:sp>
        <p:nvSpPr>
          <p:cNvPr id="11" name="Rectangle 10"/>
          <p:cNvSpPr/>
          <p:nvPr/>
        </p:nvSpPr>
        <p:spPr>
          <a:xfrm>
            <a:off x="457200" y="3474720"/>
            <a:ext cx="25146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1480" y="3611880"/>
            <a:ext cx="2651760" cy="1463040"/>
          </a:xfrm>
          <a:prstGeom prst="rect">
            <a:avLst/>
          </a:prstGeom>
          <a:noFill/>
        </p:spPr>
        <p:txBody>
          <a:bodyPr wrap="square">
            <a:spAutoFit/>
          </a:bodyPr>
          <a:lstStyle/>
          <a:p>
            <a:pPr algn="ctr"/>
            <a:r>
              <a:rPr sz="1300" b="0" i="1">
                <a:solidFill>
                  <a:srgbClr val="DDDDDD"/>
                </a:solidFill>
                <a:latin typeface="Calibri"/>
              </a:rPr>
              <a:t>Does neutral LLM intermediation
improve consumer outcomes?</a:t>
            </a:r>
          </a:p>
        </p:txBody>
      </p:sp>
      <p:sp>
        <p:nvSpPr>
          <p:cNvPr id="13" name="Rectangle 12"/>
          <p:cNvSpPr/>
          <p:nvPr/>
        </p:nvSpPr>
        <p:spPr>
          <a:xfrm>
            <a:off x="3291840" y="1005840"/>
            <a:ext cx="2788920" cy="5212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91840" y="1051560"/>
            <a:ext cx="2788920" cy="1097280"/>
          </a:xfrm>
          <a:prstGeom prst="rect">
            <a:avLst/>
          </a:prstGeom>
          <a:noFill/>
        </p:spPr>
        <p:txBody>
          <a:bodyPr wrap="square">
            <a:spAutoFit/>
          </a:bodyPr>
          <a:lstStyle/>
          <a:p>
            <a:pPr algn="ctr"/>
            <a:r>
              <a:rPr sz="6000" b="1" i="0">
                <a:solidFill>
                  <a:srgbClr val="FFFFFF"/>
                </a:solidFill>
                <a:latin typeface="Calibri"/>
              </a:rPr>
              <a:t>2</a:t>
            </a:r>
          </a:p>
        </p:txBody>
      </p:sp>
      <p:sp>
        <p:nvSpPr>
          <p:cNvPr id="15" name="TextBox 14"/>
          <p:cNvSpPr txBox="1"/>
          <p:nvPr/>
        </p:nvSpPr>
        <p:spPr>
          <a:xfrm>
            <a:off x="3291840" y="2194560"/>
            <a:ext cx="2788920" cy="1234440"/>
          </a:xfrm>
          <a:prstGeom prst="rect">
            <a:avLst/>
          </a:prstGeom>
          <a:noFill/>
        </p:spPr>
        <p:txBody>
          <a:bodyPr wrap="square">
            <a:spAutoFit/>
          </a:bodyPr>
          <a:lstStyle/>
          <a:p>
            <a:pPr algn="ctr"/>
            <a:r>
              <a:rPr sz="1500" b="1" i="0">
                <a:solidFill>
                  <a:srgbClr val="FFFFFF"/>
                </a:solidFill>
                <a:latin typeface="Calibri"/>
              </a:rPr>
              <a:t>Neutral vs CPC
vs CPA vs CPFI</a:t>
            </a:r>
          </a:p>
        </p:txBody>
      </p:sp>
      <p:sp>
        <p:nvSpPr>
          <p:cNvPr id="16" name="Rectangle 15"/>
          <p:cNvSpPr/>
          <p:nvPr/>
        </p:nvSpPr>
        <p:spPr>
          <a:xfrm>
            <a:off x="3429000" y="3474720"/>
            <a:ext cx="25146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3611880"/>
            <a:ext cx="2651760" cy="1463040"/>
          </a:xfrm>
          <a:prstGeom prst="rect">
            <a:avLst/>
          </a:prstGeom>
          <a:noFill/>
        </p:spPr>
        <p:txBody>
          <a:bodyPr wrap="square">
            <a:spAutoFit/>
          </a:bodyPr>
          <a:lstStyle/>
          <a:p>
            <a:pPr algn="ctr"/>
            <a:r>
              <a:rPr sz="1300" b="0" i="1">
                <a:solidFill>
                  <a:srgbClr val="DDDDDD"/>
                </a:solidFill>
                <a:latin typeface="Calibri"/>
              </a:rPr>
              <a:t>How does monetisation mechanism
affect welfare and incentives?</a:t>
            </a:r>
          </a:p>
        </p:txBody>
      </p:sp>
      <p:sp>
        <p:nvSpPr>
          <p:cNvPr id="18" name="Rectangle 17"/>
          <p:cNvSpPr/>
          <p:nvPr/>
        </p:nvSpPr>
        <p:spPr>
          <a:xfrm>
            <a:off x="6263640" y="1005840"/>
            <a:ext cx="2788920" cy="521208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1051560"/>
            <a:ext cx="2788920" cy="1097280"/>
          </a:xfrm>
          <a:prstGeom prst="rect">
            <a:avLst/>
          </a:prstGeom>
          <a:noFill/>
        </p:spPr>
        <p:txBody>
          <a:bodyPr wrap="square">
            <a:spAutoFit/>
          </a:bodyPr>
          <a:lstStyle/>
          <a:p>
            <a:pPr algn="ctr"/>
            <a:r>
              <a:rPr sz="6000" b="1" i="0">
                <a:solidFill>
                  <a:srgbClr val="FFFFFF"/>
                </a:solidFill>
                <a:latin typeface="Calibri"/>
              </a:rPr>
              <a:t>3</a:t>
            </a:r>
          </a:p>
        </p:txBody>
      </p:sp>
      <p:sp>
        <p:nvSpPr>
          <p:cNvPr id="20" name="TextBox 19"/>
          <p:cNvSpPr txBox="1"/>
          <p:nvPr/>
        </p:nvSpPr>
        <p:spPr>
          <a:xfrm>
            <a:off x="6263640" y="2194560"/>
            <a:ext cx="2788920" cy="1234440"/>
          </a:xfrm>
          <a:prstGeom prst="rect">
            <a:avLst/>
          </a:prstGeom>
          <a:noFill/>
        </p:spPr>
        <p:txBody>
          <a:bodyPr wrap="square">
            <a:spAutoFit/>
          </a:bodyPr>
          <a:lstStyle/>
          <a:p>
            <a:pPr algn="ctr"/>
            <a:r>
              <a:rPr sz="1500" b="1" i="0">
                <a:solidFill>
                  <a:srgbClr val="FFFFFF"/>
                </a:solidFill>
                <a:latin typeface="Calibri"/>
              </a:rPr>
              <a:t>Sponsorship bias
sweep  0.0 → 1.0</a:t>
            </a:r>
          </a:p>
        </p:txBody>
      </p:sp>
      <p:sp>
        <p:nvSpPr>
          <p:cNvPr id="21" name="Rectangle 20"/>
          <p:cNvSpPr/>
          <p:nvPr/>
        </p:nvSpPr>
        <p:spPr>
          <a:xfrm>
            <a:off x="6400800" y="3474720"/>
            <a:ext cx="25146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55080" y="3611880"/>
            <a:ext cx="2651760" cy="1463040"/>
          </a:xfrm>
          <a:prstGeom prst="rect">
            <a:avLst/>
          </a:prstGeom>
          <a:noFill/>
        </p:spPr>
        <p:txBody>
          <a:bodyPr wrap="square">
            <a:spAutoFit/>
          </a:bodyPr>
          <a:lstStyle/>
          <a:p>
            <a:pPr algn="ctr"/>
            <a:r>
              <a:rPr sz="1300" b="0" i="1">
                <a:solidFill>
                  <a:srgbClr val="DDDDDD"/>
                </a:solidFill>
                <a:latin typeface="Calibri"/>
              </a:rPr>
              <a:t>How much paid bias
is too much?</a:t>
            </a:r>
          </a:p>
        </p:txBody>
      </p:sp>
      <p:sp>
        <p:nvSpPr>
          <p:cNvPr id="23" name="Rectangle 22"/>
          <p:cNvSpPr/>
          <p:nvPr/>
        </p:nvSpPr>
        <p:spPr>
          <a:xfrm>
            <a:off x="9235440" y="1005840"/>
            <a:ext cx="2788920" cy="521208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1051560"/>
            <a:ext cx="2788920" cy="1097280"/>
          </a:xfrm>
          <a:prstGeom prst="rect">
            <a:avLst/>
          </a:prstGeom>
          <a:noFill/>
        </p:spPr>
        <p:txBody>
          <a:bodyPr wrap="square">
            <a:spAutoFit/>
          </a:bodyPr>
          <a:lstStyle/>
          <a:p>
            <a:pPr algn="ctr"/>
            <a:r>
              <a:rPr sz="6000" b="1" i="0">
                <a:solidFill>
                  <a:srgbClr val="FFFFFF"/>
                </a:solidFill>
                <a:latin typeface="Calibri"/>
              </a:rPr>
              <a:t>4</a:t>
            </a:r>
          </a:p>
        </p:txBody>
      </p:sp>
      <p:sp>
        <p:nvSpPr>
          <p:cNvPr id="25" name="TextBox 24"/>
          <p:cNvSpPr txBox="1"/>
          <p:nvPr/>
        </p:nvSpPr>
        <p:spPr>
          <a:xfrm>
            <a:off x="9235440" y="2194560"/>
            <a:ext cx="2788920" cy="1234440"/>
          </a:xfrm>
          <a:prstGeom prst="rect">
            <a:avLst/>
          </a:prstGeom>
          <a:noFill/>
        </p:spPr>
        <p:txBody>
          <a:bodyPr wrap="square">
            <a:spAutoFit/>
          </a:bodyPr>
          <a:lstStyle/>
          <a:p>
            <a:pPr algn="ctr"/>
            <a:r>
              <a:rPr sz="1500" b="1" i="0">
                <a:solidFill>
                  <a:srgbClr val="FFFFFF"/>
                </a:solidFill>
                <a:latin typeface="Calibri"/>
              </a:rPr>
              <a:t>LLM trust
sweep</a:t>
            </a:r>
          </a:p>
        </p:txBody>
      </p:sp>
      <p:sp>
        <p:nvSpPr>
          <p:cNvPr id="26" name="Rectangle 25"/>
          <p:cNvSpPr/>
          <p:nvPr/>
        </p:nvSpPr>
        <p:spPr>
          <a:xfrm>
            <a:off x="9372600" y="3474720"/>
            <a:ext cx="25146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26880" y="3611880"/>
            <a:ext cx="2651760" cy="1463040"/>
          </a:xfrm>
          <a:prstGeom prst="rect">
            <a:avLst/>
          </a:prstGeom>
          <a:noFill/>
        </p:spPr>
        <p:txBody>
          <a:bodyPr wrap="square">
            <a:spAutoFit/>
          </a:bodyPr>
          <a:lstStyle/>
          <a:p>
            <a:pPr algn="ctr"/>
            <a:r>
              <a:rPr sz="1300" b="0" i="1">
                <a:solidFill>
                  <a:srgbClr val="DDDDDD"/>
                </a:solidFill>
                <a:latin typeface="Calibri"/>
              </a:rPr>
              <a:t>Does consumer trust affect
volume or match quality?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 1: Neutral LLM improves match quality</a:t>
            </a:r>
          </a:p>
        </p:txBody>
      </p:sp>
      <p:graphicFrame>
        <p:nvGraphicFramePr>
          <p:cNvPr id="8" name="Chart 7"/>
          <p:cNvGraphicFramePr>
            <a:graphicFrameLocks noGrp="1"/>
          </p:cNvGraphicFramePr>
          <p:nvPr/>
        </p:nvGraphicFramePr>
        <p:xfrm>
          <a:off x="731520" y="914400"/>
          <a:ext cx="594360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6949440" y="914400"/>
            <a:ext cx="4937760" cy="150876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0" y="1005840"/>
            <a:ext cx="4937760" cy="777240"/>
          </a:xfrm>
          <a:prstGeom prst="rect">
            <a:avLst/>
          </a:prstGeom>
          <a:noFill/>
        </p:spPr>
        <p:txBody>
          <a:bodyPr wrap="square">
            <a:spAutoFit/>
          </a:bodyPr>
          <a:lstStyle/>
          <a:p>
            <a:pPr algn="ctr"/>
            <a:r>
              <a:rPr sz="3600" b="1" i="0">
                <a:solidFill>
                  <a:srgbClr val="FFFFFF"/>
                </a:solidFill>
                <a:latin typeface="Calibri"/>
              </a:rPr>
              <a:t>−$1.71</a:t>
            </a:r>
          </a:p>
        </p:txBody>
      </p:sp>
      <p:sp>
        <p:nvSpPr>
          <p:cNvPr id="11" name="TextBox 10"/>
          <p:cNvSpPr txBox="1"/>
          <p:nvPr/>
        </p:nvSpPr>
        <p:spPr>
          <a:xfrm>
            <a:off x="6949440" y="1874520"/>
            <a:ext cx="4937760" cy="411480"/>
          </a:xfrm>
          <a:prstGeom prst="rect">
            <a:avLst/>
          </a:prstGeom>
          <a:noFill/>
        </p:spPr>
        <p:txBody>
          <a:bodyPr wrap="square">
            <a:spAutoFit/>
          </a:bodyPr>
          <a:lstStyle/>
          <a:p>
            <a:pPr algn="ctr"/>
            <a:r>
              <a:rPr sz="1500" b="0" i="0">
                <a:solidFill>
                  <a:srgbClr val="DDDDDD"/>
                </a:solidFill>
                <a:latin typeface="Calibri"/>
              </a:rPr>
              <a:t>avg price paid</a:t>
            </a:r>
          </a:p>
        </p:txBody>
      </p:sp>
      <p:sp>
        <p:nvSpPr>
          <p:cNvPr id="12" name="Rectangle 11"/>
          <p:cNvSpPr/>
          <p:nvPr/>
        </p:nvSpPr>
        <p:spPr>
          <a:xfrm>
            <a:off x="6949440" y="2606040"/>
            <a:ext cx="4937760" cy="15087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949440" y="2697480"/>
            <a:ext cx="4937760" cy="777240"/>
          </a:xfrm>
          <a:prstGeom prst="rect">
            <a:avLst/>
          </a:prstGeom>
          <a:noFill/>
        </p:spPr>
        <p:txBody>
          <a:bodyPr wrap="square">
            <a:spAutoFit/>
          </a:bodyPr>
          <a:lstStyle/>
          <a:p>
            <a:pPr algn="ctr"/>
            <a:r>
              <a:rPr sz="3600" b="1" i="0">
                <a:solidFill>
                  <a:srgbClr val="FFFFFF"/>
                </a:solidFill>
                <a:latin typeface="Calibri"/>
              </a:rPr>
              <a:t>−1.7 min</a:t>
            </a:r>
          </a:p>
        </p:txBody>
      </p:sp>
      <p:sp>
        <p:nvSpPr>
          <p:cNvPr id="14" name="TextBox 13"/>
          <p:cNvSpPr txBox="1"/>
          <p:nvPr/>
        </p:nvSpPr>
        <p:spPr>
          <a:xfrm>
            <a:off x="6949440" y="3566160"/>
            <a:ext cx="4937760" cy="411480"/>
          </a:xfrm>
          <a:prstGeom prst="rect">
            <a:avLst/>
          </a:prstGeom>
          <a:noFill/>
        </p:spPr>
        <p:txBody>
          <a:bodyPr wrap="square">
            <a:spAutoFit/>
          </a:bodyPr>
          <a:lstStyle/>
          <a:p>
            <a:pPr algn="ctr"/>
            <a:r>
              <a:rPr sz="1500" b="0" i="0">
                <a:solidFill>
                  <a:srgbClr val="DDDDDD"/>
                </a:solidFill>
                <a:latin typeface="Calibri"/>
              </a:rPr>
              <a:t>delivery time</a:t>
            </a:r>
          </a:p>
        </p:txBody>
      </p:sp>
      <p:sp>
        <p:nvSpPr>
          <p:cNvPr id="15" name="Rectangle 14"/>
          <p:cNvSpPr/>
          <p:nvPr/>
        </p:nvSpPr>
        <p:spPr>
          <a:xfrm>
            <a:off x="6949440" y="4297680"/>
            <a:ext cx="4937760" cy="1508760"/>
          </a:xfrm>
          <a:prstGeom prst="rect">
            <a:avLst/>
          </a:prstGeom>
          <a:solidFill>
            <a:srgbClr val="5D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949440" y="4389120"/>
            <a:ext cx="4937760" cy="777240"/>
          </a:xfrm>
          <a:prstGeom prst="rect">
            <a:avLst/>
          </a:prstGeom>
          <a:noFill/>
        </p:spPr>
        <p:txBody>
          <a:bodyPr wrap="square">
            <a:spAutoFit/>
          </a:bodyPr>
          <a:lstStyle/>
          <a:p>
            <a:pPr algn="ctr"/>
            <a:r>
              <a:rPr sz="3600" b="1" i="0">
                <a:solidFill>
                  <a:srgbClr val="FFFFFF"/>
                </a:solidFill>
                <a:latin typeface="Calibri"/>
              </a:rPr>
              <a:t>+1.2 pp</a:t>
            </a:r>
          </a:p>
        </p:txBody>
      </p:sp>
      <p:sp>
        <p:nvSpPr>
          <p:cNvPr id="17" name="TextBox 16"/>
          <p:cNvSpPr txBox="1"/>
          <p:nvPr/>
        </p:nvSpPr>
        <p:spPr>
          <a:xfrm>
            <a:off x="6949440" y="5257800"/>
            <a:ext cx="4937760" cy="411480"/>
          </a:xfrm>
          <a:prstGeom prst="rect">
            <a:avLst/>
          </a:prstGeom>
          <a:noFill/>
        </p:spPr>
        <p:txBody>
          <a:bodyPr wrap="square">
            <a:spAutoFit/>
          </a:bodyPr>
          <a:lstStyle/>
          <a:p>
            <a:pPr algn="ctr"/>
            <a:r>
              <a:rPr sz="1500" b="0" i="0">
                <a:solidFill>
                  <a:srgbClr val="DDDDDD"/>
                </a:solidFill>
                <a:latin typeface="Calibri"/>
              </a:rPr>
              <a:t>conversion rate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 1: But platforms have negative WTP for neutral access</a:t>
            </a:r>
          </a:p>
        </p:txBody>
      </p:sp>
      <p:sp>
        <p:nvSpPr>
          <p:cNvPr id="8" name="Rectangle 7"/>
          <p:cNvSpPr/>
          <p:nvPr/>
        </p:nvSpPr>
        <p:spPr>
          <a:xfrm>
            <a:off x="365760" y="1005840"/>
            <a:ext cx="5120640" cy="5120640"/>
          </a:xfrm>
          <a:prstGeom prst="rect">
            <a:avLst/>
          </a:prstGeom>
          <a:solidFill>
            <a:srgbClr val="EC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51560"/>
            <a:ext cx="5120640" cy="457200"/>
          </a:xfrm>
          <a:prstGeom prst="rect">
            <a:avLst/>
          </a:prstGeom>
          <a:noFill/>
        </p:spPr>
        <p:txBody>
          <a:bodyPr wrap="square">
            <a:spAutoFit/>
          </a:bodyPr>
          <a:lstStyle/>
          <a:p>
            <a:pPr algn="ctr"/>
            <a:r>
              <a:rPr sz="1500" b="1" i="0">
                <a:solidFill>
                  <a:srgbClr val="888899"/>
                </a:solidFill>
                <a:latin typeface="Calibri"/>
              </a:rPr>
              <a:t>No-LLM</a:t>
            </a:r>
          </a:p>
        </p:txBody>
      </p:sp>
      <p:sp>
        <p:nvSpPr>
          <p:cNvPr id="10" name="TextBox 9"/>
          <p:cNvSpPr txBox="1"/>
          <p:nvPr/>
        </p:nvSpPr>
        <p:spPr>
          <a:xfrm>
            <a:off x="365760" y="1920240"/>
            <a:ext cx="5120640" cy="1645920"/>
          </a:xfrm>
          <a:prstGeom prst="rect">
            <a:avLst/>
          </a:prstGeom>
          <a:noFill/>
        </p:spPr>
        <p:txBody>
          <a:bodyPr wrap="square">
            <a:spAutoFit/>
          </a:bodyPr>
          <a:lstStyle/>
          <a:p>
            <a:pPr algn="ctr"/>
            <a:r>
              <a:rPr sz="6800" b="1" i="0">
                <a:solidFill>
                  <a:srgbClr val="222233"/>
                </a:solidFill>
                <a:latin typeface="Calibri"/>
              </a:rPr>
              <a:t>$69,366</a:t>
            </a:r>
          </a:p>
        </p:txBody>
      </p:sp>
      <p:sp>
        <p:nvSpPr>
          <p:cNvPr id="11" name="TextBox 10"/>
          <p:cNvSpPr txBox="1"/>
          <p:nvPr/>
        </p:nvSpPr>
        <p:spPr>
          <a:xfrm>
            <a:off x="365760" y="3611880"/>
            <a:ext cx="5120640" cy="365760"/>
          </a:xfrm>
          <a:prstGeom prst="rect">
            <a:avLst/>
          </a:prstGeom>
          <a:noFill/>
        </p:spPr>
        <p:txBody>
          <a:bodyPr wrap="square">
            <a:spAutoFit/>
          </a:bodyPr>
          <a:lstStyle/>
          <a:p>
            <a:pPr algn="ctr"/>
            <a:r>
              <a:rPr sz="1400" b="0" i="0">
                <a:solidFill>
                  <a:srgbClr val="888899"/>
                </a:solidFill>
                <a:latin typeface="Calibri"/>
              </a:rPr>
              <a:t>platform net revenue</a:t>
            </a:r>
          </a:p>
        </p:txBody>
      </p:sp>
      <p:sp>
        <p:nvSpPr>
          <p:cNvPr id="12" name="TextBox 11"/>
          <p:cNvSpPr txBox="1"/>
          <p:nvPr/>
        </p:nvSpPr>
        <p:spPr>
          <a:xfrm>
            <a:off x="5623560" y="3200400"/>
            <a:ext cx="914400" cy="640080"/>
          </a:xfrm>
          <a:prstGeom prst="rect">
            <a:avLst/>
          </a:prstGeom>
          <a:noFill/>
        </p:spPr>
        <p:txBody>
          <a:bodyPr wrap="square">
            <a:spAutoFit/>
          </a:bodyPr>
          <a:lstStyle/>
          <a:p>
            <a:pPr algn="ctr"/>
            <a:r>
              <a:rPr sz="3600" b="1" i="0">
                <a:solidFill>
                  <a:srgbClr val="F0AB00"/>
                </a:solidFill>
                <a:latin typeface="Calibri"/>
              </a:rPr>
              <a:t>→</a:t>
            </a:r>
          </a:p>
        </p:txBody>
      </p:sp>
      <p:sp>
        <p:nvSpPr>
          <p:cNvPr id="13" name="Rectangle 12"/>
          <p:cNvSpPr/>
          <p:nvPr/>
        </p:nvSpPr>
        <p:spPr>
          <a:xfrm>
            <a:off x="6675120" y="1005840"/>
            <a:ext cx="5120640" cy="5120640"/>
          </a:xfrm>
          <a:prstGeom prst="rect">
            <a:avLst/>
          </a:prstGeom>
          <a:solidFill>
            <a:srgbClr val="F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0" y="1051560"/>
            <a:ext cx="5120640" cy="457200"/>
          </a:xfrm>
          <a:prstGeom prst="rect">
            <a:avLst/>
          </a:prstGeom>
          <a:noFill/>
        </p:spPr>
        <p:txBody>
          <a:bodyPr wrap="square">
            <a:spAutoFit/>
          </a:bodyPr>
          <a:lstStyle/>
          <a:p>
            <a:pPr algn="ctr"/>
            <a:r>
              <a:rPr sz="1500" b="1" i="0">
                <a:solidFill>
                  <a:srgbClr val="C0392B"/>
                </a:solidFill>
                <a:latin typeface="Calibri"/>
              </a:rPr>
              <a:t>LLM Neutral</a:t>
            </a:r>
          </a:p>
        </p:txBody>
      </p:sp>
      <p:sp>
        <p:nvSpPr>
          <p:cNvPr id="15" name="TextBox 14"/>
          <p:cNvSpPr txBox="1"/>
          <p:nvPr/>
        </p:nvSpPr>
        <p:spPr>
          <a:xfrm>
            <a:off x="6675120" y="1920240"/>
            <a:ext cx="5120640" cy="1645920"/>
          </a:xfrm>
          <a:prstGeom prst="rect">
            <a:avLst/>
          </a:prstGeom>
          <a:noFill/>
        </p:spPr>
        <p:txBody>
          <a:bodyPr wrap="square">
            <a:spAutoFit/>
          </a:bodyPr>
          <a:lstStyle/>
          <a:p>
            <a:pPr algn="ctr"/>
            <a:r>
              <a:rPr sz="6800" b="1" i="0">
                <a:solidFill>
                  <a:srgbClr val="C0392B"/>
                </a:solidFill>
                <a:latin typeface="Calibri"/>
              </a:rPr>
              <a:t>$67,884</a:t>
            </a:r>
          </a:p>
        </p:txBody>
      </p:sp>
      <p:sp>
        <p:nvSpPr>
          <p:cNvPr id="16" name="TextBox 15"/>
          <p:cNvSpPr txBox="1"/>
          <p:nvPr/>
        </p:nvSpPr>
        <p:spPr>
          <a:xfrm>
            <a:off x="6675120" y="3611880"/>
            <a:ext cx="5120640" cy="365760"/>
          </a:xfrm>
          <a:prstGeom prst="rect">
            <a:avLst/>
          </a:prstGeom>
          <a:noFill/>
        </p:spPr>
        <p:txBody>
          <a:bodyPr wrap="square">
            <a:spAutoFit/>
          </a:bodyPr>
          <a:lstStyle/>
          <a:p>
            <a:pPr algn="ctr"/>
            <a:r>
              <a:rPr sz="1400" b="0" i="0">
                <a:solidFill>
                  <a:srgbClr val="C0392B"/>
                </a:solidFill>
                <a:latin typeface="Calibri"/>
              </a:rPr>
              <a:t>platform net revenue</a:t>
            </a:r>
          </a:p>
        </p:txBody>
      </p:sp>
      <p:sp>
        <p:nvSpPr>
          <p:cNvPr id="17" name="Rectangle 16"/>
          <p:cNvSpPr/>
          <p:nvPr/>
        </p:nvSpPr>
        <p:spPr>
          <a:xfrm>
            <a:off x="6675120" y="4206240"/>
            <a:ext cx="5120640" cy="5029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4224528"/>
            <a:ext cx="5120640" cy="457200"/>
          </a:xfrm>
          <a:prstGeom prst="rect">
            <a:avLst/>
          </a:prstGeom>
          <a:noFill/>
        </p:spPr>
        <p:txBody>
          <a:bodyPr wrap="square">
            <a:spAutoFit/>
          </a:bodyPr>
          <a:lstStyle/>
          <a:p>
            <a:pPr algn="ctr"/>
            <a:r>
              <a:rPr sz="1600" b="1" i="0">
                <a:solidFill>
                  <a:srgbClr val="FFFFFF"/>
                </a:solidFill>
                <a:latin typeface="Calibri"/>
              </a:rPr>
              <a:t>−$1,483  ·  Negative platform WTP</a:t>
            </a:r>
          </a:p>
        </p:txBody>
      </p:sp>
      <p:sp>
        <p:nvSpPr>
          <p:cNvPr id="19" name="TextBox 18"/>
          <p:cNvSpPr txBox="1"/>
          <p:nvPr/>
        </p:nvSpPr>
        <p:spPr>
          <a:xfrm>
            <a:off x="6675120" y="4800600"/>
            <a:ext cx="5120640" cy="411480"/>
          </a:xfrm>
          <a:prstGeom prst="rect">
            <a:avLst/>
          </a:prstGeom>
          <a:noFill/>
        </p:spPr>
        <p:txBody>
          <a:bodyPr wrap="square">
            <a:spAutoFit/>
          </a:bodyPr>
          <a:lstStyle/>
          <a:p>
            <a:pPr algn="ctr"/>
            <a:r>
              <a:rPr sz="1300" b="0" i="1">
                <a:solidFill>
                  <a:srgbClr val="888899"/>
                </a:solidFill>
                <a:latin typeface="Calibri"/>
              </a:rPr>
              <a:t>Better matches route away from high-commission sponsored slots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Paid placement isn't just a cost — it changes routing</a:t>
            </a:r>
          </a:p>
        </p:txBody>
      </p:sp>
      <p:sp>
        <p:nvSpPr>
          <p:cNvPr id="8" name="Rectangle 7"/>
          <p:cNvSpPr/>
          <p:nvPr/>
        </p:nvSpPr>
        <p:spPr>
          <a:xfrm>
            <a:off x="274320" y="1005840"/>
            <a:ext cx="2743200" cy="21945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1051560"/>
            <a:ext cx="2743200" cy="777240"/>
          </a:xfrm>
          <a:prstGeom prst="rect">
            <a:avLst/>
          </a:prstGeom>
          <a:noFill/>
        </p:spPr>
        <p:txBody>
          <a:bodyPr wrap="square">
            <a:spAutoFit/>
          </a:bodyPr>
          <a:lstStyle/>
          <a:p>
            <a:pPr algn="ctr"/>
            <a:r>
              <a:rPr sz="4400" b="1" i="0">
                <a:solidFill>
                  <a:srgbClr val="F0AB00"/>
                </a:solidFill>
                <a:latin typeface="Calibri"/>
              </a:rPr>
              <a:t>1</a:t>
            </a:r>
          </a:p>
        </p:txBody>
      </p:sp>
      <p:sp>
        <p:nvSpPr>
          <p:cNvPr id="10" name="TextBox 9"/>
          <p:cNvSpPr txBox="1"/>
          <p:nvPr/>
        </p:nvSpPr>
        <p:spPr>
          <a:xfrm>
            <a:off x="274320" y="1874519"/>
            <a:ext cx="2743200" cy="1234440"/>
          </a:xfrm>
          <a:prstGeom prst="rect">
            <a:avLst/>
          </a:prstGeom>
          <a:noFill/>
        </p:spPr>
        <p:txBody>
          <a:bodyPr wrap="square">
            <a:spAutoFit/>
          </a:bodyPr>
          <a:lstStyle/>
          <a:p>
            <a:pPr algn="ctr"/>
            <a:r>
              <a:rPr sz="1400" b="0" i="0">
                <a:solidFill>
                  <a:srgbClr val="FFFFFF"/>
                </a:solidFill>
                <a:latin typeface="Calibri"/>
              </a:rPr>
              <a:t>Paid regime
changes LLM rankings</a:t>
            </a:r>
          </a:p>
        </p:txBody>
      </p:sp>
      <p:sp>
        <p:nvSpPr>
          <p:cNvPr id="11" name="TextBox 10"/>
          <p:cNvSpPr txBox="1"/>
          <p:nvPr/>
        </p:nvSpPr>
        <p:spPr>
          <a:xfrm>
            <a:off x="3090672" y="1737360"/>
            <a:ext cx="228600" cy="457200"/>
          </a:xfrm>
          <a:prstGeom prst="rect">
            <a:avLst/>
          </a:prstGeom>
          <a:noFill/>
        </p:spPr>
        <p:txBody>
          <a:bodyPr wrap="square">
            <a:spAutoFit/>
          </a:bodyPr>
          <a:lstStyle/>
          <a:p>
            <a:pPr algn="ctr"/>
            <a:r>
              <a:rPr sz="2400" b="1" i="0">
                <a:solidFill>
                  <a:srgbClr val="1A2E4A"/>
                </a:solidFill>
                <a:latin typeface="Calibri"/>
              </a:rPr>
              <a:t>→</a:t>
            </a:r>
          </a:p>
        </p:txBody>
      </p:sp>
      <p:sp>
        <p:nvSpPr>
          <p:cNvPr id="12" name="Rectangle 11"/>
          <p:cNvSpPr/>
          <p:nvPr/>
        </p:nvSpPr>
        <p:spPr>
          <a:xfrm>
            <a:off x="3246120" y="1005840"/>
            <a:ext cx="2743200" cy="219456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46120" y="1051560"/>
            <a:ext cx="2743200" cy="777240"/>
          </a:xfrm>
          <a:prstGeom prst="rect">
            <a:avLst/>
          </a:prstGeom>
          <a:noFill/>
        </p:spPr>
        <p:txBody>
          <a:bodyPr wrap="square">
            <a:spAutoFit/>
          </a:bodyPr>
          <a:lstStyle/>
          <a:p>
            <a:pPr algn="ctr"/>
            <a:r>
              <a:rPr sz="4400" b="1" i="0">
                <a:solidFill>
                  <a:srgbClr val="F0AB00"/>
                </a:solidFill>
                <a:latin typeface="Calibri"/>
              </a:rPr>
              <a:t>2</a:t>
            </a:r>
          </a:p>
        </p:txBody>
      </p:sp>
      <p:sp>
        <p:nvSpPr>
          <p:cNvPr id="14" name="TextBox 13"/>
          <p:cNvSpPr txBox="1"/>
          <p:nvPr/>
        </p:nvSpPr>
        <p:spPr>
          <a:xfrm>
            <a:off x="3246120" y="1874519"/>
            <a:ext cx="2743200" cy="1234440"/>
          </a:xfrm>
          <a:prstGeom prst="rect">
            <a:avLst/>
          </a:prstGeom>
          <a:noFill/>
        </p:spPr>
        <p:txBody>
          <a:bodyPr wrap="square">
            <a:spAutoFit/>
          </a:bodyPr>
          <a:lstStyle/>
          <a:p>
            <a:pPr algn="ctr"/>
            <a:r>
              <a:rPr sz="1400" b="0" i="0">
                <a:solidFill>
                  <a:srgbClr val="FFFFFF"/>
                </a:solidFill>
                <a:latin typeface="Calibri"/>
              </a:rPr>
              <a:t>More orders flow to
high-bid/high-commission
platforms</a:t>
            </a:r>
          </a:p>
        </p:txBody>
      </p:sp>
      <p:sp>
        <p:nvSpPr>
          <p:cNvPr id="15" name="TextBox 14"/>
          <p:cNvSpPr txBox="1"/>
          <p:nvPr/>
        </p:nvSpPr>
        <p:spPr>
          <a:xfrm>
            <a:off x="6062472" y="1737360"/>
            <a:ext cx="228600" cy="457200"/>
          </a:xfrm>
          <a:prstGeom prst="rect">
            <a:avLst/>
          </a:prstGeom>
          <a:noFill/>
        </p:spPr>
        <p:txBody>
          <a:bodyPr wrap="square">
            <a:spAutoFit/>
          </a:bodyPr>
          <a:lstStyle/>
          <a:p>
            <a:pPr algn="ctr"/>
            <a:r>
              <a:rPr sz="2400" b="1" i="0">
                <a:solidFill>
                  <a:srgbClr val="1A2E4A"/>
                </a:solidFill>
                <a:latin typeface="Calibri"/>
              </a:rPr>
              <a:t>→</a:t>
            </a:r>
          </a:p>
        </p:txBody>
      </p:sp>
      <p:sp>
        <p:nvSpPr>
          <p:cNvPr id="16" name="Rectangle 15"/>
          <p:cNvSpPr/>
          <p:nvPr/>
        </p:nvSpPr>
        <p:spPr>
          <a:xfrm>
            <a:off x="6217920" y="1005840"/>
            <a:ext cx="2743200" cy="219456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17920" y="1051560"/>
            <a:ext cx="2743200" cy="777240"/>
          </a:xfrm>
          <a:prstGeom prst="rect">
            <a:avLst/>
          </a:prstGeom>
          <a:noFill/>
        </p:spPr>
        <p:txBody>
          <a:bodyPr wrap="square">
            <a:spAutoFit/>
          </a:bodyPr>
          <a:lstStyle/>
          <a:p>
            <a:pPr algn="ctr"/>
            <a:r>
              <a:rPr sz="4400" b="1" i="0">
                <a:solidFill>
                  <a:srgbClr val="F0AB00"/>
                </a:solidFill>
                <a:latin typeface="Calibri"/>
              </a:rPr>
              <a:t>3</a:t>
            </a:r>
          </a:p>
        </p:txBody>
      </p:sp>
      <p:sp>
        <p:nvSpPr>
          <p:cNvPr id="18" name="TextBox 17"/>
          <p:cNvSpPr txBox="1"/>
          <p:nvPr/>
        </p:nvSpPr>
        <p:spPr>
          <a:xfrm>
            <a:off x="6217920" y="1874519"/>
            <a:ext cx="2743200" cy="1234440"/>
          </a:xfrm>
          <a:prstGeom prst="rect">
            <a:avLst/>
          </a:prstGeom>
          <a:noFill/>
        </p:spPr>
        <p:txBody>
          <a:bodyPr wrap="square">
            <a:spAutoFit/>
          </a:bodyPr>
          <a:lstStyle/>
          <a:p>
            <a:pPr algn="ctr"/>
            <a:r>
              <a:rPr sz="1400" b="0" i="0">
                <a:solidFill>
                  <a:srgbClr val="FFFFFF"/>
                </a:solidFill>
                <a:latin typeface="Calibri"/>
              </a:rPr>
              <a:t>Extra commission
exceeds LLM payment</a:t>
            </a:r>
          </a:p>
        </p:txBody>
      </p:sp>
      <p:sp>
        <p:nvSpPr>
          <p:cNvPr id="19" name="TextBox 18"/>
          <p:cNvSpPr txBox="1"/>
          <p:nvPr/>
        </p:nvSpPr>
        <p:spPr>
          <a:xfrm>
            <a:off x="9034272" y="1737360"/>
            <a:ext cx="228600" cy="457200"/>
          </a:xfrm>
          <a:prstGeom prst="rect">
            <a:avLst/>
          </a:prstGeom>
          <a:noFill/>
        </p:spPr>
        <p:txBody>
          <a:bodyPr wrap="square">
            <a:spAutoFit/>
          </a:bodyPr>
          <a:lstStyle/>
          <a:p>
            <a:pPr algn="ctr"/>
            <a:r>
              <a:rPr sz="2400" b="1" i="0">
                <a:solidFill>
                  <a:srgbClr val="1A2E4A"/>
                </a:solidFill>
                <a:latin typeface="Calibri"/>
              </a:rPr>
              <a:t>→</a:t>
            </a:r>
          </a:p>
        </p:txBody>
      </p:sp>
      <p:sp>
        <p:nvSpPr>
          <p:cNvPr id="20" name="Rectangle 19"/>
          <p:cNvSpPr/>
          <p:nvPr/>
        </p:nvSpPr>
        <p:spPr>
          <a:xfrm>
            <a:off x="9189720" y="1005840"/>
            <a:ext cx="2743200" cy="219456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89720" y="1051560"/>
            <a:ext cx="2743200" cy="777240"/>
          </a:xfrm>
          <a:prstGeom prst="rect">
            <a:avLst/>
          </a:prstGeom>
          <a:noFill/>
        </p:spPr>
        <p:txBody>
          <a:bodyPr wrap="square">
            <a:spAutoFit/>
          </a:bodyPr>
          <a:lstStyle/>
          <a:p>
            <a:pPr algn="ctr"/>
            <a:r>
              <a:rPr sz="4400" b="1" i="0">
                <a:solidFill>
                  <a:srgbClr val="F0AB00"/>
                </a:solidFill>
                <a:latin typeface="Calibri"/>
              </a:rPr>
              <a:t>4</a:t>
            </a:r>
          </a:p>
        </p:txBody>
      </p:sp>
      <p:sp>
        <p:nvSpPr>
          <p:cNvPr id="22" name="TextBox 21"/>
          <p:cNvSpPr txBox="1"/>
          <p:nvPr/>
        </p:nvSpPr>
        <p:spPr>
          <a:xfrm>
            <a:off x="9189720" y="1874519"/>
            <a:ext cx="2743200" cy="1234440"/>
          </a:xfrm>
          <a:prstGeom prst="rect">
            <a:avLst/>
          </a:prstGeom>
          <a:noFill/>
        </p:spPr>
        <p:txBody>
          <a:bodyPr wrap="square">
            <a:spAutoFit/>
          </a:bodyPr>
          <a:lstStyle/>
          <a:p>
            <a:pPr algn="ctr"/>
            <a:r>
              <a:rPr sz="1400" b="0" i="0">
                <a:solidFill>
                  <a:srgbClr val="FFFFFF"/>
                </a:solidFill>
                <a:latin typeface="Calibri"/>
              </a:rPr>
              <a:t>Sponsor-side WTP
becomes positive</a:t>
            </a:r>
          </a:p>
        </p:txBody>
      </p:sp>
      <p:sp>
        <p:nvSpPr>
          <p:cNvPr id="23" name="Rectangle 22"/>
          <p:cNvSpPr/>
          <p:nvPr/>
        </p:nvSpPr>
        <p:spPr>
          <a:xfrm>
            <a:off x="274320" y="3337560"/>
            <a:ext cx="7315200" cy="2834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1480" y="3429000"/>
            <a:ext cx="7040880" cy="411480"/>
          </a:xfrm>
          <a:prstGeom prst="rect">
            <a:avLst/>
          </a:prstGeom>
          <a:noFill/>
        </p:spPr>
        <p:txBody>
          <a:bodyPr wrap="square">
            <a:spAutoFit/>
          </a:bodyPr>
          <a:lstStyle/>
          <a:p>
            <a:pPr algn="l"/>
            <a:r>
              <a:rPr sz="1400" b="1" i="0">
                <a:solidFill>
                  <a:srgbClr val="F0AB00"/>
                </a:solidFill>
                <a:latin typeface="Calibri"/>
              </a:rPr>
              <a:t>WTP calibration approach</a:t>
            </a:r>
          </a:p>
        </p:txBody>
      </p:sp>
      <p:sp>
        <p:nvSpPr>
          <p:cNvPr id="25" name="TextBox 24"/>
          <p:cNvSpPr txBox="1"/>
          <p:nvPr/>
        </p:nvSpPr>
        <p:spPr>
          <a:xfrm>
            <a:off x="457200" y="3913632"/>
            <a:ext cx="6949440" cy="457200"/>
          </a:xfrm>
          <a:prstGeom prst="rect">
            <a:avLst/>
          </a:prstGeom>
          <a:noFill/>
        </p:spPr>
        <p:txBody>
          <a:bodyPr wrap="square">
            <a:spAutoFit/>
          </a:bodyPr>
          <a:lstStyle/>
          <a:p>
            <a:pPr algn="l"/>
            <a:r>
              <a:rPr sz="1300" b="0" i="0">
                <a:solidFill>
                  <a:srgbClr val="FFFFFF"/>
                </a:solidFill>
                <a:latin typeface="Calibri"/>
              </a:rPr>
              <a:t>1.  Measure gross platform surplus: routing bias ON, LLM payments OFF</a:t>
            </a:r>
          </a:p>
        </p:txBody>
      </p:sp>
      <p:sp>
        <p:nvSpPr>
          <p:cNvPr id="26" name="TextBox 25"/>
          <p:cNvSpPr txBox="1"/>
          <p:nvPr/>
        </p:nvSpPr>
        <p:spPr>
          <a:xfrm>
            <a:off x="457200" y="4416552"/>
            <a:ext cx="6949440" cy="457200"/>
          </a:xfrm>
          <a:prstGeom prst="rect">
            <a:avLst/>
          </a:prstGeom>
          <a:noFill/>
        </p:spPr>
        <p:txBody>
          <a:bodyPr wrap="square">
            <a:spAutoFit/>
          </a:bodyPr>
          <a:lstStyle/>
          <a:p>
            <a:pPr algn="l"/>
            <a:r>
              <a:rPr sz="1300" b="0" i="0">
                <a:solidFill>
                  <a:srgbClr val="FFFFFF"/>
                </a:solidFill>
                <a:latin typeface="Calibri"/>
              </a:rPr>
              <a:t>2.  LLM captures 50% of positive gross surplus</a:t>
            </a:r>
          </a:p>
        </p:txBody>
      </p:sp>
      <p:sp>
        <p:nvSpPr>
          <p:cNvPr id="27" name="TextBox 26"/>
          <p:cNvSpPr txBox="1"/>
          <p:nvPr/>
        </p:nvSpPr>
        <p:spPr>
          <a:xfrm>
            <a:off x="457200" y="4919472"/>
            <a:ext cx="6949440" cy="457200"/>
          </a:xfrm>
          <a:prstGeom prst="rect">
            <a:avLst/>
          </a:prstGeom>
          <a:noFill/>
        </p:spPr>
        <p:txBody>
          <a:bodyPr wrap="square">
            <a:spAutoFit/>
          </a:bodyPr>
          <a:lstStyle/>
          <a:p>
            <a:pPr algn="l"/>
            <a:r>
              <a:rPr sz="1300" b="0" i="0">
                <a:solidFill>
                  <a:srgbClr val="FFFFFF"/>
                </a:solidFill>
                <a:latin typeface="Calibri"/>
              </a:rPr>
              <a:t>3.  Allocated only to platforms with positive gross gains</a:t>
            </a:r>
          </a:p>
        </p:txBody>
      </p:sp>
      <p:sp>
        <p:nvSpPr>
          <p:cNvPr id="28" name="TextBox 27"/>
          <p:cNvSpPr txBox="1"/>
          <p:nvPr/>
        </p:nvSpPr>
        <p:spPr>
          <a:xfrm>
            <a:off x="457200" y="5422392"/>
            <a:ext cx="6949440" cy="457200"/>
          </a:xfrm>
          <a:prstGeom prst="rect">
            <a:avLst/>
          </a:prstGeom>
          <a:noFill/>
        </p:spPr>
        <p:txBody>
          <a:bodyPr wrap="square">
            <a:spAutoFit/>
          </a:bodyPr>
          <a:lstStyle/>
          <a:p>
            <a:pPr algn="l"/>
            <a:r>
              <a:rPr sz="1300" b="0" i="0">
                <a:solidFill>
                  <a:srgbClr val="F0AB00"/>
                </a:solidFill>
                <a:latin typeface="Calibri"/>
              </a:rPr>
              <a:t>→   Payments are tied to value created by routing, not flat fees</a:t>
            </a:r>
          </a:p>
        </p:txBody>
      </p:sp>
      <p:sp>
        <p:nvSpPr>
          <p:cNvPr id="29" name="Rectangle 28"/>
          <p:cNvSpPr/>
          <p:nvPr/>
        </p:nvSpPr>
        <p:spPr>
          <a:xfrm>
            <a:off x="7772400" y="3337560"/>
            <a:ext cx="4114800" cy="2834640"/>
          </a:xfrm>
          <a:prstGeom prst="rect">
            <a:avLst/>
          </a:prstGeom>
          <a:solidFill>
            <a:srgbClr val="FDE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63840" y="3429000"/>
            <a:ext cx="3931920" cy="365760"/>
          </a:xfrm>
          <a:prstGeom prst="rect">
            <a:avLst/>
          </a:prstGeom>
          <a:noFill/>
        </p:spPr>
        <p:txBody>
          <a:bodyPr wrap="square">
            <a:spAutoFit/>
          </a:bodyPr>
          <a:lstStyle/>
          <a:p>
            <a:pPr algn="l"/>
            <a:r>
              <a:rPr sz="1400" b="1" i="0">
                <a:solidFill>
                  <a:srgbClr val="C0392B"/>
                </a:solidFill>
                <a:latin typeface="Calibri"/>
              </a:rPr>
              <a:t>Important nuance</a:t>
            </a:r>
          </a:p>
        </p:txBody>
      </p:sp>
      <p:sp>
        <p:nvSpPr>
          <p:cNvPr id="31" name="TextBox 30"/>
          <p:cNvSpPr txBox="1"/>
          <p:nvPr/>
        </p:nvSpPr>
        <p:spPr>
          <a:xfrm>
            <a:off x="7863840" y="3840480"/>
            <a:ext cx="3840480" cy="2103120"/>
          </a:xfrm>
          <a:prstGeom prst="rect">
            <a:avLst/>
          </a:prstGeom>
          <a:noFill/>
        </p:spPr>
        <p:txBody>
          <a:bodyPr wrap="square">
            <a:spAutoFit/>
          </a:bodyPr>
          <a:lstStyle/>
          <a:p>
            <a:pPr algn="l"/>
            <a:r>
              <a:rPr sz="1300" b="0" i="0">
                <a:solidFill>
                  <a:srgbClr val="222233"/>
                </a:solidFill>
                <a:latin typeface="Calibri"/>
              </a:rPr>
              <a:t>Paid regimes create positive aggregate surplus — but not every platform benefits. Lower-bid rivals lose traffic as a competitive externality, not because they pay the LLM.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Three ways to pay the LLM</a:t>
            </a:r>
          </a:p>
        </p:txBody>
      </p:sp>
      <p:sp>
        <p:nvSpPr>
          <p:cNvPr id="8" name="Rectangle 7"/>
          <p:cNvSpPr/>
          <p:nvPr/>
        </p:nvSpPr>
        <p:spPr>
          <a:xfrm>
            <a:off x="457200" y="1005840"/>
            <a:ext cx="3566160" cy="521208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51560"/>
            <a:ext cx="3566160" cy="1005840"/>
          </a:xfrm>
          <a:prstGeom prst="rect">
            <a:avLst/>
          </a:prstGeom>
          <a:noFill/>
        </p:spPr>
        <p:txBody>
          <a:bodyPr wrap="square">
            <a:spAutoFit/>
          </a:bodyPr>
          <a:lstStyle/>
          <a:p>
            <a:pPr algn="ctr"/>
            <a:r>
              <a:rPr sz="5000" b="1" i="0">
                <a:solidFill>
                  <a:srgbClr val="FFFFFF"/>
                </a:solidFill>
                <a:latin typeface="Calibri"/>
              </a:rPr>
              <a:t>CPC</a:t>
            </a:r>
          </a:p>
        </p:txBody>
      </p:sp>
      <p:sp>
        <p:nvSpPr>
          <p:cNvPr id="10" name="TextBox 9"/>
          <p:cNvSpPr txBox="1"/>
          <p:nvPr/>
        </p:nvSpPr>
        <p:spPr>
          <a:xfrm>
            <a:off x="457200" y="2084831"/>
            <a:ext cx="3566160" cy="457200"/>
          </a:xfrm>
          <a:prstGeom prst="rect">
            <a:avLst/>
          </a:prstGeom>
          <a:noFill/>
        </p:spPr>
        <p:txBody>
          <a:bodyPr wrap="square">
            <a:spAutoFit/>
          </a:bodyPr>
          <a:lstStyle/>
          <a:p>
            <a:pPr algn="ctr"/>
            <a:r>
              <a:rPr sz="1300" b="0" i="1">
                <a:solidFill>
                  <a:srgbClr val="DDDDDD"/>
                </a:solidFill>
                <a:latin typeface="Calibri"/>
              </a:rPr>
              <a:t>Cost per click</a:t>
            </a:r>
          </a:p>
        </p:txBody>
      </p:sp>
      <p:sp>
        <p:nvSpPr>
          <p:cNvPr id="11" name="Rectangle 10"/>
          <p:cNvSpPr/>
          <p:nvPr/>
        </p:nvSpPr>
        <p:spPr>
          <a:xfrm>
            <a:off x="594360" y="2596896"/>
            <a:ext cx="329184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697480"/>
            <a:ext cx="3291840" cy="292608"/>
          </a:xfrm>
          <a:prstGeom prst="rect">
            <a:avLst/>
          </a:prstGeom>
          <a:noFill/>
        </p:spPr>
        <p:txBody>
          <a:bodyPr wrap="square">
            <a:spAutoFit/>
          </a:bodyPr>
          <a:lstStyle/>
          <a:p>
            <a:pPr algn="l"/>
            <a:r>
              <a:rPr sz="1000" b="0" i="1">
                <a:solidFill>
                  <a:srgbClr val="D6E4F0"/>
                </a:solidFill>
                <a:latin typeface="Calibri"/>
              </a:rPr>
              <a:t>When:</a:t>
            </a:r>
          </a:p>
        </p:txBody>
      </p:sp>
      <p:sp>
        <p:nvSpPr>
          <p:cNvPr id="13" name="TextBox 12"/>
          <p:cNvSpPr txBox="1"/>
          <p:nvPr/>
        </p:nvSpPr>
        <p:spPr>
          <a:xfrm>
            <a:off x="594360" y="2999232"/>
            <a:ext cx="3291840" cy="822960"/>
          </a:xfrm>
          <a:prstGeom prst="rect">
            <a:avLst/>
          </a:prstGeom>
          <a:noFill/>
        </p:spPr>
        <p:txBody>
          <a:bodyPr wrap="square">
            <a:spAutoFit/>
          </a:bodyPr>
          <a:lstStyle/>
          <a:p>
            <a:pPr algn="ctr"/>
            <a:r>
              <a:rPr sz="1300" b="0" i="0">
                <a:solidFill>
                  <a:srgbClr val="FFFFFF"/>
                </a:solidFill>
                <a:latin typeface="Calibri"/>
              </a:rPr>
              <a:t>Platform pays when
user clicks a recommendation</a:t>
            </a:r>
          </a:p>
        </p:txBody>
      </p:sp>
      <p:sp>
        <p:nvSpPr>
          <p:cNvPr id="14" name="TextBox 13"/>
          <p:cNvSpPr txBox="1"/>
          <p:nvPr/>
        </p:nvSpPr>
        <p:spPr>
          <a:xfrm>
            <a:off x="594360" y="3877056"/>
            <a:ext cx="3291840" cy="292608"/>
          </a:xfrm>
          <a:prstGeom prst="rect">
            <a:avLst/>
          </a:prstGeom>
          <a:noFill/>
        </p:spPr>
        <p:txBody>
          <a:bodyPr wrap="square">
            <a:spAutoFit/>
          </a:bodyPr>
          <a:lstStyle/>
          <a:p>
            <a:pPr algn="l"/>
            <a:r>
              <a:rPr sz="1000" b="0" i="1">
                <a:solidFill>
                  <a:srgbClr val="D6E4F0"/>
                </a:solidFill>
                <a:latin typeface="Calibri"/>
              </a:rPr>
              <a:t>Logic:</a:t>
            </a:r>
          </a:p>
        </p:txBody>
      </p:sp>
      <p:sp>
        <p:nvSpPr>
          <p:cNvPr id="15" name="TextBox 14"/>
          <p:cNvSpPr txBox="1"/>
          <p:nvPr/>
        </p:nvSpPr>
        <p:spPr>
          <a:xfrm>
            <a:off x="594360" y="4187952"/>
            <a:ext cx="3291840" cy="685800"/>
          </a:xfrm>
          <a:prstGeom prst="rect">
            <a:avLst/>
          </a:prstGeom>
          <a:noFill/>
        </p:spPr>
        <p:txBody>
          <a:bodyPr wrap="square">
            <a:spAutoFit/>
          </a:bodyPr>
          <a:lstStyle/>
          <a:p>
            <a:pPr algn="ctr"/>
            <a:r>
              <a:rPr sz="1300" b="0" i="0">
                <a:solidFill>
                  <a:srgbClr val="FFFFFF"/>
                </a:solidFill>
                <a:latin typeface="Calibri"/>
              </a:rPr>
              <a:t>Rewards attention,
not satisfaction</a:t>
            </a:r>
          </a:p>
        </p:txBody>
      </p:sp>
      <p:sp>
        <p:nvSpPr>
          <p:cNvPr id="16" name="Rectangle 15"/>
          <p:cNvSpPr/>
          <p:nvPr/>
        </p:nvSpPr>
        <p:spPr>
          <a:xfrm>
            <a:off x="457200" y="4937760"/>
            <a:ext cx="3566160" cy="5029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965192"/>
            <a:ext cx="3566160" cy="457200"/>
          </a:xfrm>
          <a:prstGeom prst="rect">
            <a:avLst/>
          </a:prstGeom>
          <a:noFill/>
        </p:spPr>
        <p:txBody>
          <a:bodyPr wrap="square">
            <a:spAutoFit/>
          </a:bodyPr>
          <a:lstStyle/>
          <a:p>
            <a:pPr algn="ctr"/>
            <a:r>
              <a:rPr sz="1300" b="1" i="0">
                <a:solidFill>
                  <a:srgbClr val="F0AB00"/>
                </a:solidFill>
                <a:latin typeface="Calibri"/>
              </a:rPr>
              <a:t>Highest distortion risk</a:t>
            </a:r>
          </a:p>
        </p:txBody>
      </p:sp>
      <p:sp>
        <p:nvSpPr>
          <p:cNvPr id="18" name="Rectangle 17"/>
          <p:cNvSpPr/>
          <p:nvPr/>
        </p:nvSpPr>
        <p:spPr>
          <a:xfrm>
            <a:off x="4315968" y="1005840"/>
            <a:ext cx="3566160" cy="52120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15968" y="1051560"/>
            <a:ext cx="3566160" cy="1005840"/>
          </a:xfrm>
          <a:prstGeom prst="rect">
            <a:avLst/>
          </a:prstGeom>
          <a:noFill/>
        </p:spPr>
        <p:txBody>
          <a:bodyPr wrap="square">
            <a:spAutoFit/>
          </a:bodyPr>
          <a:lstStyle/>
          <a:p>
            <a:pPr algn="ctr"/>
            <a:r>
              <a:rPr sz="5000" b="1" i="0">
                <a:solidFill>
                  <a:srgbClr val="FFFFFF"/>
                </a:solidFill>
                <a:latin typeface="Calibri"/>
              </a:rPr>
              <a:t>CPA</a:t>
            </a:r>
          </a:p>
        </p:txBody>
      </p:sp>
      <p:sp>
        <p:nvSpPr>
          <p:cNvPr id="20" name="TextBox 19"/>
          <p:cNvSpPr txBox="1"/>
          <p:nvPr/>
        </p:nvSpPr>
        <p:spPr>
          <a:xfrm>
            <a:off x="4315968" y="2084831"/>
            <a:ext cx="3566160" cy="457200"/>
          </a:xfrm>
          <a:prstGeom prst="rect">
            <a:avLst/>
          </a:prstGeom>
          <a:noFill/>
        </p:spPr>
        <p:txBody>
          <a:bodyPr wrap="square">
            <a:spAutoFit/>
          </a:bodyPr>
          <a:lstStyle/>
          <a:p>
            <a:pPr algn="ctr"/>
            <a:r>
              <a:rPr sz="1300" b="0" i="1">
                <a:solidFill>
                  <a:srgbClr val="DDDDDD"/>
                </a:solidFill>
                <a:latin typeface="Calibri"/>
              </a:rPr>
              <a:t>Cost per acquisition</a:t>
            </a:r>
          </a:p>
        </p:txBody>
      </p:sp>
      <p:sp>
        <p:nvSpPr>
          <p:cNvPr id="21" name="Rectangle 20"/>
          <p:cNvSpPr/>
          <p:nvPr/>
        </p:nvSpPr>
        <p:spPr>
          <a:xfrm>
            <a:off x="4453128" y="2596896"/>
            <a:ext cx="329184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53128" y="2697480"/>
            <a:ext cx="3291840" cy="292608"/>
          </a:xfrm>
          <a:prstGeom prst="rect">
            <a:avLst/>
          </a:prstGeom>
          <a:noFill/>
        </p:spPr>
        <p:txBody>
          <a:bodyPr wrap="square">
            <a:spAutoFit/>
          </a:bodyPr>
          <a:lstStyle/>
          <a:p>
            <a:pPr algn="l"/>
            <a:r>
              <a:rPr sz="1000" b="0" i="1">
                <a:solidFill>
                  <a:srgbClr val="D6E4F0"/>
                </a:solidFill>
                <a:latin typeface="Calibri"/>
              </a:rPr>
              <a:t>When:</a:t>
            </a:r>
          </a:p>
        </p:txBody>
      </p:sp>
      <p:sp>
        <p:nvSpPr>
          <p:cNvPr id="23" name="TextBox 22"/>
          <p:cNvSpPr txBox="1"/>
          <p:nvPr/>
        </p:nvSpPr>
        <p:spPr>
          <a:xfrm>
            <a:off x="4453128" y="2999232"/>
            <a:ext cx="3291840" cy="822960"/>
          </a:xfrm>
          <a:prstGeom prst="rect">
            <a:avLst/>
          </a:prstGeom>
          <a:noFill/>
        </p:spPr>
        <p:txBody>
          <a:bodyPr wrap="square">
            <a:spAutoFit/>
          </a:bodyPr>
          <a:lstStyle/>
          <a:p>
            <a:pPr algn="ctr"/>
            <a:r>
              <a:rPr sz="1300" b="0" i="0">
                <a:solidFill>
                  <a:srgbClr val="FFFFFF"/>
                </a:solidFill>
                <a:latin typeface="Calibri"/>
              </a:rPr>
              <a:t>Platform pays when
user completes an order</a:t>
            </a:r>
          </a:p>
        </p:txBody>
      </p:sp>
      <p:sp>
        <p:nvSpPr>
          <p:cNvPr id="24" name="TextBox 23"/>
          <p:cNvSpPr txBox="1"/>
          <p:nvPr/>
        </p:nvSpPr>
        <p:spPr>
          <a:xfrm>
            <a:off x="4453128" y="3877056"/>
            <a:ext cx="3291840" cy="292608"/>
          </a:xfrm>
          <a:prstGeom prst="rect">
            <a:avLst/>
          </a:prstGeom>
          <a:noFill/>
        </p:spPr>
        <p:txBody>
          <a:bodyPr wrap="square">
            <a:spAutoFit/>
          </a:bodyPr>
          <a:lstStyle/>
          <a:p>
            <a:pPr algn="l"/>
            <a:r>
              <a:rPr sz="1000" b="0" i="1">
                <a:solidFill>
                  <a:srgbClr val="D6E4F0"/>
                </a:solidFill>
                <a:latin typeface="Calibri"/>
              </a:rPr>
              <a:t>Logic:</a:t>
            </a:r>
          </a:p>
        </p:txBody>
      </p:sp>
      <p:sp>
        <p:nvSpPr>
          <p:cNvPr id="25" name="TextBox 24"/>
          <p:cNvSpPr txBox="1"/>
          <p:nvPr/>
        </p:nvSpPr>
        <p:spPr>
          <a:xfrm>
            <a:off x="4453128" y="4187952"/>
            <a:ext cx="3291840" cy="685800"/>
          </a:xfrm>
          <a:prstGeom prst="rect">
            <a:avLst/>
          </a:prstGeom>
          <a:noFill/>
        </p:spPr>
        <p:txBody>
          <a:bodyPr wrap="square">
            <a:spAutoFit/>
          </a:bodyPr>
          <a:lstStyle/>
          <a:p>
            <a:pPr algn="ctr"/>
            <a:r>
              <a:rPr sz="1300" b="0" i="0">
                <a:solidFill>
                  <a:srgbClr val="FFFFFF"/>
                </a:solidFill>
                <a:latin typeface="Calibri"/>
              </a:rPr>
              <a:t>Rewards conversion</a:t>
            </a:r>
          </a:p>
        </p:txBody>
      </p:sp>
      <p:sp>
        <p:nvSpPr>
          <p:cNvPr id="26" name="Rectangle 25"/>
          <p:cNvSpPr/>
          <p:nvPr/>
        </p:nvSpPr>
        <p:spPr>
          <a:xfrm>
            <a:off x="4315968" y="4937760"/>
            <a:ext cx="3566160" cy="5029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315968" y="4965192"/>
            <a:ext cx="3566160" cy="457200"/>
          </a:xfrm>
          <a:prstGeom prst="rect">
            <a:avLst/>
          </a:prstGeom>
          <a:noFill/>
        </p:spPr>
        <p:txBody>
          <a:bodyPr wrap="square">
            <a:spAutoFit/>
          </a:bodyPr>
          <a:lstStyle/>
          <a:p>
            <a:pPr algn="ctr"/>
            <a:r>
              <a:rPr sz="1300" b="1" i="0">
                <a:solidFill>
                  <a:srgbClr val="F0AB00"/>
                </a:solidFill>
                <a:latin typeface="Calibri"/>
              </a:rPr>
              <a:t>Moderate distortion</a:t>
            </a:r>
          </a:p>
        </p:txBody>
      </p:sp>
      <p:sp>
        <p:nvSpPr>
          <p:cNvPr id="28" name="Rectangle 27"/>
          <p:cNvSpPr/>
          <p:nvPr/>
        </p:nvSpPr>
        <p:spPr>
          <a:xfrm>
            <a:off x="8174736" y="1005840"/>
            <a:ext cx="3566160" cy="521208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74736" y="1051560"/>
            <a:ext cx="3566160" cy="1005840"/>
          </a:xfrm>
          <a:prstGeom prst="rect">
            <a:avLst/>
          </a:prstGeom>
          <a:noFill/>
        </p:spPr>
        <p:txBody>
          <a:bodyPr wrap="square">
            <a:spAutoFit/>
          </a:bodyPr>
          <a:lstStyle/>
          <a:p>
            <a:pPr algn="ctr"/>
            <a:r>
              <a:rPr sz="5000" b="1" i="0">
                <a:solidFill>
                  <a:srgbClr val="FFFFFF"/>
                </a:solidFill>
                <a:latin typeface="Calibri"/>
              </a:rPr>
              <a:t>CPFI</a:t>
            </a:r>
          </a:p>
        </p:txBody>
      </p:sp>
      <p:sp>
        <p:nvSpPr>
          <p:cNvPr id="30" name="TextBox 29"/>
          <p:cNvSpPr txBox="1"/>
          <p:nvPr/>
        </p:nvSpPr>
        <p:spPr>
          <a:xfrm>
            <a:off x="8174736" y="2084831"/>
            <a:ext cx="3566160" cy="457200"/>
          </a:xfrm>
          <a:prstGeom prst="rect">
            <a:avLst/>
          </a:prstGeom>
          <a:noFill/>
        </p:spPr>
        <p:txBody>
          <a:bodyPr wrap="square">
            <a:spAutoFit/>
          </a:bodyPr>
          <a:lstStyle/>
          <a:p>
            <a:pPr algn="ctr"/>
            <a:r>
              <a:rPr sz="1300" b="0" i="1">
                <a:solidFill>
                  <a:srgbClr val="DDDDDD"/>
                </a:solidFill>
                <a:latin typeface="Calibri"/>
              </a:rPr>
              <a:t>Cost per fulfilled intent</a:t>
            </a:r>
          </a:p>
        </p:txBody>
      </p:sp>
      <p:sp>
        <p:nvSpPr>
          <p:cNvPr id="31" name="Rectangle 30"/>
          <p:cNvSpPr/>
          <p:nvPr/>
        </p:nvSpPr>
        <p:spPr>
          <a:xfrm>
            <a:off x="8311896" y="2596896"/>
            <a:ext cx="329184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311896" y="2697480"/>
            <a:ext cx="3291840" cy="292608"/>
          </a:xfrm>
          <a:prstGeom prst="rect">
            <a:avLst/>
          </a:prstGeom>
          <a:noFill/>
        </p:spPr>
        <p:txBody>
          <a:bodyPr wrap="square">
            <a:spAutoFit/>
          </a:bodyPr>
          <a:lstStyle/>
          <a:p>
            <a:pPr algn="l"/>
            <a:r>
              <a:rPr sz="1000" b="0" i="1">
                <a:solidFill>
                  <a:srgbClr val="D6E4F0"/>
                </a:solidFill>
                <a:latin typeface="Calibri"/>
              </a:rPr>
              <a:t>When:</a:t>
            </a:r>
          </a:p>
        </p:txBody>
      </p:sp>
      <p:sp>
        <p:nvSpPr>
          <p:cNvPr id="33" name="TextBox 32"/>
          <p:cNvSpPr txBox="1"/>
          <p:nvPr/>
        </p:nvSpPr>
        <p:spPr>
          <a:xfrm>
            <a:off x="8311896" y="2999232"/>
            <a:ext cx="3291840" cy="822960"/>
          </a:xfrm>
          <a:prstGeom prst="rect">
            <a:avLst/>
          </a:prstGeom>
          <a:noFill/>
        </p:spPr>
        <p:txBody>
          <a:bodyPr wrap="square">
            <a:spAutoFit/>
          </a:bodyPr>
          <a:lstStyle/>
          <a:p>
            <a:pPr algn="ctr"/>
            <a:r>
              <a:rPr sz="1300" b="0" i="0">
                <a:solidFill>
                  <a:srgbClr val="FFFFFF"/>
                </a:solidFill>
                <a:latin typeface="Calibri"/>
              </a:rPr>
              <a:t>Platform pays:
completed order ×
intent fulfilment score</a:t>
            </a:r>
          </a:p>
        </p:txBody>
      </p:sp>
      <p:sp>
        <p:nvSpPr>
          <p:cNvPr id="34" name="TextBox 33"/>
          <p:cNvSpPr txBox="1"/>
          <p:nvPr/>
        </p:nvSpPr>
        <p:spPr>
          <a:xfrm>
            <a:off x="8311896" y="3877056"/>
            <a:ext cx="3291840" cy="292608"/>
          </a:xfrm>
          <a:prstGeom prst="rect">
            <a:avLst/>
          </a:prstGeom>
          <a:noFill/>
        </p:spPr>
        <p:txBody>
          <a:bodyPr wrap="square">
            <a:spAutoFit/>
          </a:bodyPr>
          <a:lstStyle/>
          <a:p>
            <a:pPr algn="l"/>
            <a:r>
              <a:rPr sz="1000" b="0" i="1">
                <a:solidFill>
                  <a:srgbClr val="D6E4F0"/>
                </a:solidFill>
                <a:latin typeface="Calibri"/>
              </a:rPr>
              <a:t>Logic:</a:t>
            </a:r>
          </a:p>
        </p:txBody>
      </p:sp>
      <p:sp>
        <p:nvSpPr>
          <p:cNvPr id="35" name="TextBox 34"/>
          <p:cNvSpPr txBox="1"/>
          <p:nvPr/>
        </p:nvSpPr>
        <p:spPr>
          <a:xfrm>
            <a:off x="8311896" y="4187952"/>
            <a:ext cx="3291840" cy="685800"/>
          </a:xfrm>
          <a:prstGeom prst="rect">
            <a:avLst/>
          </a:prstGeom>
          <a:noFill/>
        </p:spPr>
        <p:txBody>
          <a:bodyPr wrap="square">
            <a:spAutoFit/>
          </a:bodyPr>
          <a:lstStyle/>
          <a:p>
            <a:pPr algn="ctr"/>
            <a:r>
              <a:rPr sz="1300" b="0" i="0">
                <a:solidFill>
                  <a:srgbClr val="FFFFFF"/>
                </a:solidFill>
                <a:latin typeface="Calibri"/>
              </a:rPr>
              <a:t>Rewards consumer
satisfaction</a:t>
            </a:r>
          </a:p>
        </p:txBody>
      </p:sp>
      <p:sp>
        <p:nvSpPr>
          <p:cNvPr id="36" name="Rectangle 35"/>
          <p:cNvSpPr/>
          <p:nvPr/>
        </p:nvSpPr>
        <p:spPr>
          <a:xfrm>
            <a:off x="8174736" y="4937760"/>
            <a:ext cx="3566160" cy="5029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174736" y="4965192"/>
            <a:ext cx="3566160" cy="457200"/>
          </a:xfrm>
          <a:prstGeom prst="rect">
            <a:avLst/>
          </a:prstGeom>
          <a:noFill/>
        </p:spPr>
        <p:txBody>
          <a:bodyPr wrap="square">
            <a:spAutoFit/>
          </a:bodyPr>
          <a:lstStyle/>
          <a:p>
            <a:pPr algn="ctr"/>
            <a:r>
              <a:rPr sz="1300" b="1" i="0">
                <a:solidFill>
                  <a:srgbClr val="F0AB00"/>
                </a:solidFill>
                <a:latin typeface="Calibri"/>
              </a:rPr>
              <a:t>Best consumer alignment</a:t>
            </a:r>
          </a:p>
        </p:txBody>
      </p:sp>
      <p:sp>
        <p:nvSpPr>
          <p:cNvPr id="38" name="Rectangle 37"/>
          <p:cNvSpPr/>
          <p:nvPr/>
        </p:nvSpPr>
        <p:spPr>
          <a:xfrm>
            <a:off x="274320" y="6236208"/>
            <a:ext cx="1161288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263640"/>
            <a:ext cx="11247120" cy="320040"/>
          </a:xfrm>
          <a:prstGeom prst="rect">
            <a:avLst/>
          </a:prstGeom>
          <a:noFill/>
        </p:spPr>
        <p:txBody>
          <a:bodyPr wrap="square">
            <a:spAutoFit/>
          </a:bodyPr>
          <a:lstStyle/>
          <a:p>
            <a:pPr algn="l"/>
            <a:r>
              <a:rPr sz="1200" b="0" i="1">
                <a:solidFill>
                  <a:srgbClr val="D6E4F0"/>
                </a:solidFill>
                <a:latin typeface="Calibri"/>
              </a:rPr>
              <a:t>Baseline: Neutral — no payment, ranked purely by consumer intent  (shortlist relevance 0.973, intent fulfilment 0.747)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 2: CPC harms consumers; CPFI preserves fit</a:t>
            </a:r>
          </a:p>
        </p:txBody>
      </p:sp>
      <p:graphicFrame>
        <p:nvGraphicFramePr>
          <p:cNvPr id="8" name="Chart 7"/>
          <p:cNvGraphicFramePr>
            <a:graphicFrameLocks noGrp="1"/>
          </p:cNvGraphicFramePr>
          <p:nvPr/>
        </p:nvGraphicFramePr>
        <p:xfrm>
          <a:off x="457200" y="822960"/>
          <a:ext cx="6858000" cy="539496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7498079" y="1097280"/>
            <a:ext cx="4389120" cy="91440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35240" y="1143000"/>
            <a:ext cx="4114800" cy="384048"/>
          </a:xfrm>
          <a:prstGeom prst="rect">
            <a:avLst/>
          </a:prstGeom>
          <a:noFill/>
        </p:spPr>
        <p:txBody>
          <a:bodyPr wrap="square">
            <a:spAutoFit/>
          </a:bodyPr>
          <a:lstStyle/>
          <a:p>
            <a:pPr algn="l"/>
            <a:r>
              <a:rPr sz="1800" b="1" i="0">
                <a:solidFill>
                  <a:srgbClr val="FFFFFF"/>
                </a:solidFill>
                <a:latin typeface="Calibri"/>
              </a:rPr>
              <a:t>Neutral</a:t>
            </a:r>
          </a:p>
        </p:txBody>
      </p:sp>
      <p:sp>
        <p:nvSpPr>
          <p:cNvPr id="11" name="TextBox 10"/>
          <p:cNvSpPr txBox="1"/>
          <p:nvPr/>
        </p:nvSpPr>
        <p:spPr>
          <a:xfrm>
            <a:off x="7635240" y="1481328"/>
            <a:ext cx="4114800" cy="347472"/>
          </a:xfrm>
          <a:prstGeom prst="rect">
            <a:avLst/>
          </a:prstGeom>
          <a:noFill/>
        </p:spPr>
        <p:txBody>
          <a:bodyPr wrap="square">
            <a:spAutoFit/>
          </a:bodyPr>
          <a:lstStyle/>
          <a:p>
            <a:pPr algn="l"/>
            <a:r>
              <a:rPr sz="1200" b="0" i="1">
                <a:solidFill>
                  <a:srgbClr val="DDDDDD"/>
                </a:solidFill>
                <a:latin typeface="Calibri"/>
              </a:rPr>
              <a:t>No payments — baseline</a:t>
            </a:r>
          </a:p>
        </p:txBody>
      </p:sp>
      <p:sp>
        <p:nvSpPr>
          <p:cNvPr id="12" name="Rectangle 11"/>
          <p:cNvSpPr/>
          <p:nvPr/>
        </p:nvSpPr>
        <p:spPr>
          <a:xfrm>
            <a:off x="7498079" y="2194560"/>
            <a:ext cx="4389120"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35240" y="2240280"/>
            <a:ext cx="4114800" cy="384048"/>
          </a:xfrm>
          <a:prstGeom prst="rect">
            <a:avLst/>
          </a:prstGeom>
          <a:noFill/>
        </p:spPr>
        <p:txBody>
          <a:bodyPr wrap="square">
            <a:spAutoFit/>
          </a:bodyPr>
          <a:lstStyle/>
          <a:p>
            <a:pPr algn="l"/>
            <a:r>
              <a:rPr sz="1800" b="1" i="0">
                <a:solidFill>
                  <a:srgbClr val="FFFFFF"/>
                </a:solidFill>
                <a:latin typeface="Calibri"/>
              </a:rPr>
              <a:t>CPC</a:t>
            </a:r>
          </a:p>
        </p:txBody>
      </p:sp>
      <p:sp>
        <p:nvSpPr>
          <p:cNvPr id="14" name="TextBox 13"/>
          <p:cNvSpPr txBox="1"/>
          <p:nvPr/>
        </p:nvSpPr>
        <p:spPr>
          <a:xfrm>
            <a:off x="7635240" y="2578608"/>
            <a:ext cx="4114800" cy="347472"/>
          </a:xfrm>
          <a:prstGeom prst="rect">
            <a:avLst/>
          </a:prstGeom>
          <a:noFill/>
        </p:spPr>
        <p:txBody>
          <a:bodyPr wrap="square">
            <a:spAutoFit/>
          </a:bodyPr>
          <a:lstStyle/>
          <a:p>
            <a:pPr algn="l"/>
            <a:r>
              <a:rPr sz="1200" b="0" i="1">
                <a:solidFill>
                  <a:srgbClr val="DDDDDD"/>
                </a:solidFill>
                <a:latin typeface="Calibri"/>
              </a:rPr>
              <a:t>Per click — highest distortion</a:t>
            </a:r>
          </a:p>
        </p:txBody>
      </p:sp>
      <p:sp>
        <p:nvSpPr>
          <p:cNvPr id="15" name="Rectangle 14"/>
          <p:cNvSpPr/>
          <p:nvPr/>
        </p:nvSpPr>
        <p:spPr>
          <a:xfrm>
            <a:off x="7498079" y="3291840"/>
            <a:ext cx="4389120" cy="9144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35240" y="3337560"/>
            <a:ext cx="4114800" cy="384048"/>
          </a:xfrm>
          <a:prstGeom prst="rect">
            <a:avLst/>
          </a:prstGeom>
          <a:noFill/>
        </p:spPr>
        <p:txBody>
          <a:bodyPr wrap="square">
            <a:spAutoFit/>
          </a:bodyPr>
          <a:lstStyle/>
          <a:p>
            <a:pPr algn="l"/>
            <a:r>
              <a:rPr sz="1800" b="1" i="0">
                <a:solidFill>
                  <a:srgbClr val="FFFFFF"/>
                </a:solidFill>
                <a:latin typeface="Calibri"/>
              </a:rPr>
              <a:t>CPA</a:t>
            </a:r>
          </a:p>
        </p:txBody>
      </p:sp>
      <p:sp>
        <p:nvSpPr>
          <p:cNvPr id="17" name="TextBox 16"/>
          <p:cNvSpPr txBox="1"/>
          <p:nvPr/>
        </p:nvSpPr>
        <p:spPr>
          <a:xfrm>
            <a:off x="7635240" y="3675888"/>
            <a:ext cx="4114800" cy="347472"/>
          </a:xfrm>
          <a:prstGeom prst="rect">
            <a:avLst/>
          </a:prstGeom>
          <a:noFill/>
        </p:spPr>
        <p:txBody>
          <a:bodyPr wrap="square">
            <a:spAutoFit/>
          </a:bodyPr>
          <a:lstStyle/>
          <a:p>
            <a:pPr algn="l"/>
            <a:r>
              <a:rPr sz="1200" b="0" i="1">
                <a:solidFill>
                  <a:srgbClr val="DDDDDD"/>
                </a:solidFill>
                <a:latin typeface="Calibri"/>
              </a:rPr>
              <a:t>Per order — moderate</a:t>
            </a:r>
          </a:p>
        </p:txBody>
      </p:sp>
      <p:sp>
        <p:nvSpPr>
          <p:cNvPr id="18" name="Rectangle 17"/>
          <p:cNvSpPr/>
          <p:nvPr/>
        </p:nvSpPr>
        <p:spPr>
          <a:xfrm>
            <a:off x="7498079" y="4389120"/>
            <a:ext cx="4389120" cy="91440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4434840"/>
            <a:ext cx="4114800" cy="384048"/>
          </a:xfrm>
          <a:prstGeom prst="rect">
            <a:avLst/>
          </a:prstGeom>
          <a:noFill/>
        </p:spPr>
        <p:txBody>
          <a:bodyPr wrap="square">
            <a:spAutoFit/>
          </a:bodyPr>
          <a:lstStyle/>
          <a:p>
            <a:pPr algn="l"/>
            <a:r>
              <a:rPr sz="1800" b="1" i="0">
                <a:solidFill>
                  <a:srgbClr val="FFFFFF"/>
                </a:solidFill>
                <a:latin typeface="Calibri"/>
              </a:rPr>
              <a:t>CPFI</a:t>
            </a:r>
          </a:p>
        </p:txBody>
      </p:sp>
      <p:sp>
        <p:nvSpPr>
          <p:cNvPr id="20" name="TextBox 19"/>
          <p:cNvSpPr txBox="1"/>
          <p:nvPr/>
        </p:nvSpPr>
        <p:spPr>
          <a:xfrm>
            <a:off x="7635240" y="4773168"/>
            <a:ext cx="4114800" cy="347472"/>
          </a:xfrm>
          <a:prstGeom prst="rect">
            <a:avLst/>
          </a:prstGeom>
          <a:noFill/>
        </p:spPr>
        <p:txBody>
          <a:bodyPr wrap="square">
            <a:spAutoFit/>
          </a:bodyPr>
          <a:lstStyle/>
          <a:p>
            <a:pPr algn="l"/>
            <a:r>
              <a:rPr sz="1200" b="0" i="1">
                <a:solidFill>
                  <a:srgbClr val="DDDDDD"/>
                </a:solidFill>
                <a:latin typeface="Calibri"/>
              </a:rPr>
              <a:t>Per fulfilled intent — best</a:t>
            </a:r>
          </a:p>
        </p:txBody>
      </p:sp>
      <p:sp>
        <p:nvSpPr>
          <p:cNvPr id="21" name="Rectangle 20"/>
          <p:cNvSpPr/>
          <p:nvPr/>
        </p:nvSpPr>
        <p:spPr>
          <a:xfrm>
            <a:off x="7498079" y="5532120"/>
            <a:ext cx="4389120" cy="7498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0" y="5577840"/>
            <a:ext cx="4206240" cy="658368"/>
          </a:xfrm>
          <a:prstGeom prst="rect">
            <a:avLst/>
          </a:prstGeom>
          <a:noFill/>
        </p:spPr>
        <p:txBody>
          <a:bodyPr wrap="square">
            <a:spAutoFit/>
          </a:bodyPr>
          <a:lstStyle/>
          <a:p>
            <a:pPr algn="l"/>
            <a:r>
              <a:rPr sz="1100" b="0" i="1">
                <a:solidFill>
                  <a:srgbClr val="D6E4F0"/>
                </a:solidFill>
                <a:latin typeface="Calibri"/>
              </a:rPr>
              <a:t>Shortlist relevance:  Neutral 0.973  ·  CPC 0.929  ·  CPA 0.946  ·  CPFI 0.981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 2: Paid regimes restore aggregate platform profitability</a:t>
            </a:r>
          </a:p>
        </p:txBody>
      </p:sp>
      <p:graphicFrame>
        <p:nvGraphicFramePr>
          <p:cNvPr id="8" name="Chart 7"/>
          <p:cNvGraphicFramePr>
            <a:graphicFrameLocks noGrp="1"/>
          </p:cNvGraphicFramePr>
          <p:nvPr/>
        </p:nvGraphicFramePr>
        <p:xfrm>
          <a:off x="365760" y="914400"/>
          <a:ext cx="7772400" cy="512064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8321040" y="914400"/>
            <a:ext cx="3566160" cy="5120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21040" y="960120"/>
            <a:ext cx="3566160" cy="384048"/>
          </a:xfrm>
          <a:prstGeom prst="rect">
            <a:avLst/>
          </a:prstGeom>
          <a:noFill/>
        </p:spPr>
        <p:txBody>
          <a:bodyPr wrap="square">
            <a:spAutoFit/>
          </a:bodyPr>
          <a:lstStyle/>
          <a:p>
            <a:pPr algn="ctr"/>
            <a:r>
              <a:rPr sz="1200" b="0" i="1">
                <a:solidFill>
                  <a:srgbClr val="D6E4F0"/>
                </a:solidFill>
                <a:latin typeface="Calibri"/>
              </a:rPr>
              <a:t>vs no-LLM baseline</a:t>
            </a:r>
          </a:p>
        </p:txBody>
      </p:sp>
      <p:sp>
        <p:nvSpPr>
          <p:cNvPr id="11" name="Rectangle 10"/>
          <p:cNvSpPr/>
          <p:nvPr/>
        </p:nvSpPr>
        <p:spPr>
          <a:xfrm>
            <a:off x="8412480" y="1417320"/>
            <a:ext cx="3383280" cy="9144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444752"/>
            <a:ext cx="3383280" cy="868680"/>
          </a:xfrm>
          <a:prstGeom prst="rect">
            <a:avLst/>
          </a:prstGeom>
          <a:noFill/>
        </p:spPr>
        <p:txBody>
          <a:bodyPr wrap="square">
            <a:spAutoFit/>
          </a:bodyPr>
          <a:lstStyle/>
          <a:p>
            <a:pPr algn="ctr"/>
            <a:r>
              <a:rPr sz="1700" b="1" i="0">
                <a:solidFill>
                  <a:srgbClr val="FFFFFF"/>
                </a:solidFill>
                <a:latin typeface="Calibri"/>
              </a:rPr>
              <a:t>Neutral   −$1,483</a:t>
            </a:r>
          </a:p>
        </p:txBody>
      </p:sp>
      <p:sp>
        <p:nvSpPr>
          <p:cNvPr id="13" name="Rectangle 12"/>
          <p:cNvSpPr/>
          <p:nvPr/>
        </p:nvSpPr>
        <p:spPr>
          <a:xfrm>
            <a:off x="8412480" y="2468880"/>
            <a:ext cx="3383280" cy="91440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2496312"/>
            <a:ext cx="3383280" cy="868680"/>
          </a:xfrm>
          <a:prstGeom prst="rect">
            <a:avLst/>
          </a:prstGeom>
          <a:noFill/>
        </p:spPr>
        <p:txBody>
          <a:bodyPr wrap="square">
            <a:spAutoFit/>
          </a:bodyPr>
          <a:lstStyle/>
          <a:p>
            <a:pPr algn="ctr"/>
            <a:r>
              <a:rPr sz="1700" b="1" i="0">
                <a:solidFill>
                  <a:srgbClr val="FFFFFF"/>
                </a:solidFill>
                <a:latin typeface="Calibri"/>
              </a:rPr>
              <a:t>CPC   +$3,101</a:t>
            </a:r>
          </a:p>
        </p:txBody>
      </p:sp>
      <p:sp>
        <p:nvSpPr>
          <p:cNvPr id="15" name="Rectangle 14"/>
          <p:cNvSpPr/>
          <p:nvPr/>
        </p:nvSpPr>
        <p:spPr>
          <a:xfrm>
            <a:off x="8412480" y="3520440"/>
            <a:ext cx="3383280" cy="91440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3547872"/>
            <a:ext cx="3383280" cy="868680"/>
          </a:xfrm>
          <a:prstGeom prst="rect">
            <a:avLst/>
          </a:prstGeom>
          <a:noFill/>
        </p:spPr>
        <p:txBody>
          <a:bodyPr wrap="square">
            <a:spAutoFit/>
          </a:bodyPr>
          <a:lstStyle/>
          <a:p>
            <a:pPr algn="ctr"/>
            <a:r>
              <a:rPr sz="1700" b="1" i="0">
                <a:solidFill>
                  <a:srgbClr val="FFFFFF"/>
                </a:solidFill>
                <a:latin typeface="Calibri"/>
              </a:rPr>
              <a:t>CPA   +$2,873</a:t>
            </a:r>
          </a:p>
        </p:txBody>
      </p:sp>
      <p:sp>
        <p:nvSpPr>
          <p:cNvPr id="17" name="Rectangle 16"/>
          <p:cNvSpPr/>
          <p:nvPr/>
        </p:nvSpPr>
        <p:spPr>
          <a:xfrm>
            <a:off x="8412480" y="4572000"/>
            <a:ext cx="3383280" cy="91440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80" y="4599432"/>
            <a:ext cx="3383280" cy="868680"/>
          </a:xfrm>
          <a:prstGeom prst="rect">
            <a:avLst/>
          </a:prstGeom>
          <a:noFill/>
        </p:spPr>
        <p:txBody>
          <a:bodyPr wrap="square">
            <a:spAutoFit/>
          </a:bodyPr>
          <a:lstStyle/>
          <a:p>
            <a:pPr algn="ctr"/>
            <a:r>
              <a:rPr sz="1700" b="1" i="0">
                <a:solidFill>
                  <a:srgbClr val="FFFFFF"/>
                </a:solidFill>
                <a:latin typeface="Calibri"/>
              </a:rPr>
              <a:t>CPFI   +$1,942</a:t>
            </a:r>
          </a:p>
        </p:txBody>
      </p:sp>
      <p:sp>
        <p:nvSpPr>
          <p:cNvPr id="19" name="TextBox 18"/>
          <p:cNvSpPr txBox="1"/>
          <p:nvPr/>
        </p:nvSpPr>
        <p:spPr>
          <a:xfrm>
            <a:off x="365760" y="6144768"/>
            <a:ext cx="11430000" cy="475488"/>
          </a:xfrm>
          <a:prstGeom prst="rect">
            <a:avLst/>
          </a:prstGeom>
          <a:noFill/>
        </p:spPr>
        <p:txBody>
          <a:bodyPr wrap="square">
            <a:spAutoFit/>
          </a:bodyPr>
          <a:lstStyle/>
          <a:p>
            <a:pPr algn="l"/>
            <a:r>
              <a:rPr sz="1200" b="0" i="1">
                <a:solidFill>
                  <a:srgbClr val="888899"/>
                </a:solidFill>
                <a:latin typeface="Calibri"/>
              </a:rPr>
              <a:t>Paid regimes profitable because routing shifts orders toward sponsors. LLM captures 50% of new platform surplus.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 2: CPC turns discovery into a winner-take-share game</a:t>
            </a:r>
          </a:p>
        </p:txBody>
      </p:sp>
      <p:graphicFrame>
        <p:nvGraphicFramePr>
          <p:cNvPr id="8" name="Chart 7"/>
          <p:cNvGraphicFramePr>
            <a:graphicFrameLocks noGrp="1"/>
          </p:cNvGraphicFramePr>
          <p:nvPr/>
        </p:nvGraphicFramePr>
        <p:xfrm>
          <a:off x="365760" y="914400"/>
          <a:ext cx="7772400" cy="521208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8321040" y="914400"/>
            <a:ext cx="3566160" cy="2377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005840"/>
            <a:ext cx="3383280" cy="365760"/>
          </a:xfrm>
          <a:prstGeom prst="rect">
            <a:avLst/>
          </a:prstGeom>
          <a:noFill/>
        </p:spPr>
        <p:txBody>
          <a:bodyPr wrap="square">
            <a:spAutoFit/>
          </a:bodyPr>
          <a:lstStyle/>
          <a:p>
            <a:pPr algn="ctr"/>
            <a:r>
              <a:rPr sz="1400" b="0" i="1">
                <a:solidFill>
                  <a:srgbClr val="FFFFFF"/>
                </a:solidFill>
                <a:latin typeface="Calibri"/>
              </a:rPr>
              <a:t>Under CPC</a:t>
            </a:r>
          </a:p>
        </p:txBody>
      </p:sp>
      <p:sp>
        <p:nvSpPr>
          <p:cNvPr id="11" name="TextBox 10"/>
          <p:cNvSpPr txBox="1"/>
          <p:nvPr/>
        </p:nvSpPr>
        <p:spPr>
          <a:xfrm>
            <a:off x="8412480" y="1371600"/>
            <a:ext cx="3383280" cy="914400"/>
          </a:xfrm>
          <a:prstGeom prst="rect">
            <a:avLst/>
          </a:prstGeom>
          <a:noFill/>
        </p:spPr>
        <p:txBody>
          <a:bodyPr wrap="square">
            <a:spAutoFit/>
          </a:bodyPr>
          <a:lstStyle/>
          <a:p>
            <a:pPr algn="ctr"/>
            <a:r>
              <a:rPr sz="5200" b="1" i="0">
                <a:solidFill>
                  <a:srgbClr val="FFFFFF"/>
                </a:solidFill>
                <a:latin typeface="Calibri"/>
              </a:rPr>
              <a:t>66.7%</a:t>
            </a:r>
          </a:p>
        </p:txBody>
      </p:sp>
      <p:sp>
        <p:nvSpPr>
          <p:cNvPr id="12" name="TextBox 11"/>
          <p:cNvSpPr txBox="1"/>
          <p:nvPr/>
        </p:nvSpPr>
        <p:spPr>
          <a:xfrm>
            <a:off x="8412480" y="2286000"/>
            <a:ext cx="3383280" cy="365760"/>
          </a:xfrm>
          <a:prstGeom prst="rect">
            <a:avLst/>
          </a:prstGeom>
          <a:noFill/>
        </p:spPr>
        <p:txBody>
          <a:bodyPr wrap="square">
            <a:spAutoFit/>
          </a:bodyPr>
          <a:lstStyle/>
          <a:p>
            <a:pPr algn="ctr"/>
            <a:r>
              <a:rPr sz="1300" b="0" i="0">
                <a:solidFill>
                  <a:srgbClr val="FFCCCC"/>
                </a:solidFill>
                <a:latin typeface="Calibri"/>
              </a:rPr>
              <a:t>FoodRush order share</a:t>
            </a:r>
          </a:p>
        </p:txBody>
      </p:sp>
      <p:sp>
        <p:nvSpPr>
          <p:cNvPr id="13" name="Rectangle 12"/>
          <p:cNvSpPr/>
          <p:nvPr/>
        </p:nvSpPr>
        <p:spPr>
          <a:xfrm>
            <a:off x="8321040" y="3474720"/>
            <a:ext cx="3566160" cy="265176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3566160"/>
            <a:ext cx="3383280" cy="365760"/>
          </a:xfrm>
          <a:prstGeom prst="rect">
            <a:avLst/>
          </a:prstGeom>
          <a:noFill/>
        </p:spPr>
        <p:txBody>
          <a:bodyPr wrap="square">
            <a:spAutoFit/>
          </a:bodyPr>
          <a:lstStyle/>
          <a:p>
            <a:pPr algn="ctr"/>
            <a:r>
              <a:rPr sz="1400" b="0" i="1">
                <a:solidFill>
                  <a:srgbClr val="FFFFFF"/>
                </a:solidFill>
                <a:latin typeface="Calibri"/>
              </a:rPr>
              <a:t>Under CPFI</a:t>
            </a:r>
          </a:p>
        </p:txBody>
      </p:sp>
      <p:sp>
        <p:nvSpPr>
          <p:cNvPr id="15" name="TextBox 14"/>
          <p:cNvSpPr txBox="1"/>
          <p:nvPr/>
        </p:nvSpPr>
        <p:spPr>
          <a:xfrm>
            <a:off x="8412480" y="3931920"/>
            <a:ext cx="3383280" cy="914400"/>
          </a:xfrm>
          <a:prstGeom prst="rect">
            <a:avLst/>
          </a:prstGeom>
          <a:noFill/>
        </p:spPr>
        <p:txBody>
          <a:bodyPr wrap="square">
            <a:spAutoFit/>
          </a:bodyPr>
          <a:lstStyle/>
          <a:p>
            <a:pPr algn="ctr"/>
            <a:r>
              <a:rPr sz="5200" b="1" i="0">
                <a:solidFill>
                  <a:srgbClr val="FFFFFF"/>
                </a:solidFill>
                <a:latin typeface="Calibri"/>
              </a:rPr>
              <a:t>46.5%</a:t>
            </a:r>
          </a:p>
        </p:txBody>
      </p:sp>
      <p:sp>
        <p:nvSpPr>
          <p:cNvPr id="16" name="TextBox 15"/>
          <p:cNvSpPr txBox="1"/>
          <p:nvPr/>
        </p:nvSpPr>
        <p:spPr>
          <a:xfrm>
            <a:off x="8412480" y="4846320"/>
            <a:ext cx="3383280" cy="365760"/>
          </a:xfrm>
          <a:prstGeom prst="rect">
            <a:avLst/>
          </a:prstGeom>
          <a:noFill/>
        </p:spPr>
        <p:txBody>
          <a:bodyPr wrap="square">
            <a:spAutoFit/>
          </a:bodyPr>
          <a:lstStyle/>
          <a:p>
            <a:pPr algn="ctr"/>
            <a:r>
              <a:rPr sz="1300" b="0" i="0">
                <a:solidFill>
                  <a:srgbClr val="CCFFCC"/>
                </a:solidFill>
                <a:latin typeface="Calibri"/>
              </a:rPr>
              <a:t>FoodRush order share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 3: More bias = diminishing revenue + accelerating consumer harm</a:t>
            </a:r>
          </a:p>
        </p:txBody>
      </p:sp>
      <p:graphicFrame>
        <p:nvGraphicFramePr>
          <p:cNvPr id="8" name="Chart 7"/>
          <p:cNvGraphicFramePr>
            <a:graphicFrameLocks noGrp="1"/>
          </p:cNvGraphicFramePr>
          <p:nvPr/>
        </p:nvGraphicFramePr>
        <p:xfrm>
          <a:off x="457200" y="822960"/>
          <a:ext cx="8046720" cy="53949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1371600" y="6172200"/>
            <a:ext cx="5486400" cy="365760"/>
          </a:xfrm>
          <a:prstGeom prst="rect">
            <a:avLst/>
          </a:prstGeom>
          <a:noFill/>
        </p:spPr>
        <p:txBody>
          <a:bodyPr wrap="square">
            <a:spAutoFit/>
          </a:bodyPr>
          <a:lstStyle/>
          <a:p>
            <a:pPr algn="l"/>
            <a:r>
              <a:rPr sz="1200" b="0" i="1">
                <a:solidFill>
                  <a:srgbClr val="D6E4F0"/>
                </a:solidFill>
                <a:latin typeface="Calibri"/>
              </a:rPr>
              <a:t>Sponsorship bias strength →</a:t>
            </a:r>
          </a:p>
        </p:txBody>
      </p:sp>
      <p:sp>
        <p:nvSpPr>
          <p:cNvPr id="10" name="Rectangle 9"/>
          <p:cNvSpPr/>
          <p:nvPr/>
        </p:nvSpPr>
        <p:spPr>
          <a:xfrm>
            <a:off x="8686800" y="914400"/>
            <a:ext cx="3291840" cy="25603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778240" y="1005840"/>
            <a:ext cx="3108960" cy="411480"/>
          </a:xfrm>
          <a:prstGeom prst="rect">
            <a:avLst/>
          </a:prstGeom>
          <a:noFill/>
        </p:spPr>
        <p:txBody>
          <a:bodyPr wrap="square">
            <a:spAutoFit/>
          </a:bodyPr>
          <a:lstStyle/>
          <a:p>
            <a:pPr algn="ctr"/>
            <a:r>
              <a:rPr sz="1600" b="1" i="0">
                <a:solidFill>
                  <a:srgbClr val="FFFFFF"/>
                </a:solidFill>
                <a:latin typeface="Calibri"/>
              </a:rPr>
              <a:t>Crossover</a:t>
            </a:r>
          </a:p>
        </p:txBody>
      </p:sp>
      <p:sp>
        <p:nvSpPr>
          <p:cNvPr id="12" name="TextBox 11"/>
          <p:cNvSpPr txBox="1"/>
          <p:nvPr/>
        </p:nvSpPr>
        <p:spPr>
          <a:xfrm>
            <a:off x="8778240" y="1463040"/>
            <a:ext cx="3108960" cy="1783080"/>
          </a:xfrm>
          <a:prstGeom prst="rect">
            <a:avLst/>
          </a:prstGeom>
          <a:noFill/>
        </p:spPr>
        <p:txBody>
          <a:bodyPr wrap="square">
            <a:spAutoFit/>
          </a:bodyPr>
          <a:lstStyle/>
          <a:p>
            <a:pPr algn="ctr"/>
            <a:r>
              <a:rPr sz="1500" b="1" i="0">
                <a:solidFill>
                  <a:srgbClr val="FFFFFF"/>
                </a:solidFill>
                <a:latin typeface="Calibri"/>
              </a:rPr>
              <a:t>At bias 1.0
LLM score 0.649
&lt; no-LLM 0.683</a:t>
            </a:r>
          </a:p>
        </p:txBody>
      </p:sp>
      <p:sp>
        <p:nvSpPr>
          <p:cNvPr id="13" name="Rectangle 12"/>
          <p:cNvSpPr/>
          <p:nvPr/>
        </p:nvSpPr>
        <p:spPr>
          <a:xfrm>
            <a:off x="8686800" y="3657600"/>
            <a:ext cx="3291840" cy="246888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778240" y="3749039"/>
            <a:ext cx="3108960" cy="365760"/>
          </a:xfrm>
          <a:prstGeom prst="rect">
            <a:avLst/>
          </a:prstGeom>
          <a:noFill/>
        </p:spPr>
        <p:txBody>
          <a:bodyPr wrap="square">
            <a:spAutoFit/>
          </a:bodyPr>
          <a:lstStyle/>
          <a:p>
            <a:pPr algn="ctr"/>
            <a:r>
              <a:rPr sz="1300" b="0" i="1">
                <a:solidFill>
                  <a:srgbClr val="FFFFFF"/>
                </a:solidFill>
                <a:latin typeface="Calibri"/>
              </a:rPr>
              <a:t>Recommended cap</a:t>
            </a:r>
          </a:p>
        </p:txBody>
      </p:sp>
      <p:sp>
        <p:nvSpPr>
          <p:cNvPr id="15" name="TextBox 14"/>
          <p:cNvSpPr txBox="1"/>
          <p:nvPr/>
        </p:nvSpPr>
        <p:spPr>
          <a:xfrm>
            <a:off x="8778240" y="4160520"/>
            <a:ext cx="3108960" cy="1005840"/>
          </a:xfrm>
          <a:prstGeom prst="rect">
            <a:avLst/>
          </a:prstGeom>
          <a:noFill/>
        </p:spPr>
        <p:txBody>
          <a:bodyPr wrap="square">
            <a:spAutoFit/>
          </a:bodyPr>
          <a:lstStyle/>
          <a:p>
            <a:pPr algn="ctr"/>
            <a:r>
              <a:rPr sz="5200" b="1" i="0">
                <a:solidFill>
                  <a:srgbClr val="FFFFFF"/>
                </a:solidFill>
                <a:latin typeface="Calibri"/>
              </a:rPr>
              <a:t>≤ 0.20</a:t>
            </a:r>
          </a:p>
        </p:txBody>
      </p:sp>
      <p:sp>
        <p:nvSpPr>
          <p:cNvPr id="16" name="TextBox 15"/>
          <p:cNvSpPr txBox="1"/>
          <p:nvPr/>
        </p:nvSpPr>
        <p:spPr>
          <a:xfrm>
            <a:off x="8778240" y="5166360"/>
            <a:ext cx="3108960" cy="594360"/>
          </a:xfrm>
          <a:prstGeom prst="rect">
            <a:avLst/>
          </a:prstGeom>
          <a:noFill/>
        </p:spPr>
        <p:txBody>
          <a:bodyPr wrap="square">
            <a:spAutoFit/>
          </a:bodyPr>
          <a:lstStyle/>
          <a:p>
            <a:pPr algn="ctr"/>
            <a:r>
              <a:rPr sz="1300" b="0" i="0">
                <a:solidFill>
                  <a:srgbClr val="CCFFCC"/>
                </a:solidFill>
                <a:latin typeface="Calibri"/>
              </a:rPr>
              <a:t>preserves ~95%
of welfare gains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 4: Trust drives volume, not match quality</a:t>
            </a:r>
          </a:p>
        </p:txBody>
      </p:sp>
      <p:graphicFrame>
        <p:nvGraphicFramePr>
          <p:cNvPr id="8" name="Chart 7"/>
          <p:cNvGraphicFramePr>
            <a:graphicFrameLocks noGrp="1"/>
          </p:cNvGraphicFramePr>
          <p:nvPr/>
        </p:nvGraphicFramePr>
        <p:xfrm>
          <a:off x="365760" y="822960"/>
          <a:ext cx="7132320" cy="530352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7680960" y="914400"/>
            <a:ext cx="4206240" cy="52120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0" y="1005840"/>
            <a:ext cx="4023360" cy="411480"/>
          </a:xfrm>
          <a:prstGeom prst="rect">
            <a:avLst/>
          </a:prstGeom>
          <a:noFill/>
        </p:spPr>
        <p:txBody>
          <a:bodyPr wrap="square">
            <a:spAutoFit/>
          </a:bodyPr>
          <a:lstStyle/>
          <a:p>
            <a:pPr algn="ctr"/>
            <a:r>
              <a:rPr sz="1400" b="0" i="0">
                <a:solidFill>
                  <a:srgbClr val="D6E4F0"/>
                </a:solidFill>
                <a:latin typeface="Calibri"/>
              </a:rPr>
              <a:t>Intent Fulfilment</a:t>
            </a:r>
          </a:p>
        </p:txBody>
      </p:sp>
      <p:sp>
        <p:nvSpPr>
          <p:cNvPr id="11" name="TextBox 10"/>
          <p:cNvSpPr txBox="1"/>
          <p:nvPr/>
        </p:nvSpPr>
        <p:spPr>
          <a:xfrm>
            <a:off x="7772400" y="1645920"/>
            <a:ext cx="4023360" cy="1371600"/>
          </a:xfrm>
          <a:prstGeom prst="rect">
            <a:avLst/>
          </a:prstGeom>
          <a:noFill/>
        </p:spPr>
        <p:txBody>
          <a:bodyPr wrap="square">
            <a:spAutoFit/>
          </a:bodyPr>
          <a:lstStyle/>
          <a:p>
            <a:pPr algn="ctr"/>
            <a:r>
              <a:rPr sz="6400" b="1" i="0">
                <a:solidFill>
                  <a:srgbClr val="F0AB00"/>
                </a:solidFill>
                <a:latin typeface="Calibri"/>
              </a:rPr>
              <a:t>FLAT</a:t>
            </a:r>
          </a:p>
        </p:txBody>
      </p:sp>
      <p:sp>
        <p:nvSpPr>
          <p:cNvPr id="12" name="TextBox 11"/>
          <p:cNvSpPr txBox="1"/>
          <p:nvPr/>
        </p:nvSpPr>
        <p:spPr>
          <a:xfrm>
            <a:off x="7772400" y="3063240"/>
            <a:ext cx="4023360" cy="457200"/>
          </a:xfrm>
          <a:prstGeom prst="rect">
            <a:avLst/>
          </a:prstGeom>
          <a:noFill/>
        </p:spPr>
        <p:txBody>
          <a:bodyPr wrap="square">
            <a:spAutoFit/>
          </a:bodyPr>
          <a:lstStyle/>
          <a:p>
            <a:pPr algn="ctr"/>
            <a:r>
              <a:rPr sz="2000" b="1" i="0">
                <a:solidFill>
                  <a:srgbClr val="FFFFFF"/>
                </a:solidFill>
                <a:latin typeface="Calibri"/>
              </a:rPr>
              <a:t>0.747 → 0.749</a:t>
            </a:r>
          </a:p>
        </p:txBody>
      </p:sp>
      <p:sp>
        <p:nvSpPr>
          <p:cNvPr id="13" name="TextBox 12"/>
          <p:cNvSpPr txBox="1"/>
          <p:nvPr/>
        </p:nvSpPr>
        <p:spPr>
          <a:xfrm>
            <a:off x="7772400" y="3566160"/>
            <a:ext cx="4023360" cy="320040"/>
          </a:xfrm>
          <a:prstGeom prst="rect">
            <a:avLst/>
          </a:prstGeom>
          <a:noFill/>
        </p:spPr>
        <p:txBody>
          <a:bodyPr wrap="square">
            <a:spAutoFit/>
          </a:bodyPr>
          <a:lstStyle/>
          <a:p>
            <a:pPr algn="ctr"/>
            <a:r>
              <a:rPr sz="1300" b="0" i="1">
                <a:solidFill>
                  <a:srgbClr val="D6E4F0"/>
                </a:solidFill>
                <a:latin typeface="Calibri"/>
              </a:rPr>
              <a:t>across all trust levels</a:t>
            </a:r>
          </a:p>
        </p:txBody>
      </p:sp>
      <p:sp>
        <p:nvSpPr>
          <p:cNvPr id="14" name="Rectangle 13"/>
          <p:cNvSpPr/>
          <p:nvPr/>
        </p:nvSpPr>
        <p:spPr>
          <a:xfrm>
            <a:off x="7772400" y="4023360"/>
            <a:ext cx="3840480" cy="1371600"/>
          </a:xfrm>
          <a:prstGeom prst="rect">
            <a:avLst/>
          </a:prstGeom>
          <a:solidFill>
            <a:srgbClr val="2A3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0" y="4114800"/>
            <a:ext cx="3657600" cy="1188720"/>
          </a:xfrm>
          <a:prstGeom prst="rect">
            <a:avLst/>
          </a:prstGeom>
          <a:noFill/>
        </p:spPr>
        <p:txBody>
          <a:bodyPr wrap="square">
            <a:spAutoFit/>
          </a:bodyPr>
          <a:lstStyle/>
          <a:p>
            <a:pPr algn="ctr"/>
            <a:r>
              <a:rPr sz="1600" b="1" i="0">
                <a:solidFill>
                  <a:srgbClr val="FFFFFF"/>
                </a:solidFill>
                <a:latin typeface="Calibri"/>
              </a:rPr>
              <a:t>Match quality = algorithm
Not adoption rate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The mechanism design choice is the whole game</a:t>
            </a:r>
          </a:p>
        </p:txBody>
      </p:sp>
      <p:sp>
        <p:nvSpPr>
          <p:cNvPr id="8" name="Rectangle 7"/>
          <p:cNvSpPr/>
          <p:nvPr/>
        </p:nvSpPr>
        <p:spPr>
          <a:xfrm>
            <a:off x="365760" y="1051560"/>
            <a:ext cx="5577840" cy="24688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43000"/>
            <a:ext cx="5577840" cy="1097280"/>
          </a:xfrm>
          <a:prstGeom prst="rect">
            <a:avLst/>
          </a:prstGeom>
          <a:noFill/>
        </p:spPr>
        <p:txBody>
          <a:bodyPr wrap="square">
            <a:spAutoFit/>
          </a:bodyPr>
          <a:lstStyle/>
          <a:p>
            <a:pPr algn="ctr"/>
            <a:r>
              <a:rPr sz="5200" b="1" i="0">
                <a:solidFill>
                  <a:srgbClr val="F0AB00"/>
                </a:solidFill>
                <a:latin typeface="Calibri"/>
              </a:rPr>
              <a:t>+9.3%</a:t>
            </a:r>
          </a:p>
        </p:txBody>
      </p:sp>
      <p:sp>
        <p:nvSpPr>
          <p:cNvPr id="10" name="TextBox 9"/>
          <p:cNvSpPr txBox="1"/>
          <p:nvPr/>
        </p:nvSpPr>
        <p:spPr>
          <a:xfrm>
            <a:off x="365760" y="2240280"/>
            <a:ext cx="5577840" cy="594360"/>
          </a:xfrm>
          <a:prstGeom prst="rect">
            <a:avLst/>
          </a:prstGeom>
          <a:noFill/>
        </p:spPr>
        <p:txBody>
          <a:bodyPr wrap="square">
            <a:spAutoFit/>
          </a:bodyPr>
          <a:lstStyle/>
          <a:p>
            <a:pPr algn="ctr"/>
            <a:r>
              <a:rPr sz="1600" b="1" i="0">
                <a:solidFill>
                  <a:srgbClr val="FFFFFF"/>
                </a:solidFill>
                <a:latin typeface="Calibri"/>
              </a:rPr>
              <a:t>Neutral LLM improves
consumer welfare</a:t>
            </a:r>
          </a:p>
        </p:txBody>
      </p:sp>
      <p:sp>
        <p:nvSpPr>
          <p:cNvPr id="11" name="Rectangle 10"/>
          <p:cNvSpPr/>
          <p:nvPr/>
        </p:nvSpPr>
        <p:spPr>
          <a:xfrm>
            <a:off x="640080" y="2862072"/>
            <a:ext cx="50292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953512"/>
            <a:ext cx="5577840" cy="502920"/>
          </a:xfrm>
          <a:prstGeom prst="rect">
            <a:avLst/>
          </a:prstGeom>
          <a:noFill/>
        </p:spPr>
        <p:txBody>
          <a:bodyPr wrap="square">
            <a:spAutoFit/>
          </a:bodyPr>
          <a:lstStyle/>
          <a:p>
            <a:pPr algn="ctr"/>
            <a:r>
              <a:rPr sz="1300" b="0" i="1">
                <a:solidFill>
                  <a:srgbClr val="CCCCCC"/>
                </a:solidFill>
                <a:latin typeface="Calibri"/>
              </a:rPr>
              <a:t>but platforms have negative WTP for it</a:t>
            </a:r>
          </a:p>
        </p:txBody>
      </p:sp>
      <p:sp>
        <p:nvSpPr>
          <p:cNvPr id="13" name="Rectangle 12"/>
          <p:cNvSpPr/>
          <p:nvPr/>
        </p:nvSpPr>
        <p:spPr>
          <a:xfrm>
            <a:off x="6263640" y="1051560"/>
            <a:ext cx="5577840" cy="246888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143000"/>
            <a:ext cx="5577840" cy="1097280"/>
          </a:xfrm>
          <a:prstGeom prst="rect">
            <a:avLst/>
          </a:prstGeom>
          <a:noFill/>
        </p:spPr>
        <p:txBody>
          <a:bodyPr wrap="square">
            <a:spAutoFit/>
          </a:bodyPr>
          <a:lstStyle/>
          <a:p>
            <a:pPr algn="ctr"/>
            <a:r>
              <a:rPr sz="5200" b="1" i="0">
                <a:solidFill>
                  <a:srgbClr val="F0AB00"/>
                </a:solidFill>
                <a:latin typeface="Calibri"/>
              </a:rPr>
              <a:t>CPFI</a:t>
            </a:r>
          </a:p>
        </p:txBody>
      </p:sp>
      <p:sp>
        <p:nvSpPr>
          <p:cNvPr id="15" name="TextBox 14"/>
          <p:cNvSpPr txBox="1"/>
          <p:nvPr/>
        </p:nvSpPr>
        <p:spPr>
          <a:xfrm>
            <a:off x="6263640" y="2240280"/>
            <a:ext cx="5577840" cy="594360"/>
          </a:xfrm>
          <a:prstGeom prst="rect">
            <a:avLst/>
          </a:prstGeom>
          <a:noFill/>
        </p:spPr>
        <p:txBody>
          <a:bodyPr wrap="square">
            <a:spAutoFit/>
          </a:bodyPr>
          <a:lstStyle/>
          <a:p>
            <a:pPr algn="ctr"/>
            <a:r>
              <a:rPr sz="1600" b="1" i="0">
                <a:solidFill>
                  <a:srgbClr val="FFFFFF"/>
                </a:solidFill>
                <a:latin typeface="Calibri"/>
              </a:rPr>
              <a:t>is the right mechanism</a:t>
            </a:r>
          </a:p>
        </p:txBody>
      </p:sp>
      <p:sp>
        <p:nvSpPr>
          <p:cNvPr id="16" name="Rectangle 15"/>
          <p:cNvSpPr/>
          <p:nvPr/>
        </p:nvSpPr>
        <p:spPr>
          <a:xfrm>
            <a:off x="6537960" y="2862072"/>
            <a:ext cx="50292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63640" y="2953512"/>
            <a:ext cx="5577840" cy="502920"/>
          </a:xfrm>
          <a:prstGeom prst="rect">
            <a:avLst/>
          </a:prstGeom>
          <a:noFill/>
        </p:spPr>
        <p:txBody>
          <a:bodyPr wrap="square">
            <a:spAutoFit/>
          </a:bodyPr>
          <a:lstStyle/>
          <a:p>
            <a:pPr algn="ctr"/>
            <a:r>
              <a:rPr sz="1300" b="0" i="1">
                <a:solidFill>
                  <a:srgbClr val="CCCCCC"/>
                </a:solidFill>
                <a:latin typeface="Calibri"/>
              </a:rPr>
              <a:t>aligns LLM incentives with
consumer welfare</a:t>
            </a:r>
          </a:p>
        </p:txBody>
      </p:sp>
      <p:sp>
        <p:nvSpPr>
          <p:cNvPr id="18" name="Rectangle 17"/>
          <p:cNvSpPr/>
          <p:nvPr/>
        </p:nvSpPr>
        <p:spPr>
          <a:xfrm>
            <a:off x="365760" y="3794760"/>
            <a:ext cx="5577840" cy="2468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3886200"/>
            <a:ext cx="5577840" cy="1097280"/>
          </a:xfrm>
          <a:prstGeom prst="rect">
            <a:avLst/>
          </a:prstGeom>
          <a:noFill/>
        </p:spPr>
        <p:txBody>
          <a:bodyPr wrap="square">
            <a:spAutoFit/>
          </a:bodyPr>
          <a:lstStyle/>
          <a:p>
            <a:pPr algn="ctr"/>
            <a:r>
              <a:rPr sz="5200" b="1" i="0">
                <a:solidFill>
                  <a:srgbClr val="F0AB00"/>
                </a:solidFill>
                <a:latin typeface="Calibri"/>
              </a:rPr>
              <a:t>≤ 0.20</a:t>
            </a:r>
          </a:p>
        </p:txBody>
      </p:sp>
      <p:sp>
        <p:nvSpPr>
          <p:cNvPr id="20" name="TextBox 19"/>
          <p:cNvSpPr txBox="1"/>
          <p:nvPr/>
        </p:nvSpPr>
        <p:spPr>
          <a:xfrm>
            <a:off x="365760" y="4983480"/>
            <a:ext cx="5577840" cy="594360"/>
          </a:xfrm>
          <a:prstGeom prst="rect">
            <a:avLst/>
          </a:prstGeom>
          <a:noFill/>
        </p:spPr>
        <p:txBody>
          <a:bodyPr wrap="square">
            <a:spAutoFit/>
          </a:bodyPr>
          <a:lstStyle/>
          <a:p>
            <a:pPr algn="ctr"/>
            <a:r>
              <a:rPr sz="1600" b="1" i="0">
                <a:solidFill>
                  <a:srgbClr val="FFFFFF"/>
                </a:solidFill>
                <a:latin typeface="Calibri"/>
              </a:rPr>
              <a:t>bias cap recommended</a:t>
            </a:r>
          </a:p>
        </p:txBody>
      </p:sp>
      <p:sp>
        <p:nvSpPr>
          <p:cNvPr id="21" name="Rectangle 20"/>
          <p:cNvSpPr/>
          <p:nvPr/>
        </p:nvSpPr>
        <p:spPr>
          <a:xfrm>
            <a:off x="640080" y="5605272"/>
            <a:ext cx="50292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5696712"/>
            <a:ext cx="5577840" cy="502920"/>
          </a:xfrm>
          <a:prstGeom prst="rect">
            <a:avLst/>
          </a:prstGeom>
          <a:noFill/>
        </p:spPr>
        <p:txBody>
          <a:bodyPr wrap="square">
            <a:spAutoFit/>
          </a:bodyPr>
          <a:lstStyle/>
          <a:p>
            <a:pPr algn="ctr"/>
            <a:r>
              <a:rPr sz="1300" b="0" i="1">
                <a:solidFill>
                  <a:srgbClr val="CCCCCC"/>
                </a:solidFill>
                <a:latin typeface="Calibri"/>
              </a:rPr>
              <a:t>above this, consumer harm
accelerates sharply</a:t>
            </a:r>
          </a:p>
        </p:txBody>
      </p:sp>
      <p:sp>
        <p:nvSpPr>
          <p:cNvPr id="23" name="Rectangle 22"/>
          <p:cNvSpPr/>
          <p:nvPr/>
        </p:nvSpPr>
        <p:spPr>
          <a:xfrm>
            <a:off x="6263640" y="3794760"/>
            <a:ext cx="5577840" cy="246888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3886200"/>
            <a:ext cx="5577840" cy="1097280"/>
          </a:xfrm>
          <a:prstGeom prst="rect">
            <a:avLst/>
          </a:prstGeom>
          <a:noFill/>
        </p:spPr>
        <p:txBody>
          <a:bodyPr wrap="square">
            <a:spAutoFit/>
          </a:bodyPr>
          <a:lstStyle/>
          <a:p>
            <a:pPr algn="ctr"/>
            <a:r>
              <a:rPr sz="5200" b="1" i="0">
                <a:solidFill>
                  <a:srgbClr val="F0AB00"/>
                </a:solidFill>
                <a:latin typeface="Calibri"/>
              </a:rPr>
              <a:t>CPC</a:t>
            </a:r>
          </a:p>
        </p:txBody>
      </p:sp>
      <p:sp>
        <p:nvSpPr>
          <p:cNvPr id="25" name="TextBox 24"/>
          <p:cNvSpPr txBox="1"/>
          <p:nvPr/>
        </p:nvSpPr>
        <p:spPr>
          <a:xfrm>
            <a:off x="6263640" y="4983480"/>
            <a:ext cx="5577840" cy="594360"/>
          </a:xfrm>
          <a:prstGeom prst="rect">
            <a:avLst/>
          </a:prstGeom>
          <a:noFill/>
        </p:spPr>
        <p:txBody>
          <a:bodyPr wrap="square">
            <a:spAutoFit/>
          </a:bodyPr>
          <a:lstStyle/>
          <a:p>
            <a:pPr algn="ctr"/>
            <a:r>
              <a:rPr sz="1600" b="1" i="0">
                <a:solidFill>
                  <a:srgbClr val="FFFFFF"/>
                </a:solidFill>
                <a:latin typeface="Calibri"/>
              </a:rPr>
              <a:t>causes worst distortion</a:t>
            </a:r>
          </a:p>
        </p:txBody>
      </p:sp>
      <p:sp>
        <p:nvSpPr>
          <p:cNvPr id="26" name="Rectangle 25"/>
          <p:cNvSpPr/>
          <p:nvPr/>
        </p:nvSpPr>
        <p:spPr>
          <a:xfrm>
            <a:off x="6537960" y="5605272"/>
            <a:ext cx="5029200" cy="1905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63640" y="5696712"/>
            <a:ext cx="5577840" cy="502920"/>
          </a:xfrm>
          <a:prstGeom prst="rect">
            <a:avLst/>
          </a:prstGeom>
          <a:noFill/>
        </p:spPr>
        <p:txBody>
          <a:bodyPr wrap="square">
            <a:spAutoFit/>
          </a:bodyPr>
          <a:lstStyle/>
          <a:p>
            <a:pPr algn="ctr"/>
            <a:r>
              <a:rPr sz="1300" b="0" i="1">
                <a:solidFill>
                  <a:srgbClr val="CCCCCC"/>
                </a:solidFill>
                <a:latin typeface="Calibri"/>
              </a:rPr>
              <a:t>winner-take-share; 66.7%
FoodRush under CPC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What the model does not yet capture</a:t>
            </a:r>
          </a:p>
        </p:txBody>
      </p:sp>
      <p:sp>
        <p:nvSpPr>
          <p:cNvPr id="8" name="Rectangle 7"/>
          <p:cNvSpPr/>
          <p:nvPr/>
        </p:nvSpPr>
        <p:spPr>
          <a:xfrm>
            <a:off x="365760" y="1051560"/>
            <a:ext cx="5577840" cy="148132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143000"/>
            <a:ext cx="5303520" cy="365760"/>
          </a:xfrm>
          <a:prstGeom prst="rect">
            <a:avLst/>
          </a:prstGeom>
          <a:noFill/>
        </p:spPr>
        <p:txBody>
          <a:bodyPr wrap="square">
            <a:spAutoFit/>
          </a:bodyPr>
          <a:lstStyle/>
          <a:p>
            <a:pPr algn="l"/>
            <a:r>
              <a:rPr sz="1400" b="1" i="0">
                <a:solidFill>
                  <a:srgbClr val="F0AB00"/>
                </a:solidFill>
                <a:latin typeface="Calibri"/>
              </a:rPr>
              <a:t>Static model</a:t>
            </a:r>
          </a:p>
        </p:txBody>
      </p:sp>
      <p:sp>
        <p:nvSpPr>
          <p:cNvPr id="10" name="TextBox 9"/>
          <p:cNvSpPr txBox="1"/>
          <p:nvPr/>
        </p:nvSpPr>
        <p:spPr>
          <a:xfrm>
            <a:off x="502920" y="1508760"/>
            <a:ext cx="5321808" cy="914400"/>
          </a:xfrm>
          <a:prstGeom prst="rect">
            <a:avLst/>
          </a:prstGeom>
          <a:noFill/>
        </p:spPr>
        <p:txBody>
          <a:bodyPr wrap="square">
            <a:spAutoFit/>
          </a:bodyPr>
          <a:lstStyle/>
          <a:p>
            <a:pPr algn="l"/>
            <a:r>
              <a:rPr sz="1200" b="0" i="0">
                <a:solidFill>
                  <a:srgbClr val="D6E4F0"/>
                </a:solidFill>
                <a:latin typeface="Calibri"/>
              </a:rPr>
              <a:t>One-shot interactions. No repeated strategic adaptation by platforms or restaurants.</a:t>
            </a:r>
          </a:p>
        </p:txBody>
      </p:sp>
      <p:sp>
        <p:nvSpPr>
          <p:cNvPr id="11" name="Rectangle 10"/>
          <p:cNvSpPr/>
          <p:nvPr/>
        </p:nvSpPr>
        <p:spPr>
          <a:xfrm>
            <a:off x="6263640" y="1051560"/>
            <a:ext cx="5577840" cy="148132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1143000"/>
            <a:ext cx="5303520" cy="365760"/>
          </a:xfrm>
          <a:prstGeom prst="rect">
            <a:avLst/>
          </a:prstGeom>
          <a:noFill/>
        </p:spPr>
        <p:txBody>
          <a:bodyPr wrap="square">
            <a:spAutoFit/>
          </a:bodyPr>
          <a:lstStyle/>
          <a:p>
            <a:pPr algn="l"/>
            <a:r>
              <a:rPr sz="1400" b="1" i="0">
                <a:solidFill>
                  <a:srgbClr val="F0AB00"/>
                </a:solidFill>
                <a:latin typeface="Calibri"/>
              </a:rPr>
              <a:t>Restaurant pricing</a:t>
            </a:r>
          </a:p>
        </p:txBody>
      </p:sp>
      <p:sp>
        <p:nvSpPr>
          <p:cNvPr id="13" name="TextBox 12"/>
          <p:cNvSpPr txBox="1"/>
          <p:nvPr/>
        </p:nvSpPr>
        <p:spPr>
          <a:xfrm>
            <a:off x="6400800" y="1508760"/>
            <a:ext cx="5321808" cy="914400"/>
          </a:xfrm>
          <a:prstGeom prst="rect">
            <a:avLst/>
          </a:prstGeom>
          <a:noFill/>
        </p:spPr>
        <p:txBody>
          <a:bodyPr wrap="square">
            <a:spAutoFit/>
          </a:bodyPr>
          <a:lstStyle/>
          <a:p>
            <a:pPr algn="l"/>
            <a:r>
              <a:rPr sz="1200" b="0" i="0">
                <a:solidFill>
                  <a:srgbClr val="D6E4F0"/>
                </a:solidFill>
                <a:latin typeface="Calibri"/>
              </a:rPr>
              <a:t>Restaurants do not dynamically adjust prices, commissions, or promotions.</a:t>
            </a:r>
          </a:p>
        </p:txBody>
      </p:sp>
      <p:sp>
        <p:nvSpPr>
          <p:cNvPr id="14" name="Rectangle 13"/>
          <p:cNvSpPr/>
          <p:nvPr/>
        </p:nvSpPr>
        <p:spPr>
          <a:xfrm>
            <a:off x="365760" y="2715768"/>
            <a:ext cx="5577840" cy="148132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807208"/>
            <a:ext cx="5303520" cy="365760"/>
          </a:xfrm>
          <a:prstGeom prst="rect">
            <a:avLst/>
          </a:prstGeom>
          <a:noFill/>
        </p:spPr>
        <p:txBody>
          <a:bodyPr wrap="square">
            <a:spAutoFit/>
          </a:bodyPr>
          <a:lstStyle/>
          <a:p>
            <a:pPr algn="l"/>
            <a:r>
              <a:rPr sz="1400" b="1" i="0">
                <a:solidFill>
                  <a:srgbClr val="F0AB00"/>
                </a:solidFill>
                <a:latin typeface="Calibri"/>
              </a:rPr>
              <a:t>Platform-internal sponsorship</a:t>
            </a:r>
          </a:p>
        </p:txBody>
      </p:sp>
      <p:sp>
        <p:nvSpPr>
          <p:cNvPr id="16" name="TextBox 15"/>
          <p:cNvSpPr txBox="1"/>
          <p:nvPr/>
        </p:nvSpPr>
        <p:spPr>
          <a:xfrm>
            <a:off x="502920" y="3172968"/>
            <a:ext cx="5321808" cy="914400"/>
          </a:xfrm>
          <a:prstGeom prst="rect">
            <a:avLst/>
          </a:prstGeom>
          <a:noFill/>
        </p:spPr>
        <p:txBody>
          <a:bodyPr wrap="square">
            <a:spAutoFit/>
          </a:bodyPr>
          <a:lstStyle/>
          <a:p>
            <a:pPr algn="l"/>
            <a:r>
              <a:rPr sz="1200" b="0" i="0">
                <a:solidFill>
                  <a:srgbClr val="D6E4F0"/>
                </a:solidFill>
                <a:latin typeface="Calibri"/>
              </a:rPr>
              <a:t>Modeled as a ranking factor, not explicit restaurant ad payments to platforms.</a:t>
            </a:r>
          </a:p>
        </p:txBody>
      </p:sp>
      <p:sp>
        <p:nvSpPr>
          <p:cNvPr id="17" name="Rectangle 16"/>
          <p:cNvSpPr/>
          <p:nvPr/>
        </p:nvSpPr>
        <p:spPr>
          <a:xfrm>
            <a:off x="6263640" y="2715768"/>
            <a:ext cx="5577840" cy="148132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807208"/>
            <a:ext cx="5303520" cy="365760"/>
          </a:xfrm>
          <a:prstGeom prst="rect">
            <a:avLst/>
          </a:prstGeom>
          <a:noFill/>
        </p:spPr>
        <p:txBody>
          <a:bodyPr wrap="square">
            <a:spAutoFit/>
          </a:bodyPr>
          <a:lstStyle/>
          <a:p>
            <a:pPr algn="l"/>
            <a:r>
              <a:rPr sz="1400" b="1" i="0">
                <a:solidFill>
                  <a:srgbClr val="F0AB00"/>
                </a:solidFill>
                <a:latin typeface="Calibri"/>
              </a:rPr>
              <a:t>Platform opt-out</a:t>
            </a:r>
          </a:p>
        </p:txBody>
      </p:sp>
      <p:sp>
        <p:nvSpPr>
          <p:cNvPr id="19" name="TextBox 18"/>
          <p:cNvSpPr txBox="1"/>
          <p:nvPr/>
        </p:nvSpPr>
        <p:spPr>
          <a:xfrm>
            <a:off x="6400800" y="3172968"/>
            <a:ext cx="5321808" cy="914400"/>
          </a:xfrm>
          <a:prstGeom prst="rect">
            <a:avLst/>
          </a:prstGeom>
          <a:noFill/>
        </p:spPr>
        <p:txBody>
          <a:bodyPr wrap="square">
            <a:spAutoFit/>
          </a:bodyPr>
          <a:lstStyle/>
          <a:p>
            <a:pPr algn="l"/>
            <a:r>
              <a:rPr sz="1200" b="0" i="0">
                <a:solidFill>
                  <a:srgbClr val="D6E4F0"/>
                </a:solidFill>
                <a:latin typeface="Calibri"/>
              </a:rPr>
              <a:t>Platforms cannot withhold inventory from the LLM as a bargaining response.</a:t>
            </a:r>
          </a:p>
        </p:txBody>
      </p:sp>
      <p:sp>
        <p:nvSpPr>
          <p:cNvPr id="20" name="Rectangle 19"/>
          <p:cNvSpPr/>
          <p:nvPr/>
        </p:nvSpPr>
        <p:spPr>
          <a:xfrm>
            <a:off x="365760" y="4379976"/>
            <a:ext cx="5577840" cy="148132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2920" y="4471416"/>
            <a:ext cx="5303520" cy="365760"/>
          </a:xfrm>
          <a:prstGeom prst="rect">
            <a:avLst/>
          </a:prstGeom>
          <a:noFill/>
        </p:spPr>
        <p:txBody>
          <a:bodyPr wrap="square">
            <a:spAutoFit/>
          </a:bodyPr>
          <a:lstStyle/>
          <a:p>
            <a:pPr algn="l"/>
            <a:r>
              <a:rPr sz="1400" b="1" i="0">
                <a:solidFill>
                  <a:srgbClr val="F0AB00"/>
                </a:solidFill>
                <a:latin typeface="Calibri"/>
              </a:rPr>
              <a:t>Cuisine similarity</a:t>
            </a:r>
          </a:p>
        </p:txBody>
      </p:sp>
      <p:sp>
        <p:nvSpPr>
          <p:cNvPr id="22" name="TextBox 21"/>
          <p:cNvSpPr txBox="1"/>
          <p:nvPr/>
        </p:nvSpPr>
        <p:spPr>
          <a:xfrm>
            <a:off x="502920" y="4837176"/>
            <a:ext cx="5321808" cy="914400"/>
          </a:xfrm>
          <a:prstGeom prst="rect">
            <a:avLst/>
          </a:prstGeom>
          <a:noFill/>
        </p:spPr>
        <p:txBody>
          <a:bodyPr wrap="square">
            <a:spAutoFit/>
          </a:bodyPr>
          <a:lstStyle/>
          <a:p>
            <a:pPr algn="l"/>
            <a:r>
              <a:rPr sz="1200" b="0" i="0">
                <a:solidFill>
                  <a:srgbClr val="D6E4F0"/>
                </a:solidFill>
                <a:latin typeface="Calibri"/>
              </a:rPr>
              <a:t>Match uses a hand-coded distance table, not semantic embeddings.</a:t>
            </a:r>
          </a:p>
        </p:txBody>
      </p:sp>
      <p:sp>
        <p:nvSpPr>
          <p:cNvPr id="23" name="Rectangle 22"/>
          <p:cNvSpPr/>
          <p:nvPr/>
        </p:nvSpPr>
        <p:spPr>
          <a:xfrm>
            <a:off x="6263640" y="4379976"/>
            <a:ext cx="5577840" cy="148132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4471416"/>
            <a:ext cx="5303520" cy="365760"/>
          </a:xfrm>
          <a:prstGeom prst="rect">
            <a:avLst/>
          </a:prstGeom>
          <a:noFill/>
        </p:spPr>
        <p:txBody>
          <a:bodyPr wrap="square">
            <a:spAutoFit/>
          </a:bodyPr>
          <a:lstStyle/>
          <a:p>
            <a:pPr algn="l"/>
            <a:r>
              <a:rPr sz="1400" b="1" i="0">
                <a:solidFill>
                  <a:srgbClr val="F0AB00"/>
                </a:solidFill>
                <a:latin typeface="Calibri"/>
              </a:rPr>
              <a:t>Multi-LLM competition</a:t>
            </a:r>
          </a:p>
        </p:txBody>
      </p:sp>
      <p:sp>
        <p:nvSpPr>
          <p:cNvPr id="25" name="TextBox 24"/>
          <p:cNvSpPr txBox="1"/>
          <p:nvPr/>
        </p:nvSpPr>
        <p:spPr>
          <a:xfrm>
            <a:off x="6400800" y="4837176"/>
            <a:ext cx="5321808" cy="914400"/>
          </a:xfrm>
          <a:prstGeom prst="rect">
            <a:avLst/>
          </a:prstGeom>
          <a:noFill/>
        </p:spPr>
        <p:txBody>
          <a:bodyPr wrap="square">
            <a:spAutoFit/>
          </a:bodyPr>
          <a:lstStyle/>
          <a:p>
            <a:pPr algn="l"/>
            <a:r>
              <a:rPr sz="1200" b="0" i="0">
                <a:solidFill>
                  <a:srgbClr val="D6E4F0"/>
                </a:solidFill>
                <a:latin typeface="Calibri"/>
              </a:rPr>
              <a:t>One LLM intermediary only. Competition between LLMs would shift platform bargaining power.</a:t>
            </a:r>
          </a:p>
        </p:txBody>
      </p:sp>
      <p:sp>
        <p:nvSpPr>
          <p:cNvPr id="26" name="TextBox 25"/>
          <p:cNvSpPr txBox="1"/>
          <p:nvPr/>
        </p:nvSpPr>
        <p:spPr>
          <a:xfrm>
            <a:off x="365760" y="6199632"/>
            <a:ext cx="11430000" cy="411480"/>
          </a:xfrm>
          <a:prstGeom prst="rect">
            <a:avLst/>
          </a:prstGeom>
          <a:noFill/>
        </p:spPr>
        <p:txBody>
          <a:bodyPr wrap="square">
            <a:spAutoFit/>
          </a:bodyPr>
          <a:lstStyle/>
          <a:p>
            <a:pPr algn="ctr"/>
            <a:r>
              <a:rPr sz="1300" b="0" i="1">
                <a:solidFill>
                  <a:srgbClr val="888899"/>
                </a:solidFill>
                <a:latin typeface="Calibri"/>
              </a:rPr>
              <a:t>These are directions for future work, not fatal flaws in the simulation design.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246120"/>
            <a:ext cx="12188952" cy="635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6" name="TextBox 5"/>
          <p:cNvSpPr txBox="1"/>
          <p:nvPr/>
        </p:nvSpPr>
        <p:spPr>
          <a:xfrm>
            <a:off x="731520" y="502920"/>
            <a:ext cx="10698480" cy="868680"/>
          </a:xfrm>
          <a:prstGeom prst="rect">
            <a:avLst/>
          </a:prstGeom>
          <a:noFill/>
        </p:spPr>
        <p:txBody>
          <a:bodyPr wrap="square">
            <a:spAutoFit/>
          </a:bodyPr>
          <a:lstStyle/>
          <a:p>
            <a:pPr algn="ctr"/>
            <a:r>
              <a:rPr sz="3000" b="1" i="0">
                <a:solidFill>
                  <a:srgbClr val="FFFFFF"/>
                </a:solidFill>
                <a:latin typeface="Calibri"/>
              </a:rPr>
              <a:t>LLM intermediation is not automatically good or bad</a:t>
            </a:r>
          </a:p>
        </p:txBody>
      </p:sp>
      <p:sp>
        <p:nvSpPr>
          <p:cNvPr id="7" name="TextBox 6"/>
          <p:cNvSpPr txBox="1"/>
          <p:nvPr/>
        </p:nvSpPr>
        <p:spPr>
          <a:xfrm>
            <a:off x="731520" y="1417320"/>
            <a:ext cx="10698480" cy="594360"/>
          </a:xfrm>
          <a:prstGeom prst="rect">
            <a:avLst/>
          </a:prstGeom>
          <a:noFill/>
        </p:spPr>
        <p:txBody>
          <a:bodyPr wrap="square">
            <a:spAutoFit/>
          </a:bodyPr>
          <a:lstStyle/>
          <a:p>
            <a:pPr algn="ctr"/>
            <a:r>
              <a:rPr sz="1800" b="0" i="1">
                <a:solidFill>
                  <a:srgbClr val="D6E4F0"/>
                </a:solidFill>
                <a:latin typeface="Calibri"/>
              </a:rPr>
              <a:t>Neutral LLM ranking helps consumers.  Payment design determines whether it stays that way.</a:t>
            </a:r>
          </a:p>
        </p:txBody>
      </p:sp>
      <p:sp>
        <p:nvSpPr>
          <p:cNvPr id="8" name="Rectangle 7"/>
          <p:cNvSpPr/>
          <p:nvPr/>
        </p:nvSpPr>
        <p:spPr>
          <a:xfrm>
            <a:off x="731520" y="2148840"/>
            <a:ext cx="10698480" cy="10515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231136"/>
            <a:ext cx="10515600" cy="502920"/>
          </a:xfrm>
          <a:prstGeom prst="rect">
            <a:avLst/>
          </a:prstGeom>
          <a:noFill/>
        </p:spPr>
        <p:txBody>
          <a:bodyPr wrap="square">
            <a:spAutoFit/>
          </a:bodyPr>
          <a:lstStyle/>
          <a:p>
            <a:pPr algn="ctr"/>
            <a:r>
              <a:rPr sz="2000" b="1" i="0">
                <a:solidFill>
                  <a:srgbClr val="F0AB00"/>
                </a:solidFill>
                <a:latin typeface="Calibri"/>
              </a:rPr>
              <a:t>Recommended design:  Cost Per Fulfilled Intent  +  bias cap ≤ 0.20</a:t>
            </a:r>
          </a:p>
        </p:txBody>
      </p:sp>
      <p:sp>
        <p:nvSpPr>
          <p:cNvPr id="10" name="TextBox 9"/>
          <p:cNvSpPr txBox="1"/>
          <p:nvPr/>
        </p:nvSpPr>
        <p:spPr>
          <a:xfrm>
            <a:off x="822960" y="2743200"/>
            <a:ext cx="10515600" cy="384048"/>
          </a:xfrm>
          <a:prstGeom prst="rect">
            <a:avLst/>
          </a:prstGeom>
          <a:noFill/>
        </p:spPr>
        <p:txBody>
          <a:bodyPr wrap="square">
            <a:spAutoFit/>
          </a:bodyPr>
          <a:lstStyle/>
          <a:p>
            <a:pPr algn="ctr"/>
            <a:r>
              <a:rPr sz="1400" b="0" i="1">
                <a:solidFill>
                  <a:srgbClr val="D6E4F0"/>
                </a:solidFill>
                <a:latin typeface="Calibri"/>
              </a:rPr>
              <a:t>Outcome-contingent payment preserves consumer welfare.  Explicit bias caps prevent regulatory capture.</a:t>
            </a:r>
          </a:p>
        </p:txBody>
      </p:sp>
      <p:sp>
        <p:nvSpPr>
          <p:cNvPr id="11" name="TextBox 10"/>
          <p:cNvSpPr txBox="1"/>
          <p:nvPr/>
        </p:nvSpPr>
        <p:spPr>
          <a:xfrm>
            <a:off x="731520" y="3474720"/>
            <a:ext cx="10698480" cy="1188720"/>
          </a:xfrm>
          <a:prstGeom prst="rect">
            <a:avLst/>
          </a:prstGeom>
          <a:noFill/>
        </p:spPr>
        <p:txBody>
          <a:bodyPr wrap="square">
            <a:spAutoFit/>
          </a:bodyPr>
          <a:lstStyle/>
          <a:p>
            <a:pPr algn="ctr"/>
            <a:r>
              <a:rPr sz="2200" b="1" i="0">
                <a:solidFill>
                  <a:srgbClr val="FFFFFF"/>
                </a:solidFill>
                <a:latin typeface="Calibri"/>
              </a:rPr>
              <a:t>The future of AI-mediated marketplaces depends less on whether AI recommends products,
and more on what the AI is paid to optimize.</a:t>
            </a:r>
          </a:p>
        </p:txBody>
      </p:sp>
      <p:sp>
        <p:nvSpPr>
          <p:cNvPr id="12" name="TextBox 11"/>
          <p:cNvSpPr txBox="1"/>
          <p:nvPr/>
        </p:nvSpPr>
        <p:spPr>
          <a:xfrm>
            <a:off x="914400" y="5074920"/>
            <a:ext cx="10332720" cy="365760"/>
          </a:xfrm>
          <a:prstGeom prst="rect">
            <a:avLst/>
          </a:prstGeom>
          <a:noFill/>
        </p:spPr>
        <p:txBody>
          <a:bodyPr wrap="square">
            <a:spAutoFit/>
          </a:bodyPr>
          <a:lstStyle/>
          <a:p>
            <a:pPr algn="ctr"/>
            <a:r>
              <a:rPr sz="1300" b="0" i="0">
                <a:solidFill>
                  <a:srgbClr val="7FA7CC"/>
                </a:solidFill>
                <a:latin typeface="Calibri"/>
              </a:rPr>
              <a:t>Columbia University  ·  Digital Marketplaces  ·  Spring 2026</a:t>
            </a:r>
          </a:p>
        </p:txBody>
      </p:sp>
      <p:sp>
        <p:nvSpPr>
          <p:cNvPr id="13" name="TextBox 12"/>
          <p:cNvSpPr txBox="1"/>
          <p:nvPr/>
        </p:nvSpPr>
        <p:spPr>
          <a:xfrm>
            <a:off x="914400" y="5577840"/>
            <a:ext cx="10332720" cy="457200"/>
          </a:xfrm>
          <a:prstGeom prst="rect">
            <a:avLst/>
          </a:prstGeom>
          <a:noFill/>
        </p:spPr>
        <p:txBody>
          <a:bodyPr wrap="square">
            <a:spAutoFit/>
          </a:bodyPr>
          <a:lstStyle/>
          <a:p>
            <a:pPr algn="ctr"/>
            <a:r>
              <a:rPr sz="2400" b="0" i="1">
                <a:solidFill>
                  <a:srgbClr val="F0AB00"/>
                </a:solidFill>
                <a:latin typeface="Calibri"/>
              </a:rPr>
              <a:t>Questions?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Simulation Pipeline</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A</a:t>
            </a:r>
          </a:p>
        </p:txBody>
      </p:sp>
      <p:sp>
        <p:nvSpPr>
          <p:cNvPr id="10" name="Rectangle 9"/>
          <p:cNvSpPr/>
          <p:nvPr/>
        </p:nvSpPr>
        <p:spPr>
          <a:xfrm>
            <a:off x="274320" y="1051560"/>
            <a:ext cx="3657600" cy="22402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106424"/>
            <a:ext cx="3657600" cy="502920"/>
          </a:xfrm>
          <a:prstGeom prst="rect">
            <a:avLst/>
          </a:prstGeom>
          <a:noFill/>
        </p:spPr>
        <p:txBody>
          <a:bodyPr wrap="square">
            <a:spAutoFit/>
          </a:bodyPr>
          <a:lstStyle/>
          <a:p>
            <a:pPr algn="ctr"/>
            <a:r>
              <a:rPr sz="3200" b="1" i="0">
                <a:solidFill>
                  <a:srgbClr val="F0AB00"/>
                </a:solidFill>
                <a:latin typeface="Calibri"/>
              </a:rPr>
              <a:t>1</a:t>
            </a:r>
          </a:p>
        </p:txBody>
      </p:sp>
      <p:sp>
        <p:nvSpPr>
          <p:cNvPr id="12" name="TextBox 11"/>
          <p:cNvSpPr txBox="1"/>
          <p:nvPr/>
        </p:nvSpPr>
        <p:spPr>
          <a:xfrm>
            <a:off x="274320" y="1627632"/>
            <a:ext cx="3657600" cy="566928"/>
          </a:xfrm>
          <a:prstGeom prst="rect">
            <a:avLst/>
          </a:prstGeom>
          <a:noFill/>
        </p:spPr>
        <p:txBody>
          <a:bodyPr wrap="square">
            <a:spAutoFit/>
          </a:bodyPr>
          <a:lstStyle/>
          <a:p>
            <a:pPr algn="ctr"/>
            <a:r>
              <a:rPr sz="1300" b="1" i="0">
                <a:solidFill>
                  <a:srgbClr val="FFFFFF"/>
                </a:solidFill>
                <a:latin typeface="Calibri"/>
              </a:rPr>
              <a:t>Generate
market primitives</a:t>
            </a:r>
          </a:p>
        </p:txBody>
      </p:sp>
      <p:sp>
        <p:nvSpPr>
          <p:cNvPr id="13" name="Rectangle 12"/>
          <p:cNvSpPr/>
          <p:nvPr/>
        </p:nvSpPr>
        <p:spPr>
          <a:xfrm>
            <a:off x="457200" y="2221992"/>
            <a:ext cx="3291840" cy="127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331720"/>
            <a:ext cx="3474720" cy="822960"/>
          </a:xfrm>
          <a:prstGeom prst="rect">
            <a:avLst/>
          </a:prstGeom>
          <a:noFill/>
        </p:spPr>
        <p:txBody>
          <a:bodyPr wrap="square">
            <a:spAutoFit/>
          </a:bodyPr>
          <a:lstStyle/>
          <a:p>
            <a:pPr algn="ctr"/>
            <a:r>
              <a:rPr sz="1100" b="0" i="0">
                <a:solidFill>
                  <a:srgbClr val="DDDDDD"/>
                </a:solidFill>
                <a:latin typeface="Calibri"/>
              </a:rPr>
              <a:t>3 platforms · 50 restaurants
1,000 consumers · offers</a:t>
            </a:r>
          </a:p>
        </p:txBody>
      </p:sp>
      <p:sp>
        <p:nvSpPr>
          <p:cNvPr id="15" name="TextBox 14"/>
          <p:cNvSpPr txBox="1"/>
          <p:nvPr/>
        </p:nvSpPr>
        <p:spPr>
          <a:xfrm>
            <a:off x="4005072" y="1965960"/>
            <a:ext cx="91440" cy="411480"/>
          </a:xfrm>
          <a:prstGeom prst="rect">
            <a:avLst/>
          </a:prstGeom>
          <a:noFill/>
        </p:spPr>
        <p:txBody>
          <a:bodyPr wrap="square">
            <a:spAutoFit/>
          </a:bodyPr>
          <a:lstStyle/>
          <a:p>
            <a:pPr algn="ctr"/>
            <a:r>
              <a:rPr sz="1800" b="1" i="0">
                <a:solidFill>
                  <a:srgbClr val="888899"/>
                </a:solidFill>
                <a:latin typeface="Calibri"/>
              </a:rPr>
              <a:t>→</a:t>
            </a:r>
          </a:p>
        </p:txBody>
      </p:sp>
      <p:sp>
        <p:nvSpPr>
          <p:cNvPr id="16" name="Rectangle 15"/>
          <p:cNvSpPr/>
          <p:nvPr/>
        </p:nvSpPr>
        <p:spPr>
          <a:xfrm>
            <a:off x="4133088" y="1051560"/>
            <a:ext cx="3657600" cy="224028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33088" y="1106424"/>
            <a:ext cx="3657600" cy="502920"/>
          </a:xfrm>
          <a:prstGeom prst="rect">
            <a:avLst/>
          </a:prstGeom>
          <a:noFill/>
        </p:spPr>
        <p:txBody>
          <a:bodyPr wrap="square">
            <a:spAutoFit/>
          </a:bodyPr>
          <a:lstStyle/>
          <a:p>
            <a:pPr algn="ctr"/>
            <a:r>
              <a:rPr sz="3200" b="1" i="0">
                <a:solidFill>
                  <a:srgbClr val="F0AB00"/>
                </a:solidFill>
                <a:latin typeface="Calibri"/>
              </a:rPr>
              <a:t>2</a:t>
            </a:r>
          </a:p>
        </p:txBody>
      </p:sp>
      <p:sp>
        <p:nvSpPr>
          <p:cNvPr id="18" name="TextBox 17"/>
          <p:cNvSpPr txBox="1"/>
          <p:nvPr/>
        </p:nvSpPr>
        <p:spPr>
          <a:xfrm>
            <a:off x="4133088" y="1627632"/>
            <a:ext cx="3657600" cy="566928"/>
          </a:xfrm>
          <a:prstGeom prst="rect">
            <a:avLst/>
          </a:prstGeom>
          <a:noFill/>
        </p:spPr>
        <p:txBody>
          <a:bodyPr wrap="square">
            <a:spAutoFit/>
          </a:bodyPr>
          <a:lstStyle/>
          <a:p>
            <a:pPr algn="ctr"/>
            <a:r>
              <a:rPr sz="1300" b="1" i="0">
                <a:solidFill>
                  <a:srgbClr val="FFFFFF"/>
                </a:solidFill>
                <a:latin typeface="Calibri"/>
              </a:rPr>
              <a:t>Sample
consumer intent</a:t>
            </a:r>
          </a:p>
        </p:txBody>
      </p:sp>
      <p:sp>
        <p:nvSpPr>
          <p:cNvPr id="19" name="Rectangle 18"/>
          <p:cNvSpPr/>
          <p:nvPr/>
        </p:nvSpPr>
        <p:spPr>
          <a:xfrm>
            <a:off x="4315968" y="2221992"/>
            <a:ext cx="3291840" cy="127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224528" y="2331720"/>
            <a:ext cx="3474720" cy="822960"/>
          </a:xfrm>
          <a:prstGeom prst="rect">
            <a:avLst/>
          </a:prstGeom>
          <a:noFill/>
        </p:spPr>
        <p:txBody>
          <a:bodyPr wrap="square">
            <a:spAutoFit/>
          </a:bodyPr>
          <a:lstStyle/>
          <a:p>
            <a:pPr algn="ctr"/>
            <a:r>
              <a:rPr sz="1100" b="0" i="0">
                <a:solidFill>
                  <a:srgbClr val="DDDDDD"/>
                </a:solidFill>
                <a:latin typeface="Calibri"/>
              </a:rPr>
              <a:t>cuisine · budget
max delivery time</a:t>
            </a:r>
          </a:p>
        </p:txBody>
      </p:sp>
      <p:sp>
        <p:nvSpPr>
          <p:cNvPr id="21" name="TextBox 20"/>
          <p:cNvSpPr txBox="1"/>
          <p:nvPr/>
        </p:nvSpPr>
        <p:spPr>
          <a:xfrm>
            <a:off x="7863840" y="1965960"/>
            <a:ext cx="91440" cy="411480"/>
          </a:xfrm>
          <a:prstGeom prst="rect">
            <a:avLst/>
          </a:prstGeom>
          <a:noFill/>
        </p:spPr>
        <p:txBody>
          <a:bodyPr wrap="square">
            <a:spAutoFit/>
          </a:bodyPr>
          <a:lstStyle/>
          <a:p>
            <a:pPr algn="ctr"/>
            <a:r>
              <a:rPr sz="1800" b="1" i="0">
                <a:solidFill>
                  <a:srgbClr val="888899"/>
                </a:solidFill>
                <a:latin typeface="Calibri"/>
              </a:rPr>
              <a:t>→</a:t>
            </a:r>
          </a:p>
        </p:txBody>
      </p:sp>
      <p:sp>
        <p:nvSpPr>
          <p:cNvPr id="22" name="Rectangle 21"/>
          <p:cNvSpPr/>
          <p:nvPr/>
        </p:nvSpPr>
        <p:spPr>
          <a:xfrm>
            <a:off x="7991856" y="1051560"/>
            <a:ext cx="3657600" cy="22402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91856" y="1106424"/>
            <a:ext cx="3657600" cy="502920"/>
          </a:xfrm>
          <a:prstGeom prst="rect">
            <a:avLst/>
          </a:prstGeom>
          <a:noFill/>
        </p:spPr>
        <p:txBody>
          <a:bodyPr wrap="square">
            <a:spAutoFit/>
          </a:bodyPr>
          <a:lstStyle/>
          <a:p>
            <a:pPr algn="ctr"/>
            <a:r>
              <a:rPr sz="3200" b="1" i="0">
                <a:solidFill>
                  <a:srgbClr val="F0AB00"/>
                </a:solidFill>
                <a:latin typeface="Calibri"/>
              </a:rPr>
              <a:t>3</a:t>
            </a:r>
          </a:p>
        </p:txBody>
      </p:sp>
      <p:sp>
        <p:nvSpPr>
          <p:cNvPr id="24" name="TextBox 23"/>
          <p:cNvSpPr txBox="1"/>
          <p:nvPr/>
        </p:nvSpPr>
        <p:spPr>
          <a:xfrm>
            <a:off x="7991856" y="1627632"/>
            <a:ext cx="3657600" cy="566928"/>
          </a:xfrm>
          <a:prstGeom prst="rect">
            <a:avLst/>
          </a:prstGeom>
          <a:noFill/>
        </p:spPr>
        <p:txBody>
          <a:bodyPr wrap="square">
            <a:spAutoFit/>
          </a:bodyPr>
          <a:lstStyle/>
          <a:p>
            <a:pPr algn="ctr"/>
            <a:r>
              <a:rPr sz="1300" b="1" i="0">
                <a:solidFill>
                  <a:srgbClr val="FFFFFF"/>
                </a:solidFill>
                <a:latin typeface="Calibri"/>
              </a:rPr>
              <a:t>Generate
choice set</a:t>
            </a:r>
          </a:p>
        </p:txBody>
      </p:sp>
      <p:sp>
        <p:nvSpPr>
          <p:cNvPr id="25" name="Rectangle 24"/>
          <p:cNvSpPr/>
          <p:nvPr/>
        </p:nvSpPr>
        <p:spPr>
          <a:xfrm>
            <a:off x="8174736" y="2221992"/>
            <a:ext cx="3291840" cy="127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83296" y="2331720"/>
            <a:ext cx="3474720" cy="822960"/>
          </a:xfrm>
          <a:prstGeom prst="rect">
            <a:avLst/>
          </a:prstGeom>
          <a:noFill/>
        </p:spPr>
        <p:txBody>
          <a:bodyPr wrap="square">
            <a:spAutoFit/>
          </a:bodyPr>
          <a:lstStyle/>
          <a:p>
            <a:pPr algn="ctr"/>
            <a:r>
              <a:rPr sz="1100" b="0" i="0">
                <a:solidFill>
                  <a:srgbClr val="DDDDDD"/>
                </a:solidFill>
                <a:latin typeface="Calibri"/>
              </a:rPr>
              <a:t>No-LLM: top-5 per platform
LLM: top-5 cross-platform</a:t>
            </a:r>
          </a:p>
        </p:txBody>
      </p:sp>
      <p:sp>
        <p:nvSpPr>
          <p:cNvPr id="27" name="Rectangle 26"/>
          <p:cNvSpPr/>
          <p:nvPr/>
        </p:nvSpPr>
        <p:spPr>
          <a:xfrm>
            <a:off x="274320" y="3566160"/>
            <a:ext cx="3657600" cy="224028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4320" y="3621024"/>
            <a:ext cx="3657600" cy="502920"/>
          </a:xfrm>
          <a:prstGeom prst="rect">
            <a:avLst/>
          </a:prstGeom>
          <a:noFill/>
        </p:spPr>
        <p:txBody>
          <a:bodyPr wrap="square">
            <a:spAutoFit/>
          </a:bodyPr>
          <a:lstStyle/>
          <a:p>
            <a:pPr algn="ctr"/>
            <a:r>
              <a:rPr sz="3200" b="1" i="0">
                <a:solidFill>
                  <a:srgbClr val="F0AB00"/>
                </a:solidFill>
                <a:latin typeface="Calibri"/>
              </a:rPr>
              <a:t>4</a:t>
            </a:r>
          </a:p>
        </p:txBody>
      </p:sp>
      <p:sp>
        <p:nvSpPr>
          <p:cNvPr id="29" name="TextBox 28"/>
          <p:cNvSpPr txBox="1"/>
          <p:nvPr/>
        </p:nvSpPr>
        <p:spPr>
          <a:xfrm>
            <a:off x="274320" y="4142232"/>
            <a:ext cx="3657600" cy="566928"/>
          </a:xfrm>
          <a:prstGeom prst="rect">
            <a:avLst/>
          </a:prstGeom>
          <a:noFill/>
        </p:spPr>
        <p:txBody>
          <a:bodyPr wrap="square">
            <a:spAutoFit/>
          </a:bodyPr>
          <a:lstStyle/>
          <a:p>
            <a:pPr algn="ctr"/>
            <a:r>
              <a:rPr sz="1300" b="1" i="0">
                <a:solidFill>
                  <a:srgbClr val="FFFFFF"/>
                </a:solidFill>
                <a:latin typeface="Calibri"/>
              </a:rPr>
              <a:t>Simulate
choice</a:t>
            </a:r>
          </a:p>
        </p:txBody>
      </p:sp>
      <p:sp>
        <p:nvSpPr>
          <p:cNvPr id="30" name="Rectangle 29"/>
          <p:cNvSpPr/>
          <p:nvPr/>
        </p:nvSpPr>
        <p:spPr>
          <a:xfrm>
            <a:off x="457200" y="4736592"/>
            <a:ext cx="3291840" cy="127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5760" y="4846320"/>
            <a:ext cx="3474720" cy="822960"/>
          </a:xfrm>
          <a:prstGeom prst="rect">
            <a:avLst/>
          </a:prstGeom>
          <a:noFill/>
        </p:spPr>
        <p:txBody>
          <a:bodyPr wrap="square">
            <a:spAutoFit/>
          </a:bodyPr>
          <a:lstStyle/>
          <a:p>
            <a:pPr algn="ctr"/>
            <a:r>
              <a:rPr sz="1100" b="0" i="0">
                <a:solidFill>
                  <a:srgbClr val="DDDDDD"/>
                </a:solidFill>
                <a:latin typeface="Calibri"/>
              </a:rPr>
              <a:t>No-LLM: MNL purchase
LLM: click → buy / abandon</a:t>
            </a:r>
          </a:p>
        </p:txBody>
      </p:sp>
      <p:sp>
        <p:nvSpPr>
          <p:cNvPr id="32" name="TextBox 31"/>
          <p:cNvSpPr txBox="1"/>
          <p:nvPr/>
        </p:nvSpPr>
        <p:spPr>
          <a:xfrm>
            <a:off x="4005072" y="4480560"/>
            <a:ext cx="91440" cy="411480"/>
          </a:xfrm>
          <a:prstGeom prst="rect">
            <a:avLst/>
          </a:prstGeom>
          <a:noFill/>
        </p:spPr>
        <p:txBody>
          <a:bodyPr wrap="square">
            <a:spAutoFit/>
          </a:bodyPr>
          <a:lstStyle/>
          <a:p>
            <a:pPr algn="ctr"/>
            <a:r>
              <a:rPr sz="1800" b="1" i="0">
                <a:solidFill>
                  <a:srgbClr val="888899"/>
                </a:solidFill>
                <a:latin typeface="Calibri"/>
              </a:rPr>
              <a:t>→</a:t>
            </a:r>
          </a:p>
        </p:txBody>
      </p:sp>
      <p:sp>
        <p:nvSpPr>
          <p:cNvPr id="33" name="Rectangle 32"/>
          <p:cNvSpPr/>
          <p:nvPr/>
        </p:nvSpPr>
        <p:spPr>
          <a:xfrm>
            <a:off x="4133088" y="3566160"/>
            <a:ext cx="3657600" cy="224028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133088" y="3621024"/>
            <a:ext cx="3657600" cy="502920"/>
          </a:xfrm>
          <a:prstGeom prst="rect">
            <a:avLst/>
          </a:prstGeom>
          <a:noFill/>
        </p:spPr>
        <p:txBody>
          <a:bodyPr wrap="square">
            <a:spAutoFit/>
          </a:bodyPr>
          <a:lstStyle/>
          <a:p>
            <a:pPr algn="ctr"/>
            <a:r>
              <a:rPr sz="3200" b="1" i="0">
                <a:solidFill>
                  <a:srgbClr val="F0AB00"/>
                </a:solidFill>
                <a:latin typeface="Calibri"/>
              </a:rPr>
              <a:t>5</a:t>
            </a:r>
          </a:p>
        </p:txBody>
      </p:sp>
      <p:sp>
        <p:nvSpPr>
          <p:cNvPr id="35" name="TextBox 34"/>
          <p:cNvSpPr txBox="1"/>
          <p:nvPr/>
        </p:nvSpPr>
        <p:spPr>
          <a:xfrm>
            <a:off x="4133088" y="4142232"/>
            <a:ext cx="3657600" cy="566928"/>
          </a:xfrm>
          <a:prstGeom prst="rect">
            <a:avLst/>
          </a:prstGeom>
          <a:noFill/>
        </p:spPr>
        <p:txBody>
          <a:bodyPr wrap="square">
            <a:spAutoFit/>
          </a:bodyPr>
          <a:lstStyle/>
          <a:p>
            <a:pPr algn="ctr"/>
            <a:r>
              <a:rPr sz="1300" b="1" i="0">
                <a:solidFill>
                  <a:srgbClr val="FFFFFF"/>
                </a:solidFill>
                <a:latin typeface="Calibri"/>
              </a:rPr>
              <a:t>Record
outcomes</a:t>
            </a:r>
          </a:p>
        </p:txBody>
      </p:sp>
      <p:sp>
        <p:nvSpPr>
          <p:cNvPr id="36" name="Rectangle 35"/>
          <p:cNvSpPr/>
          <p:nvPr/>
        </p:nvSpPr>
        <p:spPr>
          <a:xfrm>
            <a:off x="4315968" y="4736592"/>
            <a:ext cx="3291840" cy="127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24528" y="4846320"/>
            <a:ext cx="3474720" cy="822960"/>
          </a:xfrm>
          <a:prstGeom prst="rect">
            <a:avLst/>
          </a:prstGeom>
          <a:noFill/>
        </p:spPr>
        <p:txBody>
          <a:bodyPr wrap="square">
            <a:spAutoFit/>
          </a:bodyPr>
          <a:lstStyle/>
          <a:p>
            <a:pPr algn="ctr"/>
            <a:r>
              <a:rPr sz="1100" b="0" i="0">
                <a:solidFill>
                  <a:srgbClr val="DDDDDD"/>
                </a:solidFill>
                <a:latin typeface="Calibri"/>
              </a:rPr>
              <a:t>utility · intent fulfilment
platform net · LLM payment</a:t>
            </a:r>
          </a:p>
        </p:txBody>
      </p:sp>
      <p:sp>
        <p:nvSpPr>
          <p:cNvPr id="38" name="TextBox 37"/>
          <p:cNvSpPr txBox="1"/>
          <p:nvPr/>
        </p:nvSpPr>
        <p:spPr>
          <a:xfrm>
            <a:off x="7863840" y="4480560"/>
            <a:ext cx="91440" cy="411480"/>
          </a:xfrm>
          <a:prstGeom prst="rect">
            <a:avLst/>
          </a:prstGeom>
          <a:noFill/>
        </p:spPr>
        <p:txBody>
          <a:bodyPr wrap="square">
            <a:spAutoFit/>
          </a:bodyPr>
          <a:lstStyle/>
          <a:p>
            <a:pPr algn="ctr"/>
            <a:r>
              <a:rPr sz="1800" b="1" i="0">
                <a:solidFill>
                  <a:srgbClr val="888899"/>
                </a:solidFill>
                <a:latin typeface="Calibri"/>
              </a:rPr>
              <a:t>→</a:t>
            </a:r>
          </a:p>
        </p:txBody>
      </p:sp>
      <p:sp>
        <p:nvSpPr>
          <p:cNvPr id="39" name="Rectangle 38"/>
          <p:cNvSpPr/>
          <p:nvPr/>
        </p:nvSpPr>
        <p:spPr>
          <a:xfrm>
            <a:off x="7991856" y="3566160"/>
            <a:ext cx="3657600" cy="2240280"/>
          </a:xfrm>
          <a:prstGeom prst="rect">
            <a:avLst/>
          </a:prstGeom>
          <a:solidFill>
            <a:srgbClr val="6C35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91856" y="3621024"/>
            <a:ext cx="3657600" cy="502920"/>
          </a:xfrm>
          <a:prstGeom prst="rect">
            <a:avLst/>
          </a:prstGeom>
          <a:noFill/>
        </p:spPr>
        <p:txBody>
          <a:bodyPr wrap="square">
            <a:spAutoFit/>
          </a:bodyPr>
          <a:lstStyle/>
          <a:p>
            <a:pPr algn="ctr"/>
            <a:r>
              <a:rPr sz="3200" b="1" i="0">
                <a:solidFill>
                  <a:srgbClr val="F0AB00"/>
                </a:solidFill>
                <a:latin typeface="Calibri"/>
              </a:rPr>
              <a:t>6</a:t>
            </a:r>
          </a:p>
        </p:txBody>
      </p:sp>
      <p:sp>
        <p:nvSpPr>
          <p:cNvPr id="41" name="TextBox 40"/>
          <p:cNvSpPr txBox="1"/>
          <p:nvPr/>
        </p:nvSpPr>
        <p:spPr>
          <a:xfrm>
            <a:off x="7991856" y="4142232"/>
            <a:ext cx="3657600" cy="566928"/>
          </a:xfrm>
          <a:prstGeom prst="rect">
            <a:avLst/>
          </a:prstGeom>
          <a:noFill/>
        </p:spPr>
        <p:txBody>
          <a:bodyPr wrap="square">
            <a:spAutoFit/>
          </a:bodyPr>
          <a:lstStyle/>
          <a:p>
            <a:pPr algn="ctr"/>
            <a:r>
              <a:rPr sz="1300" b="1" i="0">
                <a:solidFill>
                  <a:srgbClr val="FFFFFF"/>
                </a:solidFill>
                <a:latin typeface="Calibri"/>
              </a:rPr>
              <a:t>Aggregate
metrics</a:t>
            </a:r>
          </a:p>
        </p:txBody>
      </p:sp>
      <p:sp>
        <p:nvSpPr>
          <p:cNvPr id="42" name="Rectangle 41"/>
          <p:cNvSpPr/>
          <p:nvPr/>
        </p:nvSpPr>
        <p:spPr>
          <a:xfrm>
            <a:off x="8174736" y="4736592"/>
            <a:ext cx="3291840" cy="127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083296" y="4846320"/>
            <a:ext cx="3474720" cy="822960"/>
          </a:xfrm>
          <a:prstGeom prst="rect">
            <a:avLst/>
          </a:prstGeom>
          <a:noFill/>
        </p:spPr>
        <p:txBody>
          <a:bodyPr wrap="square">
            <a:spAutoFit/>
          </a:bodyPr>
          <a:lstStyle/>
          <a:p>
            <a:pPr algn="ctr"/>
            <a:r>
              <a:rPr sz="1100" b="0" i="0">
                <a:solidFill>
                  <a:srgbClr val="DDDDDD"/>
                </a:solidFill>
                <a:latin typeface="Calibri"/>
              </a:rPr>
              <a:t>10 runs × 1,000 consumers
per scenario</a:t>
            </a:r>
          </a:p>
        </p:txBody>
      </p:sp>
      <p:sp>
        <p:nvSpPr>
          <p:cNvPr id="44" name="TextBox 43"/>
          <p:cNvSpPr txBox="1"/>
          <p:nvPr/>
        </p:nvSpPr>
        <p:spPr>
          <a:xfrm>
            <a:off x="274320" y="3328416"/>
            <a:ext cx="4572000" cy="237744"/>
          </a:xfrm>
          <a:prstGeom prst="rect">
            <a:avLst/>
          </a:prstGeom>
          <a:noFill/>
        </p:spPr>
        <p:txBody>
          <a:bodyPr wrap="square">
            <a:spAutoFit/>
          </a:bodyPr>
          <a:lstStyle/>
          <a:p>
            <a:pPr algn="l"/>
            <a:r>
              <a:rPr sz="1000" b="0" i="1">
                <a:solidFill>
                  <a:srgbClr val="888899"/>
                </a:solidFill>
                <a:latin typeface="Calibri"/>
              </a:rPr>
              <a:t>↓  flow wraps to steps 4-6:</a:t>
            </a:r>
          </a:p>
        </p:txBody>
      </p:sp>
      <p:sp>
        <p:nvSpPr>
          <p:cNvPr id="45" name="Rectangle 44"/>
          <p:cNvSpPr/>
          <p:nvPr/>
        </p:nvSpPr>
        <p:spPr>
          <a:xfrm>
            <a:off x="274320" y="5669280"/>
            <a:ext cx="11640312" cy="347472"/>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84048" y="5760720"/>
            <a:ext cx="11420856" cy="164592"/>
          </a:xfrm>
          <a:prstGeom prst="rect">
            <a:avLst/>
          </a:prstGeom>
          <a:noFill/>
        </p:spPr>
        <p:txBody>
          <a:bodyPr wrap="square">
            <a:spAutoFit/>
          </a:bodyPr>
          <a:lstStyle/>
          <a:p>
            <a:pPr algn="l"/>
            <a:r>
              <a:rPr sz="1100" b="0" i="0">
                <a:solidFill>
                  <a:srgbClr val="A8D8A8"/>
                </a:solidFill>
                <a:latin typeface="Courier New"/>
              </a:rPr>
              <a:t>Pipeline:  gen  →  intent  →  choice set  →  simulate  →  record  →  aggregate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38912"/>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Platform Parameters</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B</a:t>
            </a:r>
          </a:p>
        </p:txBody>
      </p:sp>
      <p:sp>
        <p:nvSpPr>
          <p:cNvPr id="10" name="Rectangle 9"/>
          <p:cNvSpPr/>
          <p:nvPr/>
        </p:nvSpPr>
        <p:spPr>
          <a:xfrm>
            <a:off x="274320" y="1051560"/>
            <a:ext cx="27432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9184" y="1088136"/>
            <a:ext cx="2633472" cy="292608"/>
          </a:xfrm>
          <a:prstGeom prst="rect">
            <a:avLst/>
          </a:prstGeom>
          <a:noFill/>
        </p:spPr>
        <p:txBody>
          <a:bodyPr wrap="square">
            <a:spAutoFit/>
          </a:bodyPr>
          <a:lstStyle/>
          <a:p>
            <a:pPr algn="ctr"/>
            <a:r>
              <a:rPr sz="1100" b="1" i="0">
                <a:solidFill>
                  <a:srgbClr val="FFFFFF"/>
                </a:solidFill>
                <a:latin typeface="Calibri"/>
              </a:rPr>
              <a:t>Platform</a:t>
            </a:r>
          </a:p>
        </p:txBody>
      </p:sp>
      <p:sp>
        <p:nvSpPr>
          <p:cNvPr id="12" name="Rectangle 11"/>
          <p:cNvSpPr/>
          <p:nvPr/>
        </p:nvSpPr>
        <p:spPr>
          <a:xfrm>
            <a:off x="3017520" y="1051560"/>
            <a:ext cx="201168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72384" y="1088136"/>
            <a:ext cx="1901952" cy="292608"/>
          </a:xfrm>
          <a:prstGeom prst="rect">
            <a:avLst/>
          </a:prstGeom>
          <a:noFill/>
        </p:spPr>
        <p:txBody>
          <a:bodyPr wrap="square">
            <a:spAutoFit/>
          </a:bodyPr>
          <a:lstStyle/>
          <a:p>
            <a:pPr algn="ctr"/>
            <a:r>
              <a:rPr sz="1100" b="1" i="0">
                <a:solidFill>
                  <a:srgbClr val="FFFFFF"/>
                </a:solidFill>
                <a:latin typeface="Calibri"/>
              </a:rPr>
              <a:t>Commission</a:t>
            </a:r>
          </a:p>
        </p:txBody>
      </p:sp>
      <p:sp>
        <p:nvSpPr>
          <p:cNvPr id="14" name="Rectangle 13"/>
          <p:cNvSpPr/>
          <p:nvPr/>
        </p:nvSpPr>
        <p:spPr>
          <a:xfrm>
            <a:off x="5029200" y="1051560"/>
            <a:ext cx="32004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84064" y="1088136"/>
            <a:ext cx="3090672" cy="292608"/>
          </a:xfrm>
          <a:prstGeom prst="rect">
            <a:avLst/>
          </a:prstGeom>
          <a:noFill/>
        </p:spPr>
        <p:txBody>
          <a:bodyPr wrap="square">
            <a:spAutoFit/>
          </a:bodyPr>
          <a:lstStyle/>
          <a:p>
            <a:pPr algn="ctr"/>
            <a:r>
              <a:rPr sz="1100" b="1" i="0">
                <a:solidFill>
                  <a:srgbClr val="FFFFFF"/>
                </a:solidFill>
                <a:latin typeface="Calibri"/>
              </a:rPr>
              <a:t>Delivery Fee Range</a:t>
            </a:r>
          </a:p>
        </p:txBody>
      </p:sp>
      <p:sp>
        <p:nvSpPr>
          <p:cNvPr id="16" name="Rectangle 15"/>
          <p:cNvSpPr/>
          <p:nvPr/>
        </p:nvSpPr>
        <p:spPr>
          <a:xfrm>
            <a:off x="8229600" y="1051560"/>
            <a:ext cx="32004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84464" y="1088136"/>
            <a:ext cx="3090672" cy="292608"/>
          </a:xfrm>
          <a:prstGeom prst="rect">
            <a:avLst/>
          </a:prstGeom>
          <a:noFill/>
        </p:spPr>
        <p:txBody>
          <a:bodyPr wrap="square">
            <a:spAutoFit/>
          </a:bodyPr>
          <a:lstStyle/>
          <a:p>
            <a:pPr algn="ctr"/>
            <a:r>
              <a:rPr sz="1100" b="1" i="0">
                <a:solidFill>
                  <a:srgbClr val="FFFFFF"/>
                </a:solidFill>
                <a:latin typeface="Calibri"/>
              </a:rPr>
              <a:t>Logistics Time</a:t>
            </a:r>
          </a:p>
        </p:txBody>
      </p:sp>
      <p:sp>
        <p:nvSpPr>
          <p:cNvPr id="18" name="Rectangle 17"/>
          <p:cNvSpPr/>
          <p:nvPr/>
        </p:nvSpPr>
        <p:spPr>
          <a:xfrm>
            <a:off x="274320" y="1417320"/>
            <a:ext cx="27432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9184" y="1453896"/>
            <a:ext cx="2633472" cy="310896"/>
          </a:xfrm>
          <a:prstGeom prst="rect">
            <a:avLst/>
          </a:prstGeom>
          <a:noFill/>
        </p:spPr>
        <p:txBody>
          <a:bodyPr wrap="square">
            <a:spAutoFit/>
          </a:bodyPr>
          <a:lstStyle/>
          <a:p>
            <a:pPr algn="l"/>
            <a:r>
              <a:rPr sz="1100" b="0" i="0">
                <a:solidFill>
                  <a:srgbClr val="222233"/>
                </a:solidFill>
                <a:latin typeface="Calibri"/>
              </a:rPr>
              <a:t>QuickEats</a:t>
            </a:r>
          </a:p>
        </p:txBody>
      </p:sp>
      <p:sp>
        <p:nvSpPr>
          <p:cNvPr id="20" name="Rectangle 19"/>
          <p:cNvSpPr/>
          <p:nvPr/>
        </p:nvSpPr>
        <p:spPr>
          <a:xfrm>
            <a:off x="3017520" y="1417320"/>
            <a:ext cx="20116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72384" y="1453896"/>
            <a:ext cx="1901952" cy="310896"/>
          </a:xfrm>
          <a:prstGeom prst="rect">
            <a:avLst/>
          </a:prstGeom>
          <a:noFill/>
        </p:spPr>
        <p:txBody>
          <a:bodyPr wrap="square">
            <a:spAutoFit/>
          </a:bodyPr>
          <a:lstStyle/>
          <a:p>
            <a:pPr algn="ctr"/>
            <a:r>
              <a:rPr sz="1100" b="0" i="0">
                <a:solidFill>
                  <a:srgbClr val="222233"/>
                </a:solidFill>
                <a:latin typeface="Calibri"/>
              </a:rPr>
              <a:t>20%</a:t>
            </a:r>
          </a:p>
        </p:txBody>
      </p:sp>
      <p:sp>
        <p:nvSpPr>
          <p:cNvPr id="22" name="Rectangle 21"/>
          <p:cNvSpPr/>
          <p:nvPr/>
        </p:nvSpPr>
        <p:spPr>
          <a:xfrm>
            <a:off x="5029200" y="1417320"/>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84064" y="1453896"/>
            <a:ext cx="3090672" cy="310896"/>
          </a:xfrm>
          <a:prstGeom prst="rect">
            <a:avLst/>
          </a:prstGeom>
          <a:noFill/>
        </p:spPr>
        <p:txBody>
          <a:bodyPr wrap="square">
            <a:spAutoFit/>
          </a:bodyPr>
          <a:lstStyle/>
          <a:p>
            <a:pPr algn="ctr"/>
            <a:r>
              <a:rPr sz="1100" b="0" i="0">
                <a:solidFill>
                  <a:srgbClr val="222233"/>
                </a:solidFill>
                <a:latin typeface="Calibri"/>
              </a:rPr>
              <a:t>$1.50 – $4.00</a:t>
            </a:r>
          </a:p>
        </p:txBody>
      </p:sp>
      <p:sp>
        <p:nvSpPr>
          <p:cNvPr id="24" name="Rectangle 23"/>
          <p:cNvSpPr/>
          <p:nvPr/>
        </p:nvSpPr>
        <p:spPr>
          <a:xfrm>
            <a:off x="8229600" y="1417320"/>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84464" y="1453896"/>
            <a:ext cx="3090672" cy="310896"/>
          </a:xfrm>
          <a:prstGeom prst="rect">
            <a:avLst/>
          </a:prstGeom>
          <a:noFill/>
        </p:spPr>
        <p:txBody>
          <a:bodyPr wrap="square">
            <a:spAutoFit/>
          </a:bodyPr>
          <a:lstStyle/>
          <a:p>
            <a:pPr algn="ctr"/>
            <a:r>
              <a:rPr sz="1100" b="0" i="0">
                <a:solidFill>
                  <a:srgbClr val="222233"/>
                </a:solidFill>
                <a:latin typeface="Calibri"/>
              </a:rPr>
              <a:t>10 – 25 min</a:t>
            </a:r>
          </a:p>
        </p:txBody>
      </p:sp>
      <p:sp>
        <p:nvSpPr>
          <p:cNvPr id="26" name="Rectangle 25"/>
          <p:cNvSpPr/>
          <p:nvPr/>
        </p:nvSpPr>
        <p:spPr>
          <a:xfrm>
            <a:off x="274320" y="1801368"/>
            <a:ext cx="27432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9184" y="1837944"/>
            <a:ext cx="2633472" cy="310896"/>
          </a:xfrm>
          <a:prstGeom prst="rect">
            <a:avLst/>
          </a:prstGeom>
          <a:noFill/>
        </p:spPr>
        <p:txBody>
          <a:bodyPr wrap="square">
            <a:spAutoFit/>
          </a:bodyPr>
          <a:lstStyle/>
          <a:p>
            <a:pPr algn="l"/>
            <a:r>
              <a:rPr sz="1100" b="0" i="0">
                <a:solidFill>
                  <a:srgbClr val="222233"/>
                </a:solidFill>
                <a:latin typeface="Calibri"/>
              </a:rPr>
              <a:t>FoodRush</a:t>
            </a:r>
          </a:p>
        </p:txBody>
      </p:sp>
      <p:sp>
        <p:nvSpPr>
          <p:cNvPr id="28" name="Rectangle 27"/>
          <p:cNvSpPr/>
          <p:nvPr/>
        </p:nvSpPr>
        <p:spPr>
          <a:xfrm>
            <a:off x="3017520" y="1801368"/>
            <a:ext cx="201168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072384" y="1837944"/>
            <a:ext cx="1901952" cy="310896"/>
          </a:xfrm>
          <a:prstGeom prst="rect">
            <a:avLst/>
          </a:prstGeom>
          <a:noFill/>
        </p:spPr>
        <p:txBody>
          <a:bodyPr wrap="square">
            <a:spAutoFit/>
          </a:bodyPr>
          <a:lstStyle/>
          <a:p>
            <a:pPr algn="ctr"/>
            <a:r>
              <a:rPr sz="1100" b="0" i="0">
                <a:solidFill>
                  <a:srgbClr val="222233"/>
                </a:solidFill>
                <a:latin typeface="Calibri"/>
              </a:rPr>
              <a:t>25%</a:t>
            </a:r>
          </a:p>
        </p:txBody>
      </p:sp>
      <p:sp>
        <p:nvSpPr>
          <p:cNvPr id="30" name="Rectangle 29"/>
          <p:cNvSpPr/>
          <p:nvPr/>
        </p:nvSpPr>
        <p:spPr>
          <a:xfrm>
            <a:off x="5029200" y="1801368"/>
            <a:ext cx="32004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84064" y="1837944"/>
            <a:ext cx="3090672" cy="310896"/>
          </a:xfrm>
          <a:prstGeom prst="rect">
            <a:avLst/>
          </a:prstGeom>
          <a:noFill/>
        </p:spPr>
        <p:txBody>
          <a:bodyPr wrap="square">
            <a:spAutoFit/>
          </a:bodyPr>
          <a:lstStyle/>
          <a:p>
            <a:pPr algn="ctr"/>
            <a:r>
              <a:rPr sz="1100" b="0" i="0">
                <a:solidFill>
                  <a:srgbClr val="222233"/>
                </a:solidFill>
                <a:latin typeface="Calibri"/>
              </a:rPr>
              <a:t>$2.00 – $4.50</a:t>
            </a:r>
          </a:p>
        </p:txBody>
      </p:sp>
      <p:sp>
        <p:nvSpPr>
          <p:cNvPr id="32" name="Rectangle 31"/>
          <p:cNvSpPr/>
          <p:nvPr/>
        </p:nvSpPr>
        <p:spPr>
          <a:xfrm>
            <a:off x="8229600" y="1801368"/>
            <a:ext cx="32004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84464" y="1837944"/>
            <a:ext cx="3090672" cy="310896"/>
          </a:xfrm>
          <a:prstGeom prst="rect">
            <a:avLst/>
          </a:prstGeom>
          <a:noFill/>
        </p:spPr>
        <p:txBody>
          <a:bodyPr wrap="square">
            <a:spAutoFit/>
          </a:bodyPr>
          <a:lstStyle/>
          <a:p>
            <a:pPr algn="ctr"/>
            <a:r>
              <a:rPr sz="1100" b="0" i="0">
                <a:solidFill>
                  <a:srgbClr val="222233"/>
                </a:solidFill>
                <a:latin typeface="Calibri"/>
              </a:rPr>
              <a:t>15 – 30 min</a:t>
            </a:r>
          </a:p>
        </p:txBody>
      </p:sp>
      <p:sp>
        <p:nvSpPr>
          <p:cNvPr id="34" name="Rectangle 33"/>
          <p:cNvSpPr/>
          <p:nvPr/>
        </p:nvSpPr>
        <p:spPr>
          <a:xfrm>
            <a:off x="274320" y="2185416"/>
            <a:ext cx="27432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 y="2221992"/>
            <a:ext cx="2633472" cy="310896"/>
          </a:xfrm>
          <a:prstGeom prst="rect">
            <a:avLst/>
          </a:prstGeom>
          <a:noFill/>
        </p:spPr>
        <p:txBody>
          <a:bodyPr wrap="square">
            <a:spAutoFit/>
          </a:bodyPr>
          <a:lstStyle/>
          <a:p>
            <a:pPr algn="l"/>
            <a:r>
              <a:rPr sz="1100" b="0" i="0">
                <a:solidFill>
                  <a:srgbClr val="222233"/>
                </a:solidFill>
                <a:latin typeface="Calibri"/>
              </a:rPr>
              <a:t>NomNom</a:t>
            </a:r>
          </a:p>
        </p:txBody>
      </p:sp>
      <p:sp>
        <p:nvSpPr>
          <p:cNvPr id="36" name="Rectangle 35"/>
          <p:cNvSpPr/>
          <p:nvPr/>
        </p:nvSpPr>
        <p:spPr>
          <a:xfrm>
            <a:off x="3017520" y="2185416"/>
            <a:ext cx="20116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072384" y="2221992"/>
            <a:ext cx="1901952" cy="310896"/>
          </a:xfrm>
          <a:prstGeom prst="rect">
            <a:avLst/>
          </a:prstGeom>
          <a:noFill/>
        </p:spPr>
        <p:txBody>
          <a:bodyPr wrap="square">
            <a:spAutoFit/>
          </a:bodyPr>
          <a:lstStyle/>
          <a:p>
            <a:pPr algn="ctr"/>
            <a:r>
              <a:rPr sz="1100" b="0" i="0">
                <a:solidFill>
                  <a:srgbClr val="222233"/>
                </a:solidFill>
                <a:latin typeface="Calibri"/>
              </a:rPr>
              <a:t>15%</a:t>
            </a:r>
          </a:p>
        </p:txBody>
      </p:sp>
      <p:sp>
        <p:nvSpPr>
          <p:cNvPr id="38" name="Rectangle 37"/>
          <p:cNvSpPr/>
          <p:nvPr/>
        </p:nvSpPr>
        <p:spPr>
          <a:xfrm>
            <a:off x="5029200" y="2185416"/>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84064" y="2221992"/>
            <a:ext cx="3090672" cy="310896"/>
          </a:xfrm>
          <a:prstGeom prst="rect">
            <a:avLst/>
          </a:prstGeom>
          <a:noFill/>
        </p:spPr>
        <p:txBody>
          <a:bodyPr wrap="square">
            <a:spAutoFit/>
          </a:bodyPr>
          <a:lstStyle/>
          <a:p>
            <a:pPr algn="ctr"/>
            <a:r>
              <a:rPr sz="1100" b="0" i="0">
                <a:solidFill>
                  <a:srgbClr val="222233"/>
                </a:solidFill>
                <a:latin typeface="Calibri"/>
              </a:rPr>
              <a:t>$1.00 – $3.50</a:t>
            </a:r>
          </a:p>
        </p:txBody>
      </p:sp>
      <p:sp>
        <p:nvSpPr>
          <p:cNvPr id="40" name="Rectangle 39"/>
          <p:cNvSpPr/>
          <p:nvPr/>
        </p:nvSpPr>
        <p:spPr>
          <a:xfrm>
            <a:off x="8229600" y="2185416"/>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84464" y="2221992"/>
            <a:ext cx="3090672" cy="310896"/>
          </a:xfrm>
          <a:prstGeom prst="rect">
            <a:avLst/>
          </a:prstGeom>
          <a:noFill/>
        </p:spPr>
        <p:txBody>
          <a:bodyPr wrap="square">
            <a:spAutoFit/>
          </a:bodyPr>
          <a:lstStyle/>
          <a:p>
            <a:pPr algn="ctr"/>
            <a:r>
              <a:rPr sz="1100" b="0" i="0">
                <a:solidFill>
                  <a:srgbClr val="222233"/>
                </a:solidFill>
                <a:latin typeface="Calibri"/>
              </a:rPr>
              <a:t>20 – 35 min</a:t>
            </a:r>
          </a:p>
        </p:txBody>
      </p:sp>
      <p:sp>
        <p:nvSpPr>
          <p:cNvPr id="42" name="TextBox 41"/>
          <p:cNvSpPr txBox="1"/>
          <p:nvPr/>
        </p:nvSpPr>
        <p:spPr>
          <a:xfrm>
            <a:off x="274320" y="2713228"/>
            <a:ext cx="11640312" cy="292608"/>
          </a:xfrm>
          <a:prstGeom prst="rect">
            <a:avLst/>
          </a:prstGeom>
          <a:noFill/>
        </p:spPr>
        <p:txBody>
          <a:bodyPr wrap="square">
            <a:spAutoFit/>
          </a:bodyPr>
          <a:lstStyle/>
          <a:p>
            <a:pPr algn="l"/>
            <a:r>
              <a:rPr sz="1200" b="1" i="0" dirty="0">
                <a:solidFill>
                  <a:srgbClr val="1A2E4A"/>
                </a:solidFill>
                <a:latin typeface="Calibri"/>
              </a:rPr>
              <a:t>Key notes</a:t>
            </a:r>
          </a:p>
        </p:txBody>
      </p:sp>
      <p:sp>
        <p:nvSpPr>
          <p:cNvPr id="43" name="TextBox 42"/>
          <p:cNvSpPr txBox="1"/>
          <p:nvPr/>
        </p:nvSpPr>
        <p:spPr>
          <a:xfrm>
            <a:off x="274320" y="3154680"/>
            <a:ext cx="11640312" cy="365760"/>
          </a:xfrm>
          <a:prstGeom prst="rect">
            <a:avLst/>
          </a:prstGeom>
          <a:noFill/>
        </p:spPr>
        <p:txBody>
          <a:bodyPr wrap="square">
            <a:spAutoFit/>
          </a:bodyPr>
          <a:lstStyle/>
          <a:p>
            <a:pPr algn="l"/>
            <a:r>
              <a:rPr sz="1100" b="0" i="0" dirty="0">
                <a:solidFill>
                  <a:srgbClr val="222233"/>
                </a:solidFill>
                <a:latin typeface="Calibri"/>
              </a:rPr>
              <a:t>·  Commission is charged as a share of restaurant menu price and retained by the platform.</a:t>
            </a:r>
          </a:p>
        </p:txBody>
      </p:sp>
      <p:sp>
        <p:nvSpPr>
          <p:cNvPr id="44" name="TextBox 43"/>
          <p:cNvSpPr txBox="1"/>
          <p:nvPr/>
        </p:nvSpPr>
        <p:spPr>
          <a:xfrm>
            <a:off x="274320" y="3538728"/>
            <a:ext cx="11640312" cy="365760"/>
          </a:xfrm>
          <a:prstGeom prst="rect">
            <a:avLst/>
          </a:prstGeom>
          <a:noFill/>
        </p:spPr>
        <p:txBody>
          <a:bodyPr wrap="square">
            <a:spAutoFit/>
          </a:bodyPr>
          <a:lstStyle/>
          <a:p>
            <a:pPr algn="l"/>
            <a:r>
              <a:rPr sz="1100" b="0" i="0">
                <a:solidFill>
                  <a:srgbClr val="222233"/>
                </a:solidFill>
                <a:latin typeface="Calibri"/>
              </a:rPr>
              <a:t>·  Delivery fee is paid by the consumer and retained by the platform.</a:t>
            </a:r>
          </a:p>
        </p:txBody>
      </p:sp>
      <p:sp>
        <p:nvSpPr>
          <p:cNvPr id="45" name="TextBox 44"/>
          <p:cNvSpPr txBox="1"/>
          <p:nvPr/>
        </p:nvSpPr>
        <p:spPr>
          <a:xfrm>
            <a:off x="274320" y="3922776"/>
            <a:ext cx="11640312" cy="365760"/>
          </a:xfrm>
          <a:prstGeom prst="rect">
            <a:avLst/>
          </a:prstGeom>
          <a:noFill/>
        </p:spPr>
        <p:txBody>
          <a:bodyPr wrap="square">
            <a:spAutoFit/>
          </a:bodyPr>
          <a:lstStyle/>
          <a:p>
            <a:pPr algn="l"/>
            <a:r>
              <a:rPr sz="1100" b="0" i="0">
                <a:solidFill>
                  <a:srgbClr val="222233"/>
                </a:solidFill>
                <a:latin typeface="Calibri"/>
              </a:rPr>
              <a:t>·  Logistics time is added to restaurant prep time to compute total delivery time.</a:t>
            </a:r>
          </a:p>
        </p:txBody>
      </p:sp>
      <p:sp>
        <p:nvSpPr>
          <p:cNvPr id="46" name="TextBox 45"/>
          <p:cNvSpPr txBox="1"/>
          <p:nvPr/>
        </p:nvSpPr>
        <p:spPr>
          <a:xfrm>
            <a:off x="274320" y="4306824"/>
            <a:ext cx="11640312" cy="365760"/>
          </a:xfrm>
          <a:prstGeom prst="rect">
            <a:avLst/>
          </a:prstGeom>
          <a:noFill/>
        </p:spPr>
        <p:txBody>
          <a:bodyPr wrap="square">
            <a:spAutoFit/>
          </a:bodyPr>
          <a:lstStyle/>
          <a:p>
            <a:pPr algn="l"/>
            <a:r>
              <a:rPr sz="1100" b="0" i="0">
                <a:solidFill>
                  <a:srgbClr val="222233"/>
                </a:solidFill>
                <a:latin typeface="Calibri"/>
              </a:rPr>
              <a:t>·  FoodRush = high-commission, high-fee platform.   NomNom = low-commission, low-fee.</a:t>
            </a:r>
          </a:p>
        </p:txBody>
      </p:sp>
      <p:sp>
        <p:nvSpPr>
          <p:cNvPr id="47" name="TextBox 46"/>
          <p:cNvSpPr txBox="1"/>
          <p:nvPr/>
        </p:nvSpPr>
        <p:spPr>
          <a:xfrm>
            <a:off x="274320" y="4736592"/>
            <a:ext cx="11640312" cy="292608"/>
          </a:xfrm>
          <a:prstGeom prst="rect">
            <a:avLst/>
          </a:prstGeom>
          <a:noFill/>
        </p:spPr>
        <p:txBody>
          <a:bodyPr wrap="square">
            <a:spAutoFit/>
          </a:bodyPr>
          <a:lstStyle/>
          <a:p>
            <a:pPr algn="l"/>
            <a:r>
              <a:rPr sz="1200" b="1" i="0">
                <a:solidFill>
                  <a:srgbClr val="1A2E4A"/>
                </a:solidFill>
                <a:latin typeface="Calibri"/>
              </a:rPr>
              <a:t>Delivery time formula</a:t>
            </a:r>
          </a:p>
        </p:txBody>
      </p:sp>
      <p:sp>
        <p:nvSpPr>
          <p:cNvPr id="48" name="Rectangle 47"/>
          <p:cNvSpPr/>
          <p:nvPr/>
        </p:nvSpPr>
        <p:spPr>
          <a:xfrm>
            <a:off x="274320" y="5056632"/>
            <a:ext cx="11640312" cy="4114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4048" y="5148072"/>
            <a:ext cx="11420856" cy="228600"/>
          </a:xfrm>
          <a:prstGeom prst="rect">
            <a:avLst/>
          </a:prstGeom>
          <a:noFill/>
        </p:spPr>
        <p:txBody>
          <a:bodyPr wrap="square">
            <a:spAutoFit/>
          </a:bodyPr>
          <a:lstStyle/>
          <a:p>
            <a:pPr algn="l"/>
            <a:r>
              <a:rPr sz="1000" b="0" i="0">
                <a:solidFill>
                  <a:srgbClr val="A8D8A8"/>
                </a:solidFill>
                <a:latin typeface="Courier New"/>
              </a:rPr>
              <a:t>delivery_time  =  restaurant_prep_time  +  platform_logistics_time</a:t>
            </a:r>
          </a:p>
        </p:txBody>
      </p:sp>
      <p:sp>
        <p:nvSpPr>
          <p:cNvPr id="50" name="TextBox 49"/>
          <p:cNvSpPr txBox="1"/>
          <p:nvPr/>
        </p:nvSpPr>
        <p:spPr>
          <a:xfrm>
            <a:off x="274320" y="5577840"/>
            <a:ext cx="11640312" cy="292608"/>
          </a:xfrm>
          <a:prstGeom prst="rect">
            <a:avLst/>
          </a:prstGeom>
          <a:noFill/>
        </p:spPr>
        <p:txBody>
          <a:bodyPr wrap="square">
            <a:spAutoFit/>
          </a:bodyPr>
          <a:lstStyle/>
          <a:p>
            <a:pPr algn="l"/>
            <a:r>
              <a:rPr sz="1200" b="1" i="0">
                <a:solidFill>
                  <a:srgbClr val="1A2E4A"/>
                </a:solidFill>
                <a:latin typeface="Calibri"/>
              </a:rPr>
              <a:t>Platform net revenue (per order)</a:t>
            </a:r>
          </a:p>
        </p:txBody>
      </p:sp>
      <p:sp>
        <p:nvSpPr>
          <p:cNvPr id="51" name="Rectangle 50"/>
          <p:cNvSpPr/>
          <p:nvPr/>
        </p:nvSpPr>
        <p:spPr>
          <a:xfrm>
            <a:off x="274320" y="5897880"/>
            <a:ext cx="11640312" cy="4114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84048" y="5989320"/>
            <a:ext cx="11420856" cy="228600"/>
          </a:xfrm>
          <a:prstGeom prst="rect">
            <a:avLst/>
          </a:prstGeom>
          <a:noFill/>
        </p:spPr>
        <p:txBody>
          <a:bodyPr wrap="square">
            <a:spAutoFit/>
          </a:bodyPr>
          <a:lstStyle/>
          <a:p>
            <a:pPr algn="l"/>
            <a:r>
              <a:rPr sz="1000" b="0" i="0">
                <a:solidFill>
                  <a:srgbClr val="A8D8A8"/>
                </a:solidFill>
                <a:latin typeface="Courier New"/>
              </a:rPr>
              <a:t>platform_net  =  commission  +  delivery_fee  -  0.5 * promo_discount  -  llm_payment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Restaurant Generation</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C</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Cuisine</a:t>
            </a:r>
          </a:p>
        </p:txBody>
      </p:sp>
      <p:sp>
        <p:nvSpPr>
          <p:cNvPr id="11" name="Rectangle 10"/>
          <p:cNvSpPr/>
          <p:nvPr/>
        </p:nvSpPr>
        <p:spPr>
          <a:xfrm>
            <a:off x="274320" y="1371600"/>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5358384" cy="182880"/>
          </a:xfrm>
          <a:prstGeom prst="rect">
            <a:avLst/>
          </a:prstGeom>
          <a:noFill/>
        </p:spPr>
        <p:txBody>
          <a:bodyPr wrap="square">
            <a:spAutoFit/>
          </a:bodyPr>
          <a:lstStyle/>
          <a:p>
            <a:pPr algn="l"/>
            <a:r>
              <a:rPr sz="1000" b="0" i="0">
                <a:solidFill>
                  <a:srgbClr val="A8D8A8"/>
                </a:solidFill>
                <a:latin typeface="Courier New"/>
              </a:rPr>
              <a:t>cuisine  ~  Uniform(9 categories)</a:t>
            </a:r>
          </a:p>
        </p:txBody>
      </p:sp>
      <p:sp>
        <p:nvSpPr>
          <p:cNvPr id="13" name="TextBox 12"/>
          <p:cNvSpPr txBox="1"/>
          <p:nvPr/>
        </p:nvSpPr>
        <p:spPr>
          <a:xfrm>
            <a:off x="274320" y="1847088"/>
            <a:ext cx="11640312" cy="292608"/>
          </a:xfrm>
          <a:prstGeom prst="rect">
            <a:avLst/>
          </a:prstGeom>
          <a:noFill/>
        </p:spPr>
        <p:txBody>
          <a:bodyPr wrap="square">
            <a:spAutoFit/>
          </a:bodyPr>
          <a:lstStyle/>
          <a:p>
            <a:pPr algn="l"/>
            <a:r>
              <a:rPr sz="1200" b="1" i="0">
                <a:solidFill>
                  <a:srgbClr val="1A2E4A"/>
                </a:solidFill>
                <a:latin typeface="Calibri"/>
              </a:rPr>
              <a:t>Quality (star rating)</a:t>
            </a:r>
          </a:p>
        </p:txBody>
      </p:sp>
      <p:sp>
        <p:nvSpPr>
          <p:cNvPr id="14" name="Rectangle 13"/>
          <p:cNvSpPr/>
          <p:nvPr/>
        </p:nvSpPr>
        <p:spPr>
          <a:xfrm>
            <a:off x="274320" y="2167128"/>
            <a:ext cx="5577840"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2258568"/>
            <a:ext cx="5358384" cy="365760"/>
          </a:xfrm>
          <a:prstGeom prst="rect">
            <a:avLst/>
          </a:prstGeom>
          <a:noFill/>
        </p:spPr>
        <p:txBody>
          <a:bodyPr wrap="square">
            <a:spAutoFit/>
          </a:bodyPr>
          <a:lstStyle/>
          <a:p>
            <a:pPr algn="l"/>
            <a:r>
              <a:rPr sz="1000" b="0" i="0">
                <a:solidFill>
                  <a:srgbClr val="A8D8A8"/>
                </a:solidFill>
                <a:latin typeface="Courier New"/>
              </a:rPr>
              <a:t>raw_quality  ~  Uniform(2.0, 5.0)
quality  =  nearest half-star</a:t>
            </a:r>
          </a:p>
        </p:txBody>
      </p:sp>
      <p:sp>
        <p:nvSpPr>
          <p:cNvPr id="16" name="TextBox 15"/>
          <p:cNvSpPr txBox="1"/>
          <p:nvPr/>
        </p:nvSpPr>
        <p:spPr>
          <a:xfrm>
            <a:off x="274320" y="2816352"/>
            <a:ext cx="11640312" cy="292608"/>
          </a:xfrm>
          <a:prstGeom prst="rect">
            <a:avLst/>
          </a:prstGeom>
          <a:noFill/>
        </p:spPr>
        <p:txBody>
          <a:bodyPr wrap="square">
            <a:spAutoFit/>
          </a:bodyPr>
          <a:lstStyle/>
          <a:p>
            <a:pPr algn="l"/>
            <a:r>
              <a:rPr sz="1200" b="1" i="0">
                <a:solidFill>
                  <a:srgbClr val="1A2E4A"/>
                </a:solidFill>
                <a:latin typeface="Calibri"/>
              </a:rPr>
              <a:t>Menu price</a:t>
            </a:r>
          </a:p>
        </p:txBody>
      </p:sp>
      <p:sp>
        <p:nvSpPr>
          <p:cNvPr id="17" name="Rectangle 16"/>
          <p:cNvSpPr/>
          <p:nvPr/>
        </p:nvSpPr>
        <p:spPr>
          <a:xfrm>
            <a:off x="274320" y="3136392"/>
            <a:ext cx="5577840" cy="10058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3227832"/>
            <a:ext cx="5358384" cy="822960"/>
          </a:xfrm>
          <a:prstGeom prst="rect">
            <a:avLst/>
          </a:prstGeom>
          <a:noFill/>
        </p:spPr>
        <p:txBody>
          <a:bodyPr wrap="square">
            <a:spAutoFit/>
          </a:bodyPr>
          <a:lstStyle/>
          <a:p>
            <a:pPr algn="l"/>
            <a:r>
              <a:rPr sz="1000" b="0" i="0">
                <a:solidFill>
                  <a:srgbClr val="A8D8A8"/>
                </a:solidFill>
                <a:latin typeface="Courier New"/>
              </a:rPr>
              <a:t>quality_percentile  =  (raw_quality - 2.0) / 3.0
price_center  =  19  +  quality_percentile * 31
price_noise   ~  Normal(0, 0.50 * 31)
menu_price    =  clip(price_center + price_noise,  19,  50)</a:t>
            </a:r>
          </a:p>
        </p:txBody>
      </p:sp>
      <p:sp>
        <p:nvSpPr>
          <p:cNvPr id="19" name="TextBox 18"/>
          <p:cNvSpPr txBox="1"/>
          <p:nvPr/>
        </p:nvSpPr>
        <p:spPr>
          <a:xfrm>
            <a:off x="274320" y="4251960"/>
            <a:ext cx="11640312" cy="292608"/>
          </a:xfrm>
          <a:prstGeom prst="rect">
            <a:avLst/>
          </a:prstGeom>
          <a:noFill/>
        </p:spPr>
        <p:txBody>
          <a:bodyPr wrap="square">
            <a:spAutoFit/>
          </a:bodyPr>
          <a:lstStyle/>
          <a:p>
            <a:pPr algn="l"/>
            <a:r>
              <a:rPr sz="1200" b="1" i="0">
                <a:solidFill>
                  <a:srgbClr val="1A2E4A"/>
                </a:solidFill>
                <a:latin typeface="Calibri"/>
              </a:rPr>
              <a:t>Prep time</a:t>
            </a:r>
          </a:p>
        </p:txBody>
      </p:sp>
      <p:sp>
        <p:nvSpPr>
          <p:cNvPr id="20" name="Rectangle 19"/>
          <p:cNvSpPr/>
          <p:nvPr/>
        </p:nvSpPr>
        <p:spPr>
          <a:xfrm>
            <a:off x="274320" y="4572000"/>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4663440"/>
            <a:ext cx="5358384" cy="182880"/>
          </a:xfrm>
          <a:prstGeom prst="rect">
            <a:avLst/>
          </a:prstGeom>
          <a:noFill/>
        </p:spPr>
        <p:txBody>
          <a:bodyPr wrap="square">
            <a:spAutoFit/>
          </a:bodyPr>
          <a:lstStyle/>
          <a:p>
            <a:pPr algn="l"/>
            <a:r>
              <a:rPr sz="1000" b="0" i="0">
                <a:solidFill>
                  <a:srgbClr val="A8D8A8"/>
                </a:solidFill>
                <a:latin typeface="Courier New"/>
              </a:rPr>
              <a:t>prep_time  ~  IntegerUniform(5, 25)</a:t>
            </a:r>
          </a:p>
        </p:txBody>
      </p:sp>
      <p:sp>
        <p:nvSpPr>
          <p:cNvPr id="22" name="TextBox 21"/>
          <p:cNvSpPr txBox="1"/>
          <p:nvPr/>
        </p:nvSpPr>
        <p:spPr>
          <a:xfrm>
            <a:off x="274320" y="5047488"/>
            <a:ext cx="11640312" cy="292608"/>
          </a:xfrm>
          <a:prstGeom prst="rect">
            <a:avLst/>
          </a:prstGeom>
          <a:noFill/>
        </p:spPr>
        <p:txBody>
          <a:bodyPr wrap="square">
            <a:spAutoFit/>
          </a:bodyPr>
          <a:lstStyle/>
          <a:p>
            <a:pPr algn="l"/>
            <a:r>
              <a:rPr sz="1200" b="1" i="0">
                <a:solidFill>
                  <a:srgbClr val="1A2E4A"/>
                </a:solidFill>
                <a:latin typeface="Calibri"/>
              </a:rPr>
              <a:t>Cost ratio</a:t>
            </a:r>
          </a:p>
        </p:txBody>
      </p:sp>
      <p:sp>
        <p:nvSpPr>
          <p:cNvPr id="23" name="Rectangle 22"/>
          <p:cNvSpPr/>
          <p:nvPr/>
        </p:nvSpPr>
        <p:spPr>
          <a:xfrm>
            <a:off x="274320" y="5367528"/>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048" y="5458968"/>
            <a:ext cx="5358384" cy="182880"/>
          </a:xfrm>
          <a:prstGeom prst="rect">
            <a:avLst/>
          </a:prstGeom>
          <a:noFill/>
        </p:spPr>
        <p:txBody>
          <a:bodyPr wrap="square">
            <a:spAutoFit/>
          </a:bodyPr>
          <a:lstStyle/>
          <a:p>
            <a:pPr algn="l"/>
            <a:r>
              <a:rPr sz="1000" b="0" i="0">
                <a:solidFill>
                  <a:srgbClr val="A8D8A8"/>
                </a:solidFill>
                <a:latin typeface="Courier New"/>
              </a:rPr>
              <a:t>cost_ratio  ~  Uniform(0.30, 0.60)</a:t>
            </a:r>
          </a:p>
        </p:txBody>
      </p:sp>
      <p:sp>
        <p:nvSpPr>
          <p:cNvPr id="25" name="TextBox 24"/>
          <p:cNvSpPr txBox="1"/>
          <p:nvPr/>
        </p:nvSpPr>
        <p:spPr>
          <a:xfrm>
            <a:off x="6062472" y="1051560"/>
            <a:ext cx="11640312" cy="292608"/>
          </a:xfrm>
          <a:prstGeom prst="rect">
            <a:avLst/>
          </a:prstGeom>
          <a:noFill/>
        </p:spPr>
        <p:txBody>
          <a:bodyPr wrap="square">
            <a:spAutoFit/>
          </a:bodyPr>
          <a:lstStyle/>
          <a:p>
            <a:pPr algn="l"/>
            <a:r>
              <a:rPr sz="1200" b="1" i="0">
                <a:solidFill>
                  <a:srgbClr val="1A2E4A"/>
                </a:solidFill>
                <a:latin typeface="Calibri"/>
              </a:rPr>
              <a:t>Platform listing</a:t>
            </a:r>
          </a:p>
        </p:txBody>
      </p:sp>
      <p:sp>
        <p:nvSpPr>
          <p:cNvPr id="26" name="Rectangle 25"/>
          <p:cNvSpPr/>
          <p:nvPr/>
        </p:nvSpPr>
        <p:spPr>
          <a:xfrm>
            <a:off x="6062472" y="1371600"/>
            <a:ext cx="5852160"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72200" y="1463040"/>
            <a:ext cx="5632704" cy="365760"/>
          </a:xfrm>
          <a:prstGeom prst="rect">
            <a:avLst/>
          </a:prstGeom>
          <a:noFill/>
        </p:spPr>
        <p:txBody>
          <a:bodyPr wrap="square">
            <a:spAutoFit/>
          </a:bodyPr>
          <a:lstStyle/>
          <a:p>
            <a:pPr algn="l"/>
            <a:r>
              <a:rPr sz="1000" b="0" i="0">
                <a:solidFill>
                  <a:srgbClr val="A8D8A8"/>
                </a:solidFill>
                <a:latin typeface="Courier New"/>
              </a:rPr>
              <a:t>n_platforms  ~  IntegerUniform(1, 3)
platforms  sampled without replacement</a:t>
            </a:r>
          </a:p>
        </p:txBody>
      </p:sp>
      <p:sp>
        <p:nvSpPr>
          <p:cNvPr id="28" name="TextBox 27"/>
          <p:cNvSpPr txBox="1"/>
          <p:nvPr/>
        </p:nvSpPr>
        <p:spPr>
          <a:xfrm>
            <a:off x="6062472" y="2029968"/>
            <a:ext cx="11640312" cy="292608"/>
          </a:xfrm>
          <a:prstGeom prst="rect">
            <a:avLst/>
          </a:prstGeom>
          <a:noFill/>
        </p:spPr>
        <p:txBody>
          <a:bodyPr wrap="square">
            <a:spAutoFit/>
          </a:bodyPr>
          <a:lstStyle/>
          <a:p>
            <a:pPr algn="l"/>
            <a:r>
              <a:rPr sz="1200" b="1" i="0">
                <a:solidFill>
                  <a:srgbClr val="1A2E4A"/>
                </a:solidFill>
                <a:latin typeface="Calibri"/>
              </a:rPr>
              <a:t>Promo budget</a:t>
            </a:r>
          </a:p>
        </p:txBody>
      </p:sp>
      <p:sp>
        <p:nvSpPr>
          <p:cNvPr id="29" name="Rectangle 28"/>
          <p:cNvSpPr/>
          <p:nvPr/>
        </p:nvSpPr>
        <p:spPr>
          <a:xfrm>
            <a:off x="6062472" y="2350008"/>
            <a:ext cx="585216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72200" y="2441448"/>
            <a:ext cx="5632704" cy="182880"/>
          </a:xfrm>
          <a:prstGeom prst="rect">
            <a:avLst/>
          </a:prstGeom>
          <a:noFill/>
        </p:spPr>
        <p:txBody>
          <a:bodyPr wrap="square">
            <a:spAutoFit/>
          </a:bodyPr>
          <a:lstStyle/>
          <a:p>
            <a:pPr algn="l"/>
            <a:r>
              <a:rPr sz="1000" b="0" i="0">
                <a:solidFill>
                  <a:srgbClr val="A8D8A8"/>
                </a:solidFill>
                <a:latin typeface="Courier New"/>
              </a:rPr>
              <a:t>promo_budget_per_platform  ~  Uniform(0, 3)</a:t>
            </a:r>
          </a:p>
        </p:txBody>
      </p:sp>
      <p:sp>
        <p:nvSpPr>
          <p:cNvPr id="31" name="TextBox 30"/>
          <p:cNvSpPr txBox="1"/>
          <p:nvPr/>
        </p:nvSpPr>
        <p:spPr>
          <a:xfrm>
            <a:off x="6062472" y="2834640"/>
            <a:ext cx="5852160" cy="457200"/>
          </a:xfrm>
          <a:prstGeom prst="rect">
            <a:avLst/>
          </a:prstGeom>
          <a:noFill/>
        </p:spPr>
        <p:txBody>
          <a:bodyPr wrap="square">
            <a:spAutoFit/>
          </a:bodyPr>
          <a:lstStyle/>
          <a:p>
            <a:pPr algn="l"/>
            <a:r>
              <a:rPr sz="1100" b="0" i="1">
                <a:solidFill>
                  <a:srgbClr val="888899"/>
                </a:solidFill>
                <a:latin typeface="Calibri"/>
              </a:rPr>
              <a:t>Prices are positively correlated with quality but noisy — cheap high-quality restaurants exist.</a:t>
            </a:r>
          </a:p>
        </p:txBody>
      </p:sp>
      <p:sp>
        <p:nvSpPr>
          <p:cNvPr id="32" name="TextBox 31"/>
          <p:cNvSpPr txBox="1"/>
          <p:nvPr/>
        </p:nvSpPr>
        <p:spPr>
          <a:xfrm>
            <a:off x="6062472" y="3401568"/>
            <a:ext cx="11640312" cy="292608"/>
          </a:xfrm>
          <a:prstGeom prst="rect">
            <a:avLst/>
          </a:prstGeom>
          <a:noFill/>
        </p:spPr>
        <p:txBody>
          <a:bodyPr wrap="square">
            <a:spAutoFit/>
          </a:bodyPr>
          <a:lstStyle/>
          <a:p>
            <a:pPr algn="l"/>
            <a:r>
              <a:rPr sz="1200" b="1" i="0">
                <a:solidFill>
                  <a:srgbClr val="1A2E4A"/>
                </a:solidFill>
                <a:latin typeface="Calibri"/>
              </a:rPr>
              <a:t>Cuisines (9 categories)</a:t>
            </a:r>
          </a:p>
        </p:txBody>
      </p:sp>
      <p:sp>
        <p:nvSpPr>
          <p:cNvPr id="33" name="Rectangle 32"/>
          <p:cNvSpPr/>
          <p:nvPr/>
        </p:nvSpPr>
        <p:spPr>
          <a:xfrm>
            <a:off x="6062472" y="3721608"/>
            <a:ext cx="5852160"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72200" y="3813048"/>
            <a:ext cx="5632704" cy="457200"/>
          </a:xfrm>
          <a:prstGeom prst="rect">
            <a:avLst/>
          </a:prstGeom>
          <a:noFill/>
        </p:spPr>
        <p:txBody>
          <a:bodyPr wrap="square">
            <a:spAutoFit/>
          </a:bodyPr>
          <a:lstStyle/>
          <a:p>
            <a:pPr algn="l"/>
            <a:r>
              <a:rPr sz="1000" b="0" i="0">
                <a:solidFill>
                  <a:srgbClr val="A8D8A8"/>
                </a:solidFill>
                <a:latin typeface="Courier New"/>
              </a:rPr>
              <a:t>Italian · Chinese · Indian · Mexican
Japanese · American · Thai · Korean
Mediterranean</a:t>
            </a:r>
          </a:p>
        </p:txBody>
      </p:sp>
      <p:sp>
        <p:nvSpPr>
          <p:cNvPr id="35" name="TextBox 34"/>
          <p:cNvSpPr txBox="1"/>
          <p:nvPr/>
        </p:nvSpPr>
        <p:spPr>
          <a:xfrm>
            <a:off x="6062472" y="4471416"/>
            <a:ext cx="11640312" cy="292608"/>
          </a:xfrm>
          <a:prstGeom prst="rect">
            <a:avLst/>
          </a:prstGeom>
          <a:noFill/>
        </p:spPr>
        <p:txBody>
          <a:bodyPr wrap="square">
            <a:spAutoFit/>
          </a:bodyPr>
          <a:lstStyle/>
          <a:p>
            <a:pPr algn="l"/>
            <a:r>
              <a:rPr sz="1200" b="1" i="0">
                <a:solidFill>
                  <a:srgbClr val="1A2E4A"/>
                </a:solidFill>
                <a:latin typeface="Calibri"/>
              </a:rPr>
              <a:t>Summary counts</a:t>
            </a:r>
          </a:p>
        </p:txBody>
      </p:sp>
      <p:sp>
        <p:nvSpPr>
          <p:cNvPr id="36" name="Rectangle 35"/>
          <p:cNvSpPr/>
          <p:nvPr/>
        </p:nvSpPr>
        <p:spPr>
          <a:xfrm>
            <a:off x="6062472" y="4791456"/>
            <a:ext cx="5852160" cy="9144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72200" y="4882896"/>
            <a:ext cx="5632704" cy="731520"/>
          </a:xfrm>
          <a:prstGeom prst="rect">
            <a:avLst/>
          </a:prstGeom>
          <a:noFill/>
        </p:spPr>
        <p:txBody>
          <a:bodyPr wrap="square">
            <a:spAutoFit/>
          </a:bodyPr>
          <a:lstStyle/>
          <a:p>
            <a:pPr algn="l"/>
            <a:r>
              <a:rPr sz="1000" b="0" i="0">
                <a:solidFill>
                  <a:srgbClr val="A8D8A8"/>
                </a:solidFill>
                <a:latin typeface="Courier New"/>
              </a:rPr>
              <a:t>50 restaurants total
1 – 3 platforms each
Menu price range:  $19 – $50
Quality range:     2.0 – 5.0 stars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Offer Generation</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D</a:t>
            </a:r>
          </a:p>
        </p:txBody>
      </p:sp>
      <p:sp>
        <p:nvSpPr>
          <p:cNvPr id="10" name="TextBox 9"/>
          <p:cNvSpPr txBox="1"/>
          <p:nvPr/>
        </p:nvSpPr>
        <p:spPr>
          <a:xfrm>
            <a:off x="274320" y="1051560"/>
            <a:ext cx="11640312" cy="411480"/>
          </a:xfrm>
          <a:prstGeom prst="rect">
            <a:avLst/>
          </a:prstGeom>
          <a:noFill/>
        </p:spPr>
        <p:txBody>
          <a:bodyPr wrap="square">
            <a:spAutoFit/>
          </a:bodyPr>
          <a:lstStyle/>
          <a:p>
            <a:pPr algn="l"/>
            <a:r>
              <a:rPr sz="1200" b="0" i="0">
                <a:solidFill>
                  <a:srgbClr val="222233"/>
                </a:solidFill>
                <a:latin typeface="Calibri"/>
              </a:rPr>
              <a:t>An offer is a restaurant-platform pair. Each restaurant generates one offer per platform it is listed on.</a:t>
            </a:r>
          </a:p>
        </p:txBody>
      </p:sp>
      <p:sp>
        <p:nvSpPr>
          <p:cNvPr id="11" name="TextBox 10"/>
          <p:cNvSpPr txBox="1"/>
          <p:nvPr/>
        </p:nvSpPr>
        <p:spPr>
          <a:xfrm>
            <a:off x="274320" y="1572768"/>
            <a:ext cx="11640312" cy="292608"/>
          </a:xfrm>
          <a:prstGeom prst="rect">
            <a:avLst/>
          </a:prstGeom>
          <a:noFill/>
        </p:spPr>
        <p:txBody>
          <a:bodyPr wrap="square">
            <a:spAutoFit/>
          </a:bodyPr>
          <a:lstStyle/>
          <a:p>
            <a:pPr algn="l"/>
            <a:r>
              <a:rPr sz="1200" b="1" i="0">
                <a:solidFill>
                  <a:srgbClr val="1A2E4A"/>
                </a:solidFill>
                <a:latin typeface="Calibri"/>
              </a:rPr>
              <a:t>Delivery fee</a:t>
            </a:r>
          </a:p>
        </p:txBody>
      </p:sp>
      <p:sp>
        <p:nvSpPr>
          <p:cNvPr id="12" name="Rectangle 11"/>
          <p:cNvSpPr/>
          <p:nvPr/>
        </p:nvSpPr>
        <p:spPr>
          <a:xfrm>
            <a:off x="274320" y="1892807"/>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1984247"/>
            <a:ext cx="5358384" cy="182880"/>
          </a:xfrm>
          <a:prstGeom prst="rect">
            <a:avLst/>
          </a:prstGeom>
          <a:noFill/>
        </p:spPr>
        <p:txBody>
          <a:bodyPr wrap="square">
            <a:spAutoFit/>
          </a:bodyPr>
          <a:lstStyle/>
          <a:p>
            <a:pPr algn="l"/>
            <a:r>
              <a:rPr sz="1000" b="0" i="0">
                <a:solidFill>
                  <a:srgbClr val="A8D8A8"/>
                </a:solidFill>
                <a:latin typeface="Courier New"/>
              </a:rPr>
              <a:t>delivery_fee  ~  Uniform(platform_delivery_fee_range)</a:t>
            </a:r>
          </a:p>
        </p:txBody>
      </p:sp>
      <p:sp>
        <p:nvSpPr>
          <p:cNvPr id="14" name="TextBox 13"/>
          <p:cNvSpPr txBox="1"/>
          <p:nvPr/>
        </p:nvSpPr>
        <p:spPr>
          <a:xfrm>
            <a:off x="274320" y="2368296"/>
            <a:ext cx="11640312" cy="292608"/>
          </a:xfrm>
          <a:prstGeom prst="rect">
            <a:avLst/>
          </a:prstGeom>
          <a:noFill/>
        </p:spPr>
        <p:txBody>
          <a:bodyPr wrap="square">
            <a:spAutoFit/>
          </a:bodyPr>
          <a:lstStyle/>
          <a:p>
            <a:pPr algn="l"/>
            <a:r>
              <a:rPr sz="1200" b="1" i="0">
                <a:solidFill>
                  <a:srgbClr val="1A2E4A"/>
                </a:solidFill>
                <a:latin typeface="Calibri"/>
              </a:rPr>
              <a:t>Delivery time</a:t>
            </a:r>
          </a:p>
        </p:txBody>
      </p:sp>
      <p:sp>
        <p:nvSpPr>
          <p:cNvPr id="15" name="Rectangle 14"/>
          <p:cNvSpPr/>
          <p:nvPr/>
        </p:nvSpPr>
        <p:spPr>
          <a:xfrm>
            <a:off x="274320" y="2688336"/>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2779776"/>
            <a:ext cx="5358384" cy="182880"/>
          </a:xfrm>
          <a:prstGeom prst="rect">
            <a:avLst/>
          </a:prstGeom>
          <a:noFill/>
        </p:spPr>
        <p:txBody>
          <a:bodyPr wrap="square">
            <a:spAutoFit/>
          </a:bodyPr>
          <a:lstStyle/>
          <a:p>
            <a:pPr algn="l"/>
            <a:r>
              <a:rPr sz="1000" b="0" i="0">
                <a:solidFill>
                  <a:srgbClr val="A8D8A8"/>
                </a:solidFill>
                <a:latin typeface="Courier New"/>
              </a:rPr>
              <a:t>delivery_time  =  prep_time  +  platform_logistics_time</a:t>
            </a:r>
          </a:p>
        </p:txBody>
      </p:sp>
      <p:sp>
        <p:nvSpPr>
          <p:cNvPr id="17" name="TextBox 16"/>
          <p:cNvSpPr txBox="1"/>
          <p:nvPr/>
        </p:nvSpPr>
        <p:spPr>
          <a:xfrm>
            <a:off x="274320" y="3163824"/>
            <a:ext cx="11640312" cy="292608"/>
          </a:xfrm>
          <a:prstGeom prst="rect">
            <a:avLst/>
          </a:prstGeom>
          <a:noFill/>
        </p:spPr>
        <p:txBody>
          <a:bodyPr wrap="square">
            <a:spAutoFit/>
          </a:bodyPr>
          <a:lstStyle/>
          <a:p>
            <a:pPr algn="l"/>
            <a:r>
              <a:rPr sz="1200" b="1" i="0">
                <a:solidFill>
                  <a:srgbClr val="1A2E4A"/>
                </a:solidFill>
                <a:latin typeface="Calibri"/>
              </a:rPr>
              <a:t>Promo discount</a:t>
            </a:r>
          </a:p>
        </p:txBody>
      </p:sp>
      <p:sp>
        <p:nvSpPr>
          <p:cNvPr id="18" name="Rectangle 17"/>
          <p:cNvSpPr/>
          <p:nvPr/>
        </p:nvSpPr>
        <p:spPr>
          <a:xfrm>
            <a:off x="274320" y="3483864"/>
            <a:ext cx="5577840"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3575304"/>
            <a:ext cx="5358384" cy="365760"/>
          </a:xfrm>
          <a:prstGeom prst="rect">
            <a:avLst/>
          </a:prstGeom>
          <a:noFill/>
        </p:spPr>
        <p:txBody>
          <a:bodyPr wrap="square">
            <a:spAutoFit/>
          </a:bodyPr>
          <a:lstStyle/>
          <a:p>
            <a:pPr algn="l"/>
            <a:r>
              <a:rPr sz="1000" b="0" i="0">
                <a:solidFill>
                  <a:srgbClr val="A8D8A8"/>
                </a:solidFill>
                <a:latin typeface="Courier New"/>
              </a:rPr>
              <a:t>raw_promo  ~  Uniform(0, 3)
promo_discount  =  min(raw_promo,  0.80 * delivery_fee)</a:t>
            </a:r>
          </a:p>
        </p:txBody>
      </p:sp>
      <p:sp>
        <p:nvSpPr>
          <p:cNvPr id="20" name="TextBox 19"/>
          <p:cNvSpPr txBox="1"/>
          <p:nvPr/>
        </p:nvSpPr>
        <p:spPr>
          <a:xfrm>
            <a:off x="274320" y="4142232"/>
            <a:ext cx="11640312" cy="292608"/>
          </a:xfrm>
          <a:prstGeom prst="rect">
            <a:avLst/>
          </a:prstGeom>
          <a:noFill/>
        </p:spPr>
        <p:txBody>
          <a:bodyPr wrap="square">
            <a:spAutoFit/>
          </a:bodyPr>
          <a:lstStyle/>
          <a:p>
            <a:pPr algn="l"/>
            <a:r>
              <a:rPr sz="1200" b="1" i="0">
                <a:solidFill>
                  <a:srgbClr val="1A2E4A"/>
                </a:solidFill>
                <a:latin typeface="Calibri"/>
              </a:rPr>
              <a:t>Sponsored boost (platform-internal)</a:t>
            </a:r>
          </a:p>
        </p:txBody>
      </p:sp>
      <p:sp>
        <p:nvSpPr>
          <p:cNvPr id="21" name="Rectangle 20"/>
          <p:cNvSpPr/>
          <p:nvPr/>
        </p:nvSpPr>
        <p:spPr>
          <a:xfrm>
            <a:off x="274320" y="4462272"/>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4553712"/>
            <a:ext cx="5358384" cy="182880"/>
          </a:xfrm>
          <a:prstGeom prst="rect">
            <a:avLst/>
          </a:prstGeom>
          <a:noFill/>
        </p:spPr>
        <p:txBody>
          <a:bodyPr wrap="square">
            <a:spAutoFit/>
          </a:bodyPr>
          <a:lstStyle/>
          <a:p>
            <a:pPr algn="l"/>
            <a:r>
              <a:rPr sz="1000" b="0" i="0">
                <a:solidFill>
                  <a:srgbClr val="A8D8A8"/>
                </a:solidFill>
                <a:latin typeface="Courier New"/>
              </a:rPr>
              <a:t>sponsored_boost  ~  Uniform(0, 0.5)</a:t>
            </a:r>
          </a:p>
        </p:txBody>
      </p:sp>
      <p:sp>
        <p:nvSpPr>
          <p:cNvPr id="23" name="TextBox 22"/>
          <p:cNvSpPr txBox="1"/>
          <p:nvPr/>
        </p:nvSpPr>
        <p:spPr>
          <a:xfrm>
            <a:off x="274320" y="4937760"/>
            <a:ext cx="11640312" cy="292608"/>
          </a:xfrm>
          <a:prstGeom prst="rect">
            <a:avLst/>
          </a:prstGeom>
          <a:noFill/>
        </p:spPr>
        <p:txBody>
          <a:bodyPr wrap="square">
            <a:spAutoFit/>
          </a:bodyPr>
          <a:lstStyle/>
          <a:p>
            <a:pPr algn="l"/>
            <a:r>
              <a:rPr sz="1200" b="1" i="0">
                <a:solidFill>
                  <a:srgbClr val="1A2E4A"/>
                </a:solidFill>
                <a:latin typeface="Calibri"/>
              </a:rPr>
              <a:t>Total consumer price</a:t>
            </a:r>
          </a:p>
        </p:txBody>
      </p:sp>
      <p:sp>
        <p:nvSpPr>
          <p:cNvPr id="24" name="Rectangle 23"/>
          <p:cNvSpPr/>
          <p:nvPr/>
        </p:nvSpPr>
        <p:spPr>
          <a:xfrm>
            <a:off x="274320" y="5257800"/>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5349240"/>
            <a:ext cx="5358384" cy="182880"/>
          </a:xfrm>
          <a:prstGeom prst="rect">
            <a:avLst/>
          </a:prstGeom>
          <a:noFill/>
        </p:spPr>
        <p:txBody>
          <a:bodyPr wrap="square">
            <a:spAutoFit/>
          </a:bodyPr>
          <a:lstStyle/>
          <a:p>
            <a:pPr algn="l"/>
            <a:r>
              <a:rPr sz="1000" b="0" i="0">
                <a:solidFill>
                  <a:srgbClr val="A8D8A8"/>
                </a:solidFill>
                <a:latin typeface="Courier New"/>
              </a:rPr>
              <a:t>total_price  =  menu_price  +  delivery_fee  -  promo_discount</a:t>
            </a:r>
          </a:p>
        </p:txBody>
      </p:sp>
      <p:sp>
        <p:nvSpPr>
          <p:cNvPr id="26" name="Rectangle 25"/>
          <p:cNvSpPr/>
          <p:nvPr/>
        </p:nvSpPr>
        <p:spPr>
          <a:xfrm>
            <a:off x="6062472" y="1572768"/>
            <a:ext cx="5852160" cy="42062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72200" y="1645920"/>
            <a:ext cx="5632704" cy="347472"/>
          </a:xfrm>
          <a:prstGeom prst="rect">
            <a:avLst/>
          </a:prstGeom>
          <a:noFill/>
        </p:spPr>
        <p:txBody>
          <a:bodyPr wrap="square">
            <a:spAutoFit/>
          </a:bodyPr>
          <a:lstStyle/>
          <a:p>
            <a:pPr algn="l"/>
            <a:r>
              <a:rPr sz="1200" b="1" i="0">
                <a:solidFill>
                  <a:srgbClr val="F0AB00"/>
                </a:solidFill>
                <a:latin typeface="Calibri"/>
              </a:rPr>
              <a:t>Interpretation</a:t>
            </a:r>
          </a:p>
        </p:txBody>
      </p:sp>
      <p:sp>
        <p:nvSpPr>
          <p:cNvPr id="28" name="TextBox 27"/>
          <p:cNvSpPr txBox="1"/>
          <p:nvPr/>
        </p:nvSpPr>
        <p:spPr>
          <a:xfrm>
            <a:off x="6172200" y="2057400"/>
            <a:ext cx="5632704" cy="594360"/>
          </a:xfrm>
          <a:prstGeom prst="rect">
            <a:avLst/>
          </a:prstGeom>
          <a:noFill/>
        </p:spPr>
        <p:txBody>
          <a:bodyPr wrap="square">
            <a:spAutoFit/>
          </a:bodyPr>
          <a:lstStyle/>
          <a:p>
            <a:pPr algn="l"/>
            <a:r>
              <a:rPr sz="1100" b="0" i="0">
                <a:solidFill>
                  <a:srgbClr val="D6E4F0"/>
                </a:solidFill>
                <a:latin typeface="Calibri"/>
              </a:rPr>
              <a:t>·  Promo discount lowers consumer's total price — capped at 80% of delivery fee.</a:t>
            </a:r>
          </a:p>
        </p:txBody>
      </p:sp>
      <p:sp>
        <p:nvSpPr>
          <p:cNvPr id="29" name="TextBox 28"/>
          <p:cNvSpPr txBox="1"/>
          <p:nvPr/>
        </p:nvSpPr>
        <p:spPr>
          <a:xfrm>
            <a:off x="6172200" y="2715768"/>
            <a:ext cx="5632704" cy="594360"/>
          </a:xfrm>
          <a:prstGeom prst="rect">
            <a:avLst/>
          </a:prstGeom>
          <a:noFill/>
        </p:spPr>
        <p:txBody>
          <a:bodyPr wrap="square">
            <a:spAutoFit/>
          </a:bodyPr>
          <a:lstStyle/>
          <a:p>
            <a:pPr algn="l"/>
            <a:r>
              <a:rPr sz="1100" b="0" i="0">
                <a:solidFill>
                  <a:srgbClr val="D6E4F0"/>
                </a:solidFill>
                <a:latin typeface="Calibri"/>
              </a:rPr>
              <a:t>·  Sponsored boost affects only platform-internal ranking, not the LLM's ranking.</a:t>
            </a:r>
          </a:p>
        </p:txBody>
      </p:sp>
      <p:sp>
        <p:nvSpPr>
          <p:cNvPr id="30" name="TextBox 29"/>
          <p:cNvSpPr txBox="1"/>
          <p:nvPr/>
        </p:nvSpPr>
        <p:spPr>
          <a:xfrm>
            <a:off x="6172200" y="3374136"/>
            <a:ext cx="5632704" cy="594360"/>
          </a:xfrm>
          <a:prstGeom prst="rect">
            <a:avLst/>
          </a:prstGeom>
          <a:noFill/>
        </p:spPr>
        <p:txBody>
          <a:bodyPr wrap="square">
            <a:spAutoFit/>
          </a:bodyPr>
          <a:lstStyle/>
          <a:p>
            <a:pPr algn="l"/>
            <a:r>
              <a:rPr sz="1100" b="0" i="0">
                <a:solidFill>
                  <a:srgbClr val="D6E4F0"/>
                </a:solidFill>
                <a:latin typeface="Calibri"/>
              </a:rPr>
              <a:t>·  The sponsored boost in platforms is not modeled as explicit restaurant ad payment.</a:t>
            </a:r>
          </a:p>
        </p:txBody>
      </p:sp>
      <p:sp>
        <p:nvSpPr>
          <p:cNvPr id="31" name="TextBox 30"/>
          <p:cNvSpPr txBox="1"/>
          <p:nvPr/>
        </p:nvSpPr>
        <p:spPr>
          <a:xfrm>
            <a:off x="6172200" y="4032504"/>
            <a:ext cx="5632704" cy="594360"/>
          </a:xfrm>
          <a:prstGeom prst="rect">
            <a:avLst/>
          </a:prstGeom>
          <a:noFill/>
        </p:spPr>
        <p:txBody>
          <a:bodyPr wrap="square">
            <a:spAutoFit/>
          </a:bodyPr>
          <a:lstStyle/>
          <a:p>
            <a:pPr algn="l"/>
            <a:r>
              <a:rPr sz="1100" b="0" i="0">
                <a:solidFill>
                  <a:srgbClr val="D6E4F0"/>
                </a:solidFill>
                <a:latin typeface="Calibri"/>
              </a:rPr>
              <a:t>·  Total price is what the consumer pays. Restaurant earns menu_price minus commission.</a:t>
            </a:r>
          </a:p>
        </p:txBody>
      </p:sp>
      <p:sp>
        <p:nvSpPr>
          <p:cNvPr id="32" name="TextBox 31"/>
          <p:cNvSpPr txBox="1"/>
          <p:nvPr/>
        </p:nvSpPr>
        <p:spPr>
          <a:xfrm>
            <a:off x="6172200" y="4690872"/>
            <a:ext cx="5632704" cy="594360"/>
          </a:xfrm>
          <a:prstGeom prst="rect">
            <a:avLst/>
          </a:prstGeom>
          <a:noFill/>
        </p:spPr>
        <p:txBody>
          <a:bodyPr wrap="square">
            <a:spAutoFit/>
          </a:bodyPr>
          <a:lstStyle/>
          <a:p>
            <a:pPr algn="l"/>
            <a:r>
              <a:rPr sz="1100" b="0" i="0">
                <a:solidFill>
                  <a:srgbClr val="D6E4F0"/>
                </a:solidFill>
                <a:latin typeface="Calibri"/>
              </a:rPr>
              <a:t>·  Multiple offers from the same restaurant (on different platforms) can appear in the LLM shortlist.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Consumer Generation</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E</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Preferred cuisines</a:t>
            </a:r>
          </a:p>
        </p:txBody>
      </p:sp>
      <p:sp>
        <p:nvSpPr>
          <p:cNvPr id="11" name="Rectangle 10"/>
          <p:cNvSpPr/>
          <p:nvPr/>
        </p:nvSpPr>
        <p:spPr>
          <a:xfrm>
            <a:off x="274320" y="1371600"/>
            <a:ext cx="5577840"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5358384" cy="365760"/>
          </a:xfrm>
          <a:prstGeom prst="rect">
            <a:avLst/>
          </a:prstGeom>
          <a:noFill/>
        </p:spPr>
        <p:txBody>
          <a:bodyPr wrap="square">
            <a:spAutoFit/>
          </a:bodyPr>
          <a:lstStyle/>
          <a:p>
            <a:pPr algn="l"/>
            <a:r>
              <a:rPr sz="1000" b="0" i="0">
                <a:solidFill>
                  <a:srgbClr val="A8D8A8"/>
                </a:solidFill>
                <a:latin typeface="Courier New"/>
              </a:rPr>
              <a:t>n_preferences  ~  IntegerUniform(2, 4)
preferred_cuisines  sampled from 9 categories</a:t>
            </a:r>
          </a:p>
        </p:txBody>
      </p:sp>
      <p:sp>
        <p:nvSpPr>
          <p:cNvPr id="13" name="TextBox 12"/>
          <p:cNvSpPr txBox="1"/>
          <p:nvPr/>
        </p:nvSpPr>
        <p:spPr>
          <a:xfrm>
            <a:off x="274320" y="2029968"/>
            <a:ext cx="11640312" cy="292608"/>
          </a:xfrm>
          <a:prstGeom prst="rect">
            <a:avLst/>
          </a:prstGeom>
          <a:noFill/>
        </p:spPr>
        <p:txBody>
          <a:bodyPr wrap="square">
            <a:spAutoFit/>
          </a:bodyPr>
          <a:lstStyle/>
          <a:p>
            <a:pPr algn="l"/>
            <a:r>
              <a:rPr sz="1200" b="1" i="0">
                <a:solidFill>
                  <a:srgbClr val="1A2E4A"/>
                </a:solidFill>
                <a:latin typeface="Calibri"/>
              </a:rPr>
              <a:t>Budget</a:t>
            </a:r>
          </a:p>
        </p:txBody>
      </p:sp>
      <p:sp>
        <p:nvSpPr>
          <p:cNvPr id="14" name="Rectangle 13"/>
          <p:cNvSpPr/>
          <p:nvPr/>
        </p:nvSpPr>
        <p:spPr>
          <a:xfrm>
            <a:off x="274320" y="2350008"/>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2441448"/>
            <a:ext cx="5358384" cy="182880"/>
          </a:xfrm>
          <a:prstGeom prst="rect">
            <a:avLst/>
          </a:prstGeom>
          <a:noFill/>
        </p:spPr>
        <p:txBody>
          <a:bodyPr wrap="square">
            <a:spAutoFit/>
          </a:bodyPr>
          <a:lstStyle/>
          <a:p>
            <a:pPr algn="l"/>
            <a:r>
              <a:rPr sz="1000" b="0" i="0">
                <a:solidFill>
                  <a:srgbClr val="A8D8A8"/>
                </a:solidFill>
                <a:latin typeface="Courier New"/>
              </a:rPr>
              <a:t>budget  ~  Uniform(22, 60)</a:t>
            </a:r>
          </a:p>
        </p:txBody>
      </p:sp>
      <p:sp>
        <p:nvSpPr>
          <p:cNvPr id="16" name="TextBox 15"/>
          <p:cNvSpPr txBox="1"/>
          <p:nvPr/>
        </p:nvSpPr>
        <p:spPr>
          <a:xfrm>
            <a:off x="274320" y="2825496"/>
            <a:ext cx="11640312" cy="292608"/>
          </a:xfrm>
          <a:prstGeom prst="rect">
            <a:avLst/>
          </a:prstGeom>
          <a:noFill/>
        </p:spPr>
        <p:txBody>
          <a:bodyPr wrap="square">
            <a:spAutoFit/>
          </a:bodyPr>
          <a:lstStyle/>
          <a:p>
            <a:pPr algn="l"/>
            <a:r>
              <a:rPr sz="1200" b="1" i="0">
                <a:solidFill>
                  <a:srgbClr val="1A2E4A"/>
                </a:solidFill>
                <a:latin typeface="Calibri"/>
              </a:rPr>
              <a:t>Max delivery time tolerance</a:t>
            </a:r>
          </a:p>
        </p:txBody>
      </p:sp>
      <p:sp>
        <p:nvSpPr>
          <p:cNvPr id="17" name="Rectangle 16"/>
          <p:cNvSpPr/>
          <p:nvPr/>
        </p:nvSpPr>
        <p:spPr>
          <a:xfrm>
            <a:off x="274320" y="3145536"/>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3236976"/>
            <a:ext cx="5358384" cy="182880"/>
          </a:xfrm>
          <a:prstGeom prst="rect">
            <a:avLst/>
          </a:prstGeom>
          <a:noFill/>
        </p:spPr>
        <p:txBody>
          <a:bodyPr wrap="square">
            <a:spAutoFit/>
          </a:bodyPr>
          <a:lstStyle/>
          <a:p>
            <a:pPr algn="l"/>
            <a:r>
              <a:rPr sz="1000" b="0" i="0">
                <a:solidFill>
                  <a:srgbClr val="A8D8A8"/>
                </a:solidFill>
                <a:latin typeface="Courier New"/>
              </a:rPr>
              <a:t>max_delivery_time  ~  IntegerUniform(20, 60)</a:t>
            </a:r>
          </a:p>
        </p:txBody>
      </p:sp>
      <p:sp>
        <p:nvSpPr>
          <p:cNvPr id="19" name="TextBox 18"/>
          <p:cNvSpPr txBox="1"/>
          <p:nvPr/>
        </p:nvSpPr>
        <p:spPr>
          <a:xfrm>
            <a:off x="274320" y="3621024"/>
            <a:ext cx="11640312" cy="292608"/>
          </a:xfrm>
          <a:prstGeom prst="rect">
            <a:avLst/>
          </a:prstGeom>
          <a:noFill/>
        </p:spPr>
        <p:txBody>
          <a:bodyPr wrap="square">
            <a:spAutoFit/>
          </a:bodyPr>
          <a:lstStyle/>
          <a:p>
            <a:pPr algn="l"/>
            <a:r>
              <a:rPr sz="1200" b="1" i="0">
                <a:solidFill>
                  <a:srgbClr val="1A2E4A"/>
                </a:solidFill>
                <a:latin typeface="Calibri"/>
              </a:rPr>
              <a:t>Sensitivities</a:t>
            </a:r>
          </a:p>
        </p:txBody>
      </p:sp>
      <p:sp>
        <p:nvSpPr>
          <p:cNvPr id="20" name="Rectangle 19"/>
          <p:cNvSpPr/>
          <p:nvPr/>
        </p:nvSpPr>
        <p:spPr>
          <a:xfrm>
            <a:off x="274320" y="3941063"/>
            <a:ext cx="5577840"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4032503"/>
            <a:ext cx="5358384" cy="457200"/>
          </a:xfrm>
          <a:prstGeom prst="rect">
            <a:avLst/>
          </a:prstGeom>
          <a:noFill/>
        </p:spPr>
        <p:txBody>
          <a:bodyPr wrap="square">
            <a:spAutoFit/>
          </a:bodyPr>
          <a:lstStyle/>
          <a:p>
            <a:pPr algn="l"/>
            <a:r>
              <a:rPr sz="1000" b="0" i="0">
                <a:solidFill>
                  <a:srgbClr val="A8D8A8"/>
                </a:solidFill>
                <a:latin typeface="Courier New"/>
              </a:rPr>
              <a:t>price_sensitivity    =  abs( Normal(1.0, 0.3) )
time_sensitivity     =  abs( Normal(0.8, 0.3) )
quality_sensitivity  =  abs( Normal(1.0, 0.3) )</a:t>
            </a:r>
          </a:p>
        </p:txBody>
      </p:sp>
      <p:sp>
        <p:nvSpPr>
          <p:cNvPr id="22" name="TextBox 21"/>
          <p:cNvSpPr txBox="1"/>
          <p:nvPr/>
        </p:nvSpPr>
        <p:spPr>
          <a:xfrm>
            <a:off x="274320" y="4690872"/>
            <a:ext cx="11640312" cy="292608"/>
          </a:xfrm>
          <a:prstGeom prst="rect">
            <a:avLst/>
          </a:prstGeom>
          <a:noFill/>
        </p:spPr>
        <p:txBody>
          <a:bodyPr wrap="square">
            <a:spAutoFit/>
          </a:bodyPr>
          <a:lstStyle/>
          <a:p>
            <a:pPr algn="l"/>
            <a:r>
              <a:rPr sz="1200" b="1" i="0">
                <a:solidFill>
                  <a:srgbClr val="1A2E4A"/>
                </a:solidFill>
                <a:latin typeface="Calibri"/>
              </a:rPr>
              <a:t>LLM trust</a:t>
            </a:r>
          </a:p>
        </p:txBody>
      </p:sp>
      <p:sp>
        <p:nvSpPr>
          <p:cNvPr id="23" name="Rectangle 22"/>
          <p:cNvSpPr/>
          <p:nvPr/>
        </p:nvSpPr>
        <p:spPr>
          <a:xfrm>
            <a:off x="274320" y="5010912"/>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84048" y="5102352"/>
            <a:ext cx="5358384" cy="182880"/>
          </a:xfrm>
          <a:prstGeom prst="rect">
            <a:avLst/>
          </a:prstGeom>
          <a:noFill/>
        </p:spPr>
        <p:txBody>
          <a:bodyPr wrap="square">
            <a:spAutoFit/>
          </a:bodyPr>
          <a:lstStyle/>
          <a:p>
            <a:pPr algn="l"/>
            <a:r>
              <a:rPr sz="1000" b="0" i="0">
                <a:solidFill>
                  <a:srgbClr val="A8D8A8"/>
                </a:solidFill>
                <a:latin typeface="Courier New"/>
              </a:rPr>
              <a:t>llm_trust  ~  Uniform(0, 1)</a:t>
            </a:r>
          </a:p>
        </p:txBody>
      </p:sp>
      <p:sp>
        <p:nvSpPr>
          <p:cNvPr id="25" name="TextBox 24"/>
          <p:cNvSpPr txBox="1"/>
          <p:nvPr/>
        </p:nvSpPr>
        <p:spPr>
          <a:xfrm>
            <a:off x="274320" y="5486400"/>
            <a:ext cx="11640312" cy="292608"/>
          </a:xfrm>
          <a:prstGeom prst="rect">
            <a:avLst/>
          </a:prstGeom>
          <a:noFill/>
        </p:spPr>
        <p:txBody>
          <a:bodyPr wrap="square">
            <a:spAutoFit/>
          </a:bodyPr>
          <a:lstStyle/>
          <a:p>
            <a:pPr algn="l"/>
            <a:r>
              <a:rPr sz="1200" b="1" i="0">
                <a:solidFill>
                  <a:srgbClr val="1A2E4A"/>
                </a:solidFill>
                <a:latin typeface="Calibri"/>
              </a:rPr>
              <a:t>Platform loyalty</a:t>
            </a:r>
          </a:p>
        </p:txBody>
      </p:sp>
      <p:sp>
        <p:nvSpPr>
          <p:cNvPr id="26" name="Rectangle 25"/>
          <p:cNvSpPr/>
          <p:nvPr/>
        </p:nvSpPr>
        <p:spPr>
          <a:xfrm>
            <a:off x="274320" y="5806440"/>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8" y="5897880"/>
            <a:ext cx="5358384" cy="182880"/>
          </a:xfrm>
          <a:prstGeom prst="rect">
            <a:avLst/>
          </a:prstGeom>
          <a:noFill/>
        </p:spPr>
        <p:txBody>
          <a:bodyPr wrap="square">
            <a:spAutoFit/>
          </a:bodyPr>
          <a:lstStyle/>
          <a:p>
            <a:pPr algn="l"/>
            <a:r>
              <a:rPr sz="1000" b="0" i="0">
                <a:solidFill>
                  <a:srgbClr val="A8D8A8"/>
                </a:solidFill>
                <a:latin typeface="Courier New"/>
              </a:rPr>
              <a:t>loyalty_to_each_platform  ~  Uniform(0, 1)</a:t>
            </a:r>
          </a:p>
        </p:txBody>
      </p:sp>
      <p:sp>
        <p:nvSpPr>
          <p:cNvPr id="28" name="TextBox 27"/>
          <p:cNvSpPr txBox="1"/>
          <p:nvPr/>
        </p:nvSpPr>
        <p:spPr>
          <a:xfrm>
            <a:off x="6062472" y="1051560"/>
            <a:ext cx="11640312" cy="292608"/>
          </a:xfrm>
          <a:prstGeom prst="rect">
            <a:avLst/>
          </a:prstGeom>
          <a:noFill/>
        </p:spPr>
        <p:txBody>
          <a:bodyPr wrap="square">
            <a:spAutoFit/>
          </a:bodyPr>
          <a:lstStyle/>
          <a:p>
            <a:pPr algn="l"/>
            <a:r>
              <a:rPr sz="1200" b="1" i="0">
                <a:solidFill>
                  <a:srgbClr val="1A2E4A"/>
                </a:solidFill>
                <a:latin typeface="Calibri"/>
              </a:rPr>
              <a:t>Interpretation</a:t>
            </a:r>
          </a:p>
        </p:txBody>
      </p:sp>
      <p:sp>
        <p:nvSpPr>
          <p:cNvPr id="29" name="TextBox 28"/>
          <p:cNvSpPr txBox="1"/>
          <p:nvPr/>
        </p:nvSpPr>
        <p:spPr>
          <a:xfrm>
            <a:off x="6062472" y="1389888"/>
            <a:ext cx="5852160" cy="594360"/>
          </a:xfrm>
          <a:prstGeom prst="rect">
            <a:avLst/>
          </a:prstGeom>
          <a:noFill/>
        </p:spPr>
        <p:txBody>
          <a:bodyPr wrap="square">
            <a:spAutoFit/>
          </a:bodyPr>
          <a:lstStyle/>
          <a:p>
            <a:pPr algn="l"/>
            <a:r>
              <a:rPr sz="1100" b="0" i="0">
                <a:solidFill>
                  <a:srgbClr val="222233"/>
                </a:solidFill>
                <a:latin typeface="Calibri"/>
              </a:rPr>
              <a:t>·  Consumers differ in price, time, and quality sensitivity — standard MNL heterogeneity.</a:t>
            </a:r>
          </a:p>
        </p:txBody>
      </p:sp>
      <p:sp>
        <p:nvSpPr>
          <p:cNvPr id="30" name="TextBox 29"/>
          <p:cNvSpPr txBox="1"/>
          <p:nvPr/>
        </p:nvSpPr>
        <p:spPr>
          <a:xfrm>
            <a:off x="6062472" y="2057400"/>
            <a:ext cx="5852160" cy="594360"/>
          </a:xfrm>
          <a:prstGeom prst="rect">
            <a:avLst/>
          </a:prstGeom>
          <a:noFill/>
        </p:spPr>
        <p:txBody>
          <a:bodyPr wrap="square">
            <a:spAutoFit/>
          </a:bodyPr>
          <a:lstStyle/>
          <a:p>
            <a:pPr algn="l"/>
            <a:r>
              <a:rPr sz="1100" b="0" i="0">
                <a:solidFill>
                  <a:srgbClr val="222233"/>
                </a:solidFill>
                <a:latin typeface="Calibri"/>
              </a:rPr>
              <a:t>·  Platform loyalty determines which 2 apps consumers open in the no-LLM world.</a:t>
            </a:r>
          </a:p>
        </p:txBody>
      </p:sp>
      <p:sp>
        <p:nvSpPr>
          <p:cNvPr id="31" name="TextBox 30"/>
          <p:cNvSpPr txBox="1"/>
          <p:nvPr/>
        </p:nvSpPr>
        <p:spPr>
          <a:xfrm>
            <a:off x="6062472" y="2724912"/>
            <a:ext cx="5852160" cy="594360"/>
          </a:xfrm>
          <a:prstGeom prst="rect">
            <a:avLst/>
          </a:prstGeom>
          <a:noFill/>
        </p:spPr>
        <p:txBody>
          <a:bodyPr wrap="square">
            <a:spAutoFit/>
          </a:bodyPr>
          <a:lstStyle/>
          <a:p>
            <a:pPr algn="l"/>
            <a:r>
              <a:rPr sz="1100" b="0" i="0">
                <a:solidFill>
                  <a:srgbClr val="222233"/>
                </a:solidFill>
                <a:latin typeface="Calibri"/>
              </a:rPr>
              <a:t>·  LLM trust affects willingness to click on and follow LLM recommendations.</a:t>
            </a:r>
          </a:p>
        </p:txBody>
      </p:sp>
      <p:sp>
        <p:nvSpPr>
          <p:cNvPr id="32" name="TextBox 31"/>
          <p:cNvSpPr txBox="1"/>
          <p:nvPr/>
        </p:nvSpPr>
        <p:spPr>
          <a:xfrm>
            <a:off x="6062472" y="3392424"/>
            <a:ext cx="5852160" cy="594360"/>
          </a:xfrm>
          <a:prstGeom prst="rect">
            <a:avLst/>
          </a:prstGeom>
          <a:noFill/>
        </p:spPr>
        <p:txBody>
          <a:bodyPr wrap="square">
            <a:spAutoFit/>
          </a:bodyPr>
          <a:lstStyle/>
          <a:p>
            <a:pPr algn="l"/>
            <a:r>
              <a:rPr sz="1100" b="0" i="0">
                <a:solidFill>
                  <a:srgbClr val="222233"/>
                </a:solidFill>
                <a:latin typeface="Calibri"/>
              </a:rPr>
              <a:t>·  Budget range ($22–$60) overlaps menu price range ($19–$50) to create realistic constraint variation.</a:t>
            </a:r>
          </a:p>
        </p:txBody>
      </p:sp>
      <p:sp>
        <p:nvSpPr>
          <p:cNvPr id="33" name="TextBox 32"/>
          <p:cNvSpPr txBox="1"/>
          <p:nvPr/>
        </p:nvSpPr>
        <p:spPr>
          <a:xfrm>
            <a:off x="6062472" y="4059936"/>
            <a:ext cx="5852160" cy="594360"/>
          </a:xfrm>
          <a:prstGeom prst="rect">
            <a:avLst/>
          </a:prstGeom>
          <a:noFill/>
        </p:spPr>
        <p:txBody>
          <a:bodyPr wrap="square">
            <a:spAutoFit/>
          </a:bodyPr>
          <a:lstStyle/>
          <a:p>
            <a:pPr algn="l"/>
            <a:r>
              <a:rPr sz="1100" b="0" i="0">
                <a:solidFill>
                  <a:srgbClr val="222233"/>
                </a:solidFill>
                <a:latin typeface="Calibri"/>
              </a:rPr>
              <a:t>·  Max delivery time (20–60 min) creates variation in which restaurants are feasible.</a:t>
            </a:r>
          </a:p>
        </p:txBody>
      </p:sp>
      <p:sp>
        <p:nvSpPr>
          <p:cNvPr id="34" name="TextBox 33"/>
          <p:cNvSpPr txBox="1"/>
          <p:nvPr/>
        </p:nvSpPr>
        <p:spPr>
          <a:xfrm>
            <a:off x="6062472" y="4727448"/>
            <a:ext cx="5852160" cy="594360"/>
          </a:xfrm>
          <a:prstGeom prst="rect">
            <a:avLst/>
          </a:prstGeom>
          <a:noFill/>
        </p:spPr>
        <p:txBody>
          <a:bodyPr wrap="square">
            <a:spAutoFit/>
          </a:bodyPr>
          <a:lstStyle/>
          <a:p>
            <a:pPr algn="l"/>
            <a:r>
              <a:rPr sz="1100" b="0" i="0">
                <a:solidFill>
                  <a:srgbClr val="222233"/>
                </a:solidFill>
                <a:latin typeface="Calibri"/>
              </a:rPr>
              <a:t>·  Sensitivities are truncated-normal (abs) to avoid negative weights in utility.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Meal Intent Sampling</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F</a:t>
            </a:r>
          </a:p>
        </p:txBody>
      </p:sp>
      <p:sp>
        <p:nvSpPr>
          <p:cNvPr id="10" name="TextBox 9"/>
          <p:cNvSpPr txBox="1"/>
          <p:nvPr/>
        </p:nvSpPr>
        <p:spPr>
          <a:xfrm>
            <a:off x="274320" y="1051560"/>
            <a:ext cx="11640312" cy="502920"/>
          </a:xfrm>
          <a:prstGeom prst="rect">
            <a:avLst/>
          </a:prstGeom>
          <a:noFill/>
        </p:spPr>
        <p:txBody>
          <a:bodyPr wrap="square">
            <a:spAutoFit/>
          </a:bodyPr>
          <a:lstStyle/>
          <a:p>
            <a:pPr algn="l"/>
            <a:r>
              <a:rPr sz="1200" b="0" i="0">
                <a:solidFill>
                  <a:srgbClr val="222233"/>
                </a:solidFill>
                <a:latin typeface="Calibri"/>
              </a:rPr>
              <a:t>Each consumer has a general profile. Each simulated meal draws a specific intent — the concrete request the LLM or platform receives.</a:t>
            </a:r>
          </a:p>
        </p:txBody>
      </p:sp>
      <p:sp>
        <p:nvSpPr>
          <p:cNvPr id="11" name="TextBox 10"/>
          <p:cNvSpPr txBox="1"/>
          <p:nvPr/>
        </p:nvSpPr>
        <p:spPr>
          <a:xfrm>
            <a:off x="274320" y="1664208"/>
            <a:ext cx="11640312" cy="292608"/>
          </a:xfrm>
          <a:prstGeom prst="rect">
            <a:avLst/>
          </a:prstGeom>
          <a:noFill/>
        </p:spPr>
        <p:txBody>
          <a:bodyPr wrap="square">
            <a:spAutoFit/>
          </a:bodyPr>
          <a:lstStyle/>
          <a:p>
            <a:pPr algn="l"/>
            <a:r>
              <a:rPr sz="1200" b="1" i="0">
                <a:solidFill>
                  <a:srgbClr val="1A2E4A"/>
                </a:solidFill>
                <a:latin typeface="Calibri"/>
              </a:rPr>
              <a:t>Intent cuisine</a:t>
            </a:r>
          </a:p>
        </p:txBody>
      </p:sp>
      <p:sp>
        <p:nvSpPr>
          <p:cNvPr id="12" name="Rectangle 11"/>
          <p:cNvSpPr/>
          <p:nvPr/>
        </p:nvSpPr>
        <p:spPr>
          <a:xfrm>
            <a:off x="274320" y="1984248"/>
            <a:ext cx="11640312"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2075688"/>
            <a:ext cx="11420856" cy="182880"/>
          </a:xfrm>
          <a:prstGeom prst="rect">
            <a:avLst/>
          </a:prstGeom>
          <a:noFill/>
        </p:spPr>
        <p:txBody>
          <a:bodyPr wrap="square">
            <a:spAutoFit/>
          </a:bodyPr>
          <a:lstStyle/>
          <a:p>
            <a:pPr algn="l"/>
            <a:r>
              <a:rPr sz="1000" b="0" i="0">
                <a:solidFill>
                  <a:srgbClr val="A8D8A8"/>
                </a:solidFill>
                <a:latin typeface="Courier New"/>
              </a:rPr>
              <a:t>intent_cuisine  ~  RandomChoice(consumer.preferred_cuisines)</a:t>
            </a:r>
          </a:p>
        </p:txBody>
      </p:sp>
      <p:sp>
        <p:nvSpPr>
          <p:cNvPr id="14" name="TextBox 13"/>
          <p:cNvSpPr txBox="1"/>
          <p:nvPr/>
        </p:nvSpPr>
        <p:spPr>
          <a:xfrm>
            <a:off x="274320" y="2468880"/>
            <a:ext cx="11640312" cy="292608"/>
          </a:xfrm>
          <a:prstGeom prst="rect">
            <a:avLst/>
          </a:prstGeom>
          <a:noFill/>
        </p:spPr>
        <p:txBody>
          <a:bodyPr wrap="square">
            <a:spAutoFit/>
          </a:bodyPr>
          <a:lstStyle/>
          <a:p>
            <a:pPr algn="l"/>
            <a:r>
              <a:rPr sz="1200" b="1" i="0">
                <a:solidFill>
                  <a:srgbClr val="1A2E4A"/>
                </a:solidFill>
                <a:latin typeface="Calibri"/>
              </a:rPr>
              <a:t>Intent budget</a:t>
            </a:r>
          </a:p>
        </p:txBody>
      </p:sp>
      <p:sp>
        <p:nvSpPr>
          <p:cNvPr id="15" name="Rectangle 14"/>
          <p:cNvSpPr/>
          <p:nvPr/>
        </p:nvSpPr>
        <p:spPr>
          <a:xfrm>
            <a:off x="274320" y="2788920"/>
            <a:ext cx="11640312"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2880360"/>
            <a:ext cx="11420856" cy="182880"/>
          </a:xfrm>
          <a:prstGeom prst="rect">
            <a:avLst/>
          </a:prstGeom>
          <a:noFill/>
        </p:spPr>
        <p:txBody>
          <a:bodyPr wrap="square">
            <a:spAutoFit/>
          </a:bodyPr>
          <a:lstStyle/>
          <a:p>
            <a:pPr algn="l"/>
            <a:r>
              <a:rPr sz="1000" b="0" i="0">
                <a:solidFill>
                  <a:srgbClr val="A8D8A8"/>
                </a:solidFill>
                <a:latin typeface="Courier New"/>
              </a:rPr>
              <a:t>intent_budget  =  consumer.budget  *  Uniform(0.9, 1.0)</a:t>
            </a:r>
          </a:p>
        </p:txBody>
      </p:sp>
      <p:sp>
        <p:nvSpPr>
          <p:cNvPr id="17" name="TextBox 16"/>
          <p:cNvSpPr txBox="1"/>
          <p:nvPr/>
        </p:nvSpPr>
        <p:spPr>
          <a:xfrm>
            <a:off x="274320" y="3264408"/>
            <a:ext cx="11640312" cy="292608"/>
          </a:xfrm>
          <a:prstGeom prst="rect">
            <a:avLst/>
          </a:prstGeom>
          <a:noFill/>
        </p:spPr>
        <p:txBody>
          <a:bodyPr wrap="square">
            <a:spAutoFit/>
          </a:bodyPr>
          <a:lstStyle/>
          <a:p>
            <a:pPr algn="l"/>
            <a:r>
              <a:rPr sz="1200" b="1" i="0">
                <a:solidFill>
                  <a:srgbClr val="1A2E4A"/>
                </a:solidFill>
                <a:latin typeface="Calibri"/>
              </a:rPr>
              <a:t>Intent max delivery time</a:t>
            </a:r>
          </a:p>
        </p:txBody>
      </p:sp>
      <p:sp>
        <p:nvSpPr>
          <p:cNvPr id="18" name="Rectangle 17"/>
          <p:cNvSpPr/>
          <p:nvPr/>
        </p:nvSpPr>
        <p:spPr>
          <a:xfrm>
            <a:off x="274320" y="3584448"/>
            <a:ext cx="11640312"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3675888"/>
            <a:ext cx="11420856" cy="182880"/>
          </a:xfrm>
          <a:prstGeom prst="rect">
            <a:avLst/>
          </a:prstGeom>
          <a:noFill/>
        </p:spPr>
        <p:txBody>
          <a:bodyPr wrap="square">
            <a:spAutoFit/>
          </a:bodyPr>
          <a:lstStyle/>
          <a:p>
            <a:pPr algn="l"/>
            <a:r>
              <a:rPr sz="1000" b="0" i="0">
                <a:solidFill>
                  <a:srgbClr val="A8D8A8"/>
                </a:solidFill>
                <a:latin typeface="Courier New"/>
              </a:rPr>
              <a:t>intent_max_time  =  consumer.max_delivery_time  *  Uniform(0.9, 1.1)</a:t>
            </a:r>
          </a:p>
        </p:txBody>
      </p:sp>
      <p:sp>
        <p:nvSpPr>
          <p:cNvPr id="20" name="TextBox 19"/>
          <p:cNvSpPr txBox="1"/>
          <p:nvPr/>
        </p:nvSpPr>
        <p:spPr>
          <a:xfrm>
            <a:off x="274320" y="4114800"/>
            <a:ext cx="11640312" cy="292608"/>
          </a:xfrm>
          <a:prstGeom prst="rect">
            <a:avLst/>
          </a:prstGeom>
          <a:noFill/>
        </p:spPr>
        <p:txBody>
          <a:bodyPr wrap="square">
            <a:spAutoFit/>
          </a:bodyPr>
          <a:lstStyle/>
          <a:p>
            <a:pPr algn="l"/>
            <a:r>
              <a:rPr sz="1200" b="1" i="0">
                <a:solidFill>
                  <a:srgbClr val="1A2E4A"/>
                </a:solidFill>
                <a:latin typeface="Calibri"/>
              </a:rPr>
              <a:t>Interpretation</a:t>
            </a:r>
          </a:p>
        </p:txBody>
      </p:sp>
      <p:sp>
        <p:nvSpPr>
          <p:cNvPr id="21" name="TextBox 20"/>
          <p:cNvSpPr txBox="1"/>
          <p:nvPr/>
        </p:nvSpPr>
        <p:spPr>
          <a:xfrm>
            <a:off x="274320" y="4453128"/>
            <a:ext cx="11640312" cy="384048"/>
          </a:xfrm>
          <a:prstGeom prst="rect">
            <a:avLst/>
          </a:prstGeom>
          <a:noFill/>
        </p:spPr>
        <p:txBody>
          <a:bodyPr wrap="square">
            <a:spAutoFit/>
          </a:bodyPr>
          <a:lstStyle/>
          <a:p>
            <a:pPr algn="l"/>
            <a:r>
              <a:rPr sz="1100" b="0" i="0">
                <a:solidFill>
                  <a:srgbClr val="222233"/>
                </a:solidFill>
                <a:latin typeface="Calibri"/>
              </a:rPr>
              <a:t>·  The per-meal intent varies slightly from the consumer's general profile to capture session-level noise.</a:t>
            </a:r>
          </a:p>
        </p:txBody>
      </p:sp>
      <p:sp>
        <p:nvSpPr>
          <p:cNvPr id="22" name="TextBox 21"/>
          <p:cNvSpPr txBox="1"/>
          <p:nvPr/>
        </p:nvSpPr>
        <p:spPr>
          <a:xfrm>
            <a:off x="274320" y="4864608"/>
            <a:ext cx="11640312" cy="384048"/>
          </a:xfrm>
          <a:prstGeom prst="rect">
            <a:avLst/>
          </a:prstGeom>
          <a:noFill/>
        </p:spPr>
        <p:txBody>
          <a:bodyPr wrap="square">
            <a:spAutoFit/>
          </a:bodyPr>
          <a:lstStyle/>
          <a:p>
            <a:pPr algn="l"/>
            <a:r>
              <a:rPr sz="1100" b="0" i="0">
                <a:solidFill>
                  <a:srgbClr val="222233"/>
                </a:solidFill>
                <a:latin typeface="Calibri"/>
              </a:rPr>
              <a:t>·  Budget is drawn slightly below the consumer's max (0.9–1.0x) — consumers have a concrete budget in mind.</a:t>
            </a:r>
          </a:p>
        </p:txBody>
      </p:sp>
      <p:sp>
        <p:nvSpPr>
          <p:cNvPr id="23" name="TextBox 22"/>
          <p:cNvSpPr txBox="1"/>
          <p:nvPr/>
        </p:nvSpPr>
        <p:spPr>
          <a:xfrm>
            <a:off x="274320" y="5276088"/>
            <a:ext cx="11640312" cy="384048"/>
          </a:xfrm>
          <a:prstGeom prst="rect">
            <a:avLst/>
          </a:prstGeom>
          <a:noFill/>
        </p:spPr>
        <p:txBody>
          <a:bodyPr wrap="square">
            <a:spAutoFit/>
          </a:bodyPr>
          <a:lstStyle/>
          <a:p>
            <a:pPr algn="l"/>
            <a:r>
              <a:rPr sz="1100" b="0" i="0">
                <a:solidFill>
                  <a:srgbClr val="222233"/>
                </a:solidFill>
                <a:latin typeface="Calibri"/>
              </a:rPr>
              <a:t>·  Max time can flex up or down 10% — captures uncertainty about how hungry the consumer is right now.</a:t>
            </a:r>
          </a:p>
        </p:txBody>
      </p:sp>
      <p:sp>
        <p:nvSpPr>
          <p:cNvPr id="24" name="TextBox 23"/>
          <p:cNvSpPr txBox="1"/>
          <p:nvPr/>
        </p:nvSpPr>
        <p:spPr>
          <a:xfrm>
            <a:off x="274320" y="5687568"/>
            <a:ext cx="11640312" cy="384048"/>
          </a:xfrm>
          <a:prstGeom prst="rect">
            <a:avLst/>
          </a:prstGeom>
          <a:noFill/>
        </p:spPr>
        <p:txBody>
          <a:bodyPr wrap="square">
            <a:spAutoFit/>
          </a:bodyPr>
          <a:lstStyle/>
          <a:p>
            <a:pPr algn="l"/>
            <a:r>
              <a:rPr sz="1100" b="0" i="0">
                <a:solidFill>
                  <a:srgbClr val="222233"/>
                </a:solidFill>
                <a:latin typeface="Calibri"/>
              </a:rPr>
              <a:t>·  The intent triplet (cuisine, budget, max_time) is what the LLM receives as input.</a:t>
            </a:r>
          </a:p>
        </p:txBody>
      </p:sp>
      <p:sp>
        <p:nvSpPr>
          <p:cNvPr id="25" name="Rectangle 24"/>
          <p:cNvSpPr/>
          <p:nvPr/>
        </p:nvSpPr>
        <p:spPr>
          <a:xfrm>
            <a:off x="274320" y="6080760"/>
            <a:ext cx="11640312" cy="38404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84048" y="6172200"/>
            <a:ext cx="11420856" cy="201168"/>
          </a:xfrm>
          <a:prstGeom prst="rect">
            <a:avLst/>
          </a:prstGeom>
          <a:noFill/>
        </p:spPr>
        <p:txBody>
          <a:bodyPr wrap="square">
            <a:spAutoFit/>
          </a:bodyPr>
          <a:lstStyle/>
          <a:p>
            <a:pPr algn="l"/>
            <a:r>
              <a:rPr sz="1100" b="0" i="0">
                <a:solidFill>
                  <a:srgbClr val="A8D8A8"/>
                </a:solidFill>
                <a:latin typeface="Courier New"/>
              </a:rPr>
              <a:t>Consumer intent = "I want Thai food, under $35, within 40 minutes."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No-LLM World: Fragmented Search</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G</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Search process</a:t>
            </a:r>
          </a:p>
        </p:txBody>
      </p:sp>
      <p:sp>
        <p:nvSpPr>
          <p:cNvPr id="11" name="TextBox 10"/>
          <p:cNvSpPr txBox="1"/>
          <p:nvPr/>
        </p:nvSpPr>
        <p:spPr>
          <a:xfrm>
            <a:off x="274320" y="1371600"/>
            <a:ext cx="11640312" cy="365760"/>
          </a:xfrm>
          <a:prstGeom prst="rect">
            <a:avLst/>
          </a:prstGeom>
          <a:noFill/>
        </p:spPr>
        <p:txBody>
          <a:bodyPr wrap="square">
            <a:spAutoFit/>
          </a:bodyPr>
          <a:lstStyle/>
          <a:p>
            <a:pPr algn="l"/>
            <a:r>
              <a:rPr sz="1100" b="0" i="0">
                <a:solidFill>
                  <a:srgbClr val="222233"/>
                </a:solidFill>
                <a:latin typeface="Calibri"/>
              </a:rPr>
              <a:t>1.  Consumer samples meal intent (cuisine, budget, max time).</a:t>
            </a:r>
          </a:p>
        </p:txBody>
      </p:sp>
      <p:sp>
        <p:nvSpPr>
          <p:cNvPr id="12" name="TextBox 11"/>
          <p:cNvSpPr txBox="1"/>
          <p:nvPr/>
        </p:nvSpPr>
        <p:spPr>
          <a:xfrm>
            <a:off x="274320" y="1755648"/>
            <a:ext cx="11640312" cy="365760"/>
          </a:xfrm>
          <a:prstGeom prst="rect">
            <a:avLst/>
          </a:prstGeom>
          <a:noFill/>
        </p:spPr>
        <p:txBody>
          <a:bodyPr wrap="square">
            <a:spAutoFit/>
          </a:bodyPr>
          <a:lstStyle/>
          <a:p>
            <a:pPr algn="l"/>
            <a:r>
              <a:rPr sz="1100" b="0" i="0">
                <a:solidFill>
                  <a:srgbClr val="222233"/>
                </a:solidFill>
                <a:latin typeface="Calibri"/>
              </a:rPr>
              <a:t>2.  Consumer checks their 2 highest-loyalty platforms.</a:t>
            </a:r>
          </a:p>
        </p:txBody>
      </p:sp>
      <p:sp>
        <p:nvSpPr>
          <p:cNvPr id="13" name="TextBox 12"/>
          <p:cNvSpPr txBox="1"/>
          <p:nvPr/>
        </p:nvSpPr>
        <p:spPr>
          <a:xfrm>
            <a:off x="274320" y="2139696"/>
            <a:ext cx="11640312" cy="365760"/>
          </a:xfrm>
          <a:prstGeom prst="rect">
            <a:avLst/>
          </a:prstGeom>
          <a:noFill/>
        </p:spPr>
        <p:txBody>
          <a:bodyPr wrap="square">
            <a:spAutoFit/>
          </a:bodyPr>
          <a:lstStyle/>
          <a:p>
            <a:pPr algn="l"/>
            <a:r>
              <a:rPr sz="1100" b="0" i="0">
                <a:solidFill>
                  <a:srgbClr val="222233"/>
                </a:solidFill>
                <a:latin typeface="Calibri"/>
              </a:rPr>
              <a:t>3.  On each platform, consumer searches for desired cuisine.</a:t>
            </a:r>
          </a:p>
        </p:txBody>
      </p:sp>
      <p:sp>
        <p:nvSpPr>
          <p:cNvPr id="14" name="TextBox 13"/>
          <p:cNvSpPr txBox="1"/>
          <p:nvPr/>
        </p:nvSpPr>
        <p:spPr>
          <a:xfrm>
            <a:off x="274320" y="2523744"/>
            <a:ext cx="11640312" cy="365760"/>
          </a:xfrm>
          <a:prstGeom prst="rect">
            <a:avLst/>
          </a:prstGeom>
          <a:noFill/>
        </p:spPr>
        <p:txBody>
          <a:bodyPr wrap="square">
            <a:spAutoFit/>
          </a:bodyPr>
          <a:lstStyle/>
          <a:p>
            <a:pPr algn="l"/>
            <a:r>
              <a:rPr sz="1100" b="0" i="0">
                <a:solidFill>
                  <a:srgbClr val="222233"/>
                </a:solidFill>
                <a:latin typeface="Calibri"/>
              </a:rPr>
              <a:t>4.  Each platform returns top 5 cuisine-matching offers using platform ranking.</a:t>
            </a:r>
          </a:p>
        </p:txBody>
      </p:sp>
      <p:sp>
        <p:nvSpPr>
          <p:cNvPr id="15" name="TextBox 14"/>
          <p:cNvSpPr txBox="1"/>
          <p:nvPr/>
        </p:nvSpPr>
        <p:spPr>
          <a:xfrm>
            <a:off x="274320" y="2907792"/>
            <a:ext cx="11640312" cy="365760"/>
          </a:xfrm>
          <a:prstGeom prst="rect">
            <a:avLst/>
          </a:prstGeom>
          <a:noFill/>
        </p:spPr>
        <p:txBody>
          <a:bodyPr wrap="square">
            <a:spAutoFit/>
          </a:bodyPr>
          <a:lstStyle/>
          <a:p>
            <a:pPr algn="l"/>
            <a:r>
              <a:rPr sz="1100" b="0" i="0">
                <a:solidFill>
                  <a:srgbClr val="222233"/>
                </a:solidFill>
                <a:latin typeface="Calibri"/>
              </a:rPr>
              <a:t>5.  Consumer chooses from visible offers or takes the outside option (no purchase).</a:t>
            </a:r>
          </a:p>
        </p:txBody>
      </p:sp>
      <p:sp>
        <p:nvSpPr>
          <p:cNvPr id="16" name="TextBox 15"/>
          <p:cNvSpPr txBox="1"/>
          <p:nvPr/>
        </p:nvSpPr>
        <p:spPr>
          <a:xfrm>
            <a:off x="274320" y="3364992"/>
            <a:ext cx="11640312" cy="292608"/>
          </a:xfrm>
          <a:prstGeom prst="rect">
            <a:avLst/>
          </a:prstGeom>
          <a:noFill/>
        </p:spPr>
        <p:txBody>
          <a:bodyPr wrap="square">
            <a:spAutoFit/>
          </a:bodyPr>
          <a:lstStyle/>
          <a:p>
            <a:pPr algn="l"/>
            <a:r>
              <a:rPr sz="1200" b="1" i="0">
                <a:solidFill>
                  <a:srgbClr val="1A2E4A"/>
                </a:solidFill>
                <a:latin typeface="Calibri"/>
              </a:rPr>
              <a:t>Choice set</a:t>
            </a:r>
          </a:p>
        </p:txBody>
      </p:sp>
      <p:sp>
        <p:nvSpPr>
          <p:cNvPr id="17" name="Rectangle 16"/>
          <p:cNvSpPr/>
          <p:nvPr/>
        </p:nvSpPr>
        <p:spPr>
          <a:xfrm>
            <a:off x="274320" y="3685032"/>
            <a:ext cx="11640312" cy="8229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3776472"/>
            <a:ext cx="11420856" cy="640080"/>
          </a:xfrm>
          <a:prstGeom prst="rect">
            <a:avLst/>
          </a:prstGeom>
          <a:noFill/>
        </p:spPr>
        <p:txBody>
          <a:bodyPr wrap="square">
            <a:spAutoFit/>
          </a:bodyPr>
          <a:lstStyle/>
          <a:p>
            <a:pPr algn="l"/>
            <a:r>
              <a:rPr sz="1000" b="0" i="0">
                <a:solidFill>
                  <a:srgbClr val="A8D8A8"/>
                </a:solidFill>
                <a:latin typeface="Courier New"/>
              </a:rPr>
              <a:t>visible_offers  =  top_5_cuisine_offers(platform_A)
                +  top_5_cuisine_offers(platform_B)
max_visible  =  2 platforms  x  5 offers  =  10 offers</a:t>
            </a:r>
          </a:p>
        </p:txBody>
      </p:sp>
      <p:sp>
        <p:nvSpPr>
          <p:cNvPr id="19" name="TextBox 18"/>
          <p:cNvSpPr txBox="1"/>
          <p:nvPr/>
        </p:nvSpPr>
        <p:spPr>
          <a:xfrm>
            <a:off x="274320" y="4617720"/>
            <a:ext cx="11640312" cy="292608"/>
          </a:xfrm>
          <a:prstGeom prst="rect">
            <a:avLst/>
          </a:prstGeom>
          <a:noFill/>
        </p:spPr>
        <p:txBody>
          <a:bodyPr wrap="square">
            <a:spAutoFit/>
          </a:bodyPr>
          <a:lstStyle/>
          <a:p>
            <a:pPr algn="l"/>
            <a:r>
              <a:rPr sz="1200" b="1" i="0">
                <a:solidFill>
                  <a:srgbClr val="1A2E4A"/>
                </a:solidFill>
                <a:latin typeface="Calibri"/>
              </a:rPr>
              <a:t>Design rationale</a:t>
            </a:r>
          </a:p>
        </p:txBody>
      </p:sp>
      <p:sp>
        <p:nvSpPr>
          <p:cNvPr id="20" name="TextBox 19"/>
          <p:cNvSpPr txBox="1"/>
          <p:nvPr/>
        </p:nvSpPr>
        <p:spPr>
          <a:xfrm>
            <a:off x="274320" y="4956048"/>
            <a:ext cx="11640312" cy="365760"/>
          </a:xfrm>
          <a:prstGeom prst="rect">
            <a:avLst/>
          </a:prstGeom>
          <a:noFill/>
        </p:spPr>
        <p:txBody>
          <a:bodyPr wrap="square">
            <a:spAutoFit/>
          </a:bodyPr>
          <a:lstStyle/>
          <a:p>
            <a:pPr algn="l"/>
            <a:r>
              <a:rPr sz="1100" b="0" i="0">
                <a:solidFill>
                  <a:srgbClr val="222233"/>
                </a:solidFill>
                <a:latin typeface="Calibri"/>
              </a:rPr>
              <a:t>·  No-LLM consumers are not naive — they use cuisine search filters.</a:t>
            </a:r>
          </a:p>
        </p:txBody>
      </p:sp>
      <p:sp>
        <p:nvSpPr>
          <p:cNvPr id="21" name="TextBox 20"/>
          <p:cNvSpPr txBox="1"/>
          <p:nvPr/>
        </p:nvSpPr>
        <p:spPr>
          <a:xfrm>
            <a:off x="274320" y="5340096"/>
            <a:ext cx="11640312" cy="365760"/>
          </a:xfrm>
          <a:prstGeom prst="rect">
            <a:avLst/>
          </a:prstGeom>
          <a:noFill/>
        </p:spPr>
        <p:txBody>
          <a:bodyPr wrap="square">
            <a:spAutoFit/>
          </a:bodyPr>
          <a:lstStyle/>
          <a:p>
            <a:pPr algn="l"/>
            <a:r>
              <a:rPr sz="1100" b="0" i="0">
                <a:solidFill>
                  <a:srgbClr val="222233"/>
                </a:solidFill>
                <a:latin typeface="Calibri"/>
              </a:rPr>
              <a:t>·  Consumers check only their 2 most-loyal platforms (not all 3) — realistic fragmentation.</a:t>
            </a:r>
          </a:p>
        </p:txBody>
      </p:sp>
      <p:sp>
        <p:nvSpPr>
          <p:cNvPr id="22" name="TextBox 21"/>
          <p:cNvSpPr txBox="1"/>
          <p:nvPr/>
        </p:nvSpPr>
        <p:spPr>
          <a:xfrm>
            <a:off x="274320" y="5724144"/>
            <a:ext cx="11640312" cy="365760"/>
          </a:xfrm>
          <a:prstGeom prst="rect">
            <a:avLst/>
          </a:prstGeom>
          <a:noFill/>
        </p:spPr>
        <p:txBody>
          <a:bodyPr wrap="square">
            <a:spAutoFit/>
          </a:bodyPr>
          <a:lstStyle/>
          <a:p>
            <a:pPr algn="l"/>
            <a:r>
              <a:rPr sz="1100" b="0" i="0">
                <a:solidFill>
                  <a:srgbClr val="222233"/>
                </a:solidFill>
                <a:latin typeface="Calibri"/>
              </a:rPr>
              <a:t>·  Platform ranking within the cuisine filter mixes quality, commission revenue, promo, and sponsored boost.</a:t>
            </a:r>
          </a:p>
        </p:txBody>
      </p:sp>
      <p:sp>
        <p:nvSpPr>
          <p:cNvPr id="23" name="TextBox 22"/>
          <p:cNvSpPr txBox="1"/>
          <p:nvPr/>
        </p:nvSpPr>
        <p:spPr>
          <a:xfrm>
            <a:off x="274320" y="6108192"/>
            <a:ext cx="11640312" cy="365760"/>
          </a:xfrm>
          <a:prstGeom prst="rect">
            <a:avLst/>
          </a:prstGeom>
          <a:noFill/>
        </p:spPr>
        <p:txBody>
          <a:bodyPr wrap="square">
            <a:spAutoFit/>
          </a:bodyPr>
          <a:lstStyle/>
          <a:p>
            <a:pPr algn="l"/>
            <a:r>
              <a:rPr sz="1100" b="0" i="0">
                <a:solidFill>
                  <a:srgbClr val="222233"/>
                </a:solidFill>
                <a:latin typeface="Calibri"/>
              </a:rPr>
              <a:t>·  Consumers may miss better offers that exist only on the platform they did not open.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Platform Internal Ranking Formula</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H</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Ranking score (within cuisine filter)</a:t>
            </a:r>
          </a:p>
        </p:txBody>
      </p:sp>
      <p:sp>
        <p:nvSpPr>
          <p:cNvPr id="11" name="Rectangle 10"/>
          <p:cNvSpPr/>
          <p:nvPr/>
        </p:nvSpPr>
        <p:spPr>
          <a:xfrm>
            <a:off x="274320" y="1371600"/>
            <a:ext cx="5943600" cy="1508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5724144" cy="1325880"/>
          </a:xfrm>
          <a:prstGeom prst="rect">
            <a:avLst/>
          </a:prstGeom>
          <a:noFill/>
        </p:spPr>
        <p:txBody>
          <a:bodyPr wrap="square">
            <a:spAutoFit/>
          </a:bodyPr>
          <a:lstStyle/>
          <a:p>
            <a:pPr algn="l"/>
            <a:r>
              <a:rPr sz="1000" b="0" i="0">
                <a:solidFill>
                  <a:srgbClr val="A8D8A8"/>
                </a:solidFill>
                <a:latin typeface="Courier New"/>
              </a:rPr>
              <a:t>platform_score  =
    0.25 * quality / 5
  + 0.25 * commission_revenue / 12
  - 0.15 * total_price / 40
  - 0.10 * delivery_time / 90
  + 0.15 * promo_discount / 5
  + 0.10 * sponsored_boost</a:t>
            </a:r>
          </a:p>
        </p:txBody>
      </p:sp>
      <p:sp>
        <p:nvSpPr>
          <p:cNvPr id="13" name="TextBox 12"/>
          <p:cNvSpPr txBox="1"/>
          <p:nvPr/>
        </p:nvSpPr>
        <p:spPr>
          <a:xfrm>
            <a:off x="274320" y="2990088"/>
            <a:ext cx="11640312" cy="292608"/>
          </a:xfrm>
          <a:prstGeom prst="rect">
            <a:avLst/>
          </a:prstGeom>
          <a:noFill/>
        </p:spPr>
        <p:txBody>
          <a:bodyPr wrap="square">
            <a:spAutoFit/>
          </a:bodyPr>
          <a:lstStyle/>
          <a:p>
            <a:pPr algn="l"/>
            <a:r>
              <a:rPr sz="1200" b="1" i="0">
                <a:solidFill>
                  <a:srgbClr val="1A2E4A"/>
                </a:solidFill>
                <a:latin typeface="Calibri"/>
              </a:rPr>
              <a:t>Commission revenue component</a:t>
            </a:r>
          </a:p>
        </p:txBody>
      </p:sp>
      <p:sp>
        <p:nvSpPr>
          <p:cNvPr id="14" name="Rectangle 13"/>
          <p:cNvSpPr/>
          <p:nvPr/>
        </p:nvSpPr>
        <p:spPr>
          <a:xfrm>
            <a:off x="274320" y="3310128"/>
            <a:ext cx="594360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3401568"/>
            <a:ext cx="5724144" cy="182880"/>
          </a:xfrm>
          <a:prstGeom prst="rect">
            <a:avLst/>
          </a:prstGeom>
          <a:noFill/>
        </p:spPr>
        <p:txBody>
          <a:bodyPr wrap="square">
            <a:spAutoFit/>
          </a:bodyPr>
          <a:lstStyle/>
          <a:p>
            <a:pPr algn="l"/>
            <a:r>
              <a:rPr sz="1000" b="0" i="0">
                <a:solidFill>
                  <a:srgbClr val="A8D8A8"/>
                </a:solidFill>
                <a:latin typeface="Courier New"/>
              </a:rPr>
              <a:t>commission_revenue  =  menu_price  *  platform_commission_rate</a:t>
            </a:r>
          </a:p>
        </p:txBody>
      </p:sp>
      <p:sp>
        <p:nvSpPr>
          <p:cNvPr id="16" name="TextBox 15"/>
          <p:cNvSpPr txBox="1"/>
          <p:nvPr/>
        </p:nvSpPr>
        <p:spPr>
          <a:xfrm>
            <a:off x="274320" y="3785615"/>
            <a:ext cx="11640312" cy="292608"/>
          </a:xfrm>
          <a:prstGeom prst="rect">
            <a:avLst/>
          </a:prstGeom>
          <a:noFill/>
        </p:spPr>
        <p:txBody>
          <a:bodyPr wrap="square">
            <a:spAutoFit/>
          </a:bodyPr>
          <a:lstStyle/>
          <a:p>
            <a:pPr algn="l"/>
            <a:r>
              <a:rPr sz="1200" b="1" i="0">
                <a:solidFill>
                  <a:srgbClr val="1A2E4A"/>
                </a:solidFill>
                <a:latin typeface="Calibri"/>
              </a:rPr>
              <a:t>Key point</a:t>
            </a:r>
          </a:p>
        </p:txBody>
      </p:sp>
      <p:sp>
        <p:nvSpPr>
          <p:cNvPr id="17" name="TextBox 16"/>
          <p:cNvSpPr txBox="1"/>
          <p:nvPr/>
        </p:nvSpPr>
        <p:spPr>
          <a:xfrm>
            <a:off x="274320" y="4114800"/>
            <a:ext cx="5943600" cy="1554480"/>
          </a:xfrm>
          <a:prstGeom prst="rect">
            <a:avLst/>
          </a:prstGeom>
          <a:noFill/>
        </p:spPr>
        <p:txBody>
          <a:bodyPr wrap="square">
            <a:spAutoFit/>
          </a:bodyPr>
          <a:lstStyle/>
          <a:p>
            <a:pPr algn="l"/>
            <a:r>
              <a:rPr sz="1100" b="0" i="0">
                <a:solidFill>
                  <a:srgbClr val="222233"/>
                </a:solidFill>
                <a:latin typeface="Calibri"/>
              </a:rPr>
              <a:t>Platform ranking is not purely consumer-welfare maximizing. It balances quality and consumer price against platform commission revenue and sponsored placement. This is why the LLM (which ranks by consumer intent) can produce better consumer outcomes than the platform's own feed.</a:t>
            </a:r>
          </a:p>
        </p:txBody>
      </p:sp>
      <p:sp>
        <p:nvSpPr>
          <p:cNvPr id="18" name="TextBox 17"/>
          <p:cNvSpPr txBox="1"/>
          <p:nvPr/>
        </p:nvSpPr>
        <p:spPr>
          <a:xfrm>
            <a:off x="6245352" y="1051560"/>
            <a:ext cx="11640312" cy="292608"/>
          </a:xfrm>
          <a:prstGeom prst="rect">
            <a:avLst/>
          </a:prstGeom>
          <a:noFill/>
        </p:spPr>
        <p:txBody>
          <a:bodyPr wrap="square">
            <a:spAutoFit/>
          </a:bodyPr>
          <a:lstStyle/>
          <a:p>
            <a:pPr algn="l"/>
            <a:r>
              <a:rPr sz="1200" b="1" i="0">
                <a:solidFill>
                  <a:srgbClr val="1A2E4A"/>
                </a:solidFill>
                <a:latin typeface="Calibri"/>
              </a:rPr>
              <a:t>Weight interpretation</a:t>
            </a:r>
          </a:p>
        </p:txBody>
      </p:sp>
      <p:sp>
        <p:nvSpPr>
          <p:cNvPr id="19" name="Rectangle 18"/>
          <p:cNvSpPr/>
          <p:nvPr/>
        </p:nvSpPr>
        <p:spPr>
          <a:xfrm>
            <a:off x="6245352" y="1371600"/>
            <a:ext cx="30175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00216" y="1408176"/>
            <a:ext cx="2907792" cy="292608"/>
          </a:xfrm>
          <a:prstGeom prst="rect">
            <a:avLst/>
          </a:prstGeom>
          <a:noFill/>
        </p:spPr>
        <p:txBody>
          <a:bodyPr wrap="square">
            <a:spAutoFit/>
          </a:bodyPr>
          <a:lstStyle/>
          <a:p>
            <a:pPr algn="ctr"/>
            <a:r>
              <a:rPr sz="1100" b="1" i="0">
                <a:solidFill>
                  <a:srgbClr val="FFFFFF"/>
                </a:solidFill>
                <a:latin typeface="Calibri"/>
              </a:rPr>
              <a:t>Factor</a:t>
            </a:r>
          </a:p>
        </p:txBody>
      </p:sp>
      <p:sp>
        <p:nvSpPr>
          <p:cNvPr id="21" name="Rectangle 20"/>
          <p:cNvSpPr/>
          <p:nvPr/>
        </p:nvSpPr>
        <p:spPr>
          <a:xfrm>
            <a:off x="9262872" y="1371600"/>
            <a:ext cx="7315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17736" y="1408176"/>
            <a:ext cx="621792" cy="292608"/>
          </a:xfrm>
          <a:prstGeom prst="rect">
            <a:avLst/>
          </a:prstGeom>
          <a:noFill/>
        </p:spPr>
        <p:txBody>
          <a:bodyPr wrap="square">
            <a:spAutoFit/>
          </a:bodyPr>
          <a:lstStyle/>
          <a:p>
            <a:pPr algn="ctr"/>
            <a:r>
              <a:rPr sz="1100" b="1" i="0">
                <a:solidFill>
                  <a:srgbClr val="FFFFFF"/>
                </a:solidFill>
                <a:latin typeface="Calibri"/>
              </a:rPr>
              <a:t>Weight</a:t>
            </a:r>
          </a:p>
        </p:txBody>
      </p:sp>
      <p:sp>
        <p:nvSpPr>
          <p:cNvPr id="23" name="Rectangle 22"/>
          <p:cNvSpPr/>
          <p:nvPr/>
        </p:nvSpPr>
        <p:spPr>
          <a:xfrm>
            <a:off x="9994392" y="1371600"/>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49256" y="1408176"/>
            <a:ext cx="1993392" cy="292608"/>
          </a:xfrm>
          <a:prstGeom prst="rect">
            <a:avLst/>
          </a:prstGeom>
          <a:noFill/>
        </p:spPr>
        <p:txBody>
          <a:bodyPr wrap="square">
            <a:spAutoFit/>
          </a:bodyPr>
          <a:lstStyle/>
          <a:p>
            <a:pPr algn="ctr"/>
            <a:r>
              <a:rPr sz="1100" b="1" i="0">
                <a:solidFill>
                  <a:srgbClr val="FFFFFF"/>
                </a:solidFill>
                <a:latin typeface="Calibri"/>
              </a:rPr>
              <a:t>Direction</a:t>
            </a:r>
          </a:p>
        </p:txBody>
      </p:sp>
      <p:sp>
        <p:nvSpPr>
          <p:cNvPr id="25" name="Rectangle 24"/>
          <p:cNvSpPr/>
          <p:nvPr/>
        </p:nvSpPr>
        <p:spPr>
          <a:xfrm>
            <a:off x="6245352" y="1737360"/>
            <a:ext cx="3017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0216" y="1773936"/>
            <a:ext cx="2907792" cy="310896"/>
          </a:xfrm>
          <a:prstGeom prst="rect">
            <a:avLst/>
          </a:prstGeom>
          <a:noFill/>
        </p:spPr>
        <p:txBody>
          <a:bodyPr wrap="square">
            <a:spAutoFit/>
          </a:bodyPr>
          <a:lstStyle/>
          <a:p>
            <a:pPr algn="l"/>
            <a:r>
              <a:rPr sz="1000" b="0" i="0">
                <a:solidFill>
                  <a:srgbClr val="222233"/>
                </a:solidFill>
                <a:latin typeface="Calibri"/>
              </a:rPr>
              <a:t>Quality / 5</a:t>
            </a:r>
          </a:p>
        </p:txBody>
      </p:sp>
      <p:sp>
        <p:nvSpPr>
          <p:cNvPr id="27" name="Rectangle 26"/>
          <p:cNvSpPr/>
          <p:nvPr/>
        </p:nvSpPr>
        <p:spPr>
          <a:xfrm>
            <a:off x="9262872" y="1737360"/>
            <a:ext cx="731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17736" y="1773936"/>
            <a:ext cx="621792" cy="310896"/>
          </a:xfrm>
          <a:prstGeom prst="rect">
            <a:avLst/>
          </a:prstGeom>
          <a:noFill/>
        </p:spPr>
        <p:txBody>
          <a:bodyPr wrap="square">
            <a:spAutoFit/>
          </a:bodyPr>
          <a:lstStyle/>
          <a:p>
            <a:pPr algn="ctr"/>
            <a:r>
              <a:rPr sz="1000" b="0" i="0">
                <a:solidFill>
                  <a:srgbClr val="222233"/>
                </a:solidFill>
                <a:latin typeface="Calibri"/>
              </a:rPr>
              <a:t>0.25</a:t>
            </a:r>
          </a:p>
        </p:txBody>
      </p:sp>
      <p:sp>
        <p:nvSpPr>
          <p:cNvPr id="29" name="Rectangle 28"/>
          <p:cNvSpPr/>
          <p:nvPr/>
        </p:nvSpPr>
        <p:spPr>
          <a:xfrm>
            <a:off x="9994392" y="1737360"/>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49256" y="1773936"/>
            <a:ext cx="1993392" cy="310896"/>
          </a:xfrm>
          <a:prstGeom prst="rect">
            <a:avLst/>
          </a:prstGeom>
          <a:noFill/>
        </p:spPr>
        <p:txBody>
          <a:bodyPr wrap="square">
            <a:spAutoFit/>
          </a:bodyPr>
          <a:lstStyle/>
          <a:p>
            <a:pPr algn="l"/>
            <a:r>
              <a:rPr sz="1000" b="0" i="0">
                <a:solidFill>
                  <a:srgbClr val="222233"/>
                </a:solidFill>
                <a:latin typeface="Calibri"/>
              </a:rPr>
              <a:t>Higher quality → higher rank</a:t>
            </a:r>
          </a:p>
        </p:txBody>
      </p:sp>
      <p:sp>
        <p:nvSpPr>
          <p:cNvPr id="31" name="Rectangle 30"/>
          <p:cNvSpPr/>
          <p:nvPr/>
        </p:nvSpPr>
        <p:spPr>
          <a:xfrm>
            <a:off x="6245352" y="2121408"/>
            <a:ext cx="3017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00216" y="2157984"/>
            <a:ext cx="2907792" cy="310896"/>
          </a:xfrm>
          <a:prstGeom prst="rect">
            <a:avLst/>
          </a:prstGeom>
          <a:noFill/>
        </p:spPr>
        <p:txBody>
          <a:bodyPr wrap="square">
            <a:spAutoFit/>
          </a:bodyPr>
          <a:lstStyle/>
          <a:p>
            <a:pPr algn="l"/>
            <a:r>
              <a:rPr sz="1000" b="0" i="0">
                <a:solidFill>
                  <a:srgbClr val="222233"/>
                </a:solidFill>
                <a:latin typeface="Calibri"/>
              </a:rPr>
              <a:t>Commission revenue / 12</a:t>
            </a:r>
          </a:p>
        </p:txBody>
      </p:sp>
      <p:sp>
        <p:nvSpPr>
          <p:cNvPr id="33" name="Rectangle 32"/>
          <p:cNvSpPr/>
          <p:nvPr/>
        </p:nvSpPr>
        <p:spPr>
          <a:xfrm>
            <a:off x="9262872" y="2121408"/>
            <a:ext cx="731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317736" y="2157984"/>
            <a:ext cx="621792" cy="310896"/>
          </a:xfrm>
          <a:prstGeom prst="rect">
            <a:avLst/>
          </a:prstGeom>
          <a:noFill/>
        </p:spPr>
        <p:txBody>
          <a:bodyPr wrap="square">
            <a:spAutoFit/>
          </a:bodyPr>
          <a:lstStyle/>
          <a:p>
            <a:pPr algn="ctr"/>
            <a:r>
              <a:rPr sz="1000" b="0" i="0">
                <a:solidFill>
                  <a:srgbClr val="222233"/>
                </a:solidFill>
                <a:latin typeface="Calibri"/>
              </a:rPr>
              <a:t>0.25</a:t>
            </a:r>
          </a:p>
        </p:txBody>
      </p:sp>
      <p:sp>
        <p:nvSpPr>
          <p:cNvPr id="35" name="Rectangle 34"/>
          <p:cNvSpPr/>
          <p:nvPr/>
        </p:nvSpPr>
        <p:spPr>
          <a:xfrm>
            <a:off x="9994392" y="2121408"/>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49256" y="2157984"/>
            <a:ext cx="1993392" cy="310896"/>
          </a:xfrm>
          <a:prstGeom prst="rect">
            <a:avLst/>
          </a:prstGeom>
          <a:noFill/>
        </p:spPr>
        <p:txBody>
          <a:bodyPr wrap="square">
            <a:spAutoFit/>
          </a:bodyPr>
          <a:lstStyle/>
          <a:p>
            <a:pPr algn="l"/>
            <a:r>
              <a:rPr sz="1000" b="0" i="0">
                <a:solidFill>
                  <a:srgbClr val="222233"/>
                </a:solidFill>
                <a:latin typeface="Calibri"/>
              </a:rPr>
              <a:t>More profitable for platform → higher rank</a:t>
            </a:r>
          </a:p>
        </p:txBody>
      </p:sp>
      <p:sp>
        <p:nvSpPr>
          <p:cNvPr id="37" name="Rectangle 36"/>
          <p:cNvSpPr/>
          <p:nvPr/>
        </p:nvSpPr>
        <p:spPr>
          <a:xfrm>
            <a:off x="6245352" y="2505456"/>
            <a:ext cx="3017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00216" y="2542032"/>
            <a:ext cx="2907792" cy="310896"/>
          </a:xfrm>
          <a:prstGeom prst="rect">
            <a:avLst/>
          </a:prstGeom>
          <a:noFill/>
        </p:spPr>
        <p:txBody>
          <a:bodyPr wrap="square">
            <a:spAutoFit/>
          </a:bodyPr>
          <a:lstStyle/>
          <a:p>
            <a:pPr algn="l"/>
            <a:r>
              <a:rPr sz="1000" b="0" i="0">
                <a:solidFill>
                  <a:srgbClr val="222233"/>
                </a:solidFill>
                <a:latin typeface="Calibri"/>
              </a:rPr>
              <a:t>−  Total price / 40</a:t>
            </a:r>
          </a:p>
        </p:txBody>
      </p:sp>
      <p:sp>
        <p:nvSpPr>
          <p:cNvPr id="39" name="Rectangle 38"/>
          <p:cNvSpPr/>
          <p:nvPr/>
        </p:nvSpPr>
        <p:spPr>
          <a:xfrm>
            <a:off x="9262872" y="2505456"/>
            <a:ext cx="731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317736" y="2542032"/>
            <a:ext cx="621792" cy="310896"/>
          </a:xfrm>
          <a:prstGeom prst="rect">
            <a:avLst/>
          </a:prstGeom>
          <a:noFill/>
        </p:spPr>
        <p:txBody>
          <a:bodyPr wrap="square">
            <a:spAutoFit/>
          </a:bodyPr>
          <a:lstStyle/>
          <a:p>
            <a:pPr algn="ctr"/>
            <a:r>
              <a:rPr sz="1000" b="0" i="0">
                <a:solidFill>
                  <a:srgbClr val="222233"/>
                </a:solidFill>
                <a:latin typeface="Calibri"/>
              </a:rPr>
              <a:t>0.15</a:t>
            </a:r>
          </a:p>
        </p:txBody>
      </p:sp>
      <p:sp>
        <p:nvSpPr>
          <p:cNvPr id="41" name="Rectangle 40"/>
          <p:cNvSpPr/>
          <p:nvPr/>
        </p:nvSpPr>
        <p:spPr>
          <a:xfrm>
            <a:off x="9994392" y="2505456"/>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049256" y="2542032"/>
            <a:ext cx="1993392" cy="310896"/>
          </a:xfrm>
          <a:prstGeom prst="rect">
            <a:avLst/>
          </a:prstGeom>
          <a:noFill/>
        </p:spPr>
        <p:txBody>
          <a:bodyPr wrap="square">
            <a:spAutoFit/>
          </a:bodyPr>
          <a:lstStyle/>
          <a:p>
            <a:pPr algn="l"/>
            <a:r>
              <a:rPr sz="1000" b="0" i="0">
                <a:solidFill>
                  <a:srgbClr val="222233"/>
                </a:solidFill>
                <a:latin typeface="Calibri"/>
              </a:rPr>
              <a:t>Cheaper offers rank higher</a:t>
            </a:r>
          </a:p>
        </p:txBody>
      </p:sp>
      <p:sp>
        <p:nvSpPr>
          <p:cNvPr id="43" name="Rectangle 42"/>
          <p:cNvSpPr/>
          <p:nvPr/>
        </p:nvSpPr>
        <p:spPr>
          <a:xfrm>
            <a:off x="6245352" y="2889504"/>
            <a:ext cx="3017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300216" y="2926080"/>
            <a:ext cx="2907792" cy="310896"/>
          </a:xfrm>
          <a:prstGeom prst="rect">
            <a:avLst/>
          </a:prstGeom>
          <a:noFill/>
        </p:spPr>
        <p:txBody>
          <a:bodyPr wrap="square">
            <a:spAutoFit/>
          </a:bodyPr>
          <a:lstStyle/>
          <a:p>
            <a:pPr algn="l"/>
            <a:r>
              <a:rPr sz="1000" b="0" i="0">
                <a:solidFill>
                  <a:srgbClr val="222233"/>
                </a:solidFill>
                <a:latin typeface="Calibri"/>
              </a:rPr>
              <a:t>−  Delivery time / 90</a:t>
            </a:r>
          </a:p>
        </p:txBody>
      </p:sp>
      <p:sp>
        <p:nvSpPr>
          <p:cNvPr id="45" name="Rectangle 44"/>
          <p:cNvSpPr/>
          <p:nvPr/>
        </p:nvSpPr>
        <p:spPr>
          <a:xfrm>
            <a:off x="9262872" y="2889504"/>
            <a:ext cx="731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317736" y="2926080"/>
            <a:ext cx="621792" cy="310896"/>
          </a:xfrm>
          <a:prstGeom prst="rect">
            <a:avLst/>
          </a:prstGeom>
          <a:noFill/>
        </p:spPr>
        <p:txBody>
          <a:bodyPr wrap="square">
            <a:spAutoFit/>
          </a:bodyPr>
          <a:lstStyle/>
          <a:p>
            <a:pPr algn="ctr"/>
            <a:r>
              <a:rPr sz="1000" b="0" i="0">
                <a:solidFill>
                  <a:srgbClr val="222233"/>
                </a:solidFill>
                <a:latin typeface="Calibri"/>
              </a:rPr>
              <a:t>0.10</a:t>
            </a:r>
          </a:p>
        </p:txBody>
      </p:sp>
      <p:sp>
        <p:nvSpPr>
          <p:cNvPr id="47" name="Rectangle 46"/>
          <p:cNvSpPr/>
          <p:nvPr/>
        </p:nvSpPr>
        <p:spPr>
          <a:xfrm>
            <a:off x="9994392" y="2889504"/>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049256" y="2926080"/>
            <a:ext cx="1993392" cy="310896"/>
          </a:xfrm>
          <a:prstGeom prst="rect">
            <a:avLst/>
          </a:prstGeom>
          <a:noFill/>
        </p:spPr>
        <p:txBody>
          <a:bodyPr wrap="square">
            <a:spAutoFit/>
          </a:bodyPr>
          <a:lstStyle/>
          <a:p>
            <a:pPr algn="l"/>
            <a:r>
              <a:rPr sz="1000" b="0" i="0">
                <a:solidFill>
                  <a:srgbClr val="222233"/>
                </a:solidFill>
                <a:latin typeface="Calibri"/>
              </a:rPr>
              <a:t>Faster offers rank higher</a:t>
            </a:r>
          </a:p>
        </p:txBody>
      </p:sp>
      <p:sp>
        <p:nvSpPr>
          <p:cNvPr id="49" name="Rectangle 48"/>
          <p:cNvSpPr/>
          <p:nvPr/>
        </p:nvSpPr>
        <p:spPr>
          <a:xfrm>
            <a:off x="6245352" y="3273552"/>
            <a:ext cx="3017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00216" y="3310128"/>
            <a:ext cx="2907792" cy="310896"/>
          </a:xfrm>
          <a:prstGeom prst="rect">
            <a:avLst/>
          </a:prstGeom>
          <a:noFill/>
        </p:spPr>
        <p:txBody>
          <a:bodyPr wrap="square">
            <a:spAutoFit/>
          </a:bodyPr>
          <a:lstStyle/>
          <a:p>
            <a:pPr algn="l"/>
            <a:r>
              <a:rPr sz="1000" b="0" i="0">
                <a:solidFill>
                  <a:srgbClr val="222233"/>
                </a:solidFill>
                <a:latin typeface="Calibri"/>
              </a:rPr>
              <a:t>Promo discount / 5</a:t>
            </a:r>
          </a:p>
        </p:txBody>
      </p:sp>
      <p:sp>
        <p:nvSpPr>
          <p:cNvPr id="51" name="Rectangle 50"/>
          <p:cNvSpPr/>
          <p:nvPr/>
        </p:nvSpPr>
        <p:spPr>
          <a:xfrm>
            <a:off x="9262872" y="3273552"/>
            <a:ext cx="731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317736" y="3310128"/>
            <a:ext cx="621792" cy="310896"/>
          </a:xfrm>
          <a:prstGeom prst="rect">
            <a:avLst/>
          </a:prstGeom>
          <a:noFill/>
        </p:spPr>
        <p:txBody>
          <a:bodyPr wrap="square">
            <a:spAutoFit/>
          </a:bodyPr>
          <a:lstStyle/>
          <a:p>
            <a:pPr algn="ctr"/>
            <a:r>
              <a:rPr sz="1000" b="0" i="0">
                <a:solidFill>
                  <a:srgbClr val="222233"/>
                </a:solidFill>
                <a:latin typeface="Calibri"/>
              </a:rPr>
              <a:t>0.15</a:t>
            </a:r>
          </a:p>
        </p:txBody>
      </p:sp>
      <p:sp>
        <p:nvSpPr>
          <p:cNvPr id="53" name="Rectangle 52"/>
          <p:cNvSpPr/>
          <p:nvPr/>
        </p:nvSpPr>
        <p:spPr>
          <a:xfrm>
            <a:off x="9994392" y="3273552"/>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049256" y="3310128"/>
            <a:ext cx="1993392" cy="310896"/>
          </a:xfrm>
          <a:prstGeom prst="rect">
            <a:avLst/>
          </a:prstGeom>
          <a:noFill/>
        </p:spPr>
        <p:txBody>
          <a:bodyPr wrap="square">
            <a:spAutoFit/>
          </a:bodyPr>
          <a:lstStyle/>
          <a:p>
            <a:pPr algn="l"/>
            <a:r>
              <a:rPr sz="1000" b="0" i="0">
                <a:solidFill>
                  <a:srgbClr val="222233"/>
                </a:solidFill>
                <a:latin typeface="Calibri"/>
              </a:rPr>
              <a:t>Larger promotions rank higher</a:t>
            </a:r>
          </a:p>
        </p:txBody>
      </p:sp>
      <p:sp>
        <p:nvSpPr>
          <p:cNvPr id="55" name="Rectangle 54"/>
          <p:cNvSpPr/>
          <p:nvPr/>
        </p:nvSpPr>
        <p:spPr>
          <a:xfrm>
            <a:off x="6245352" y="3657600"/>
            <a:ext cx="3017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00216" y="3694176"/>
            <a:ext cx="2907792" cy="310896"/>
          </a:xfrm>
          <a:prstGeom prst="rect">
            <a:avLst/>
          </a:prstGeom>
          <a:noFill/>
        </p:spPr>
        <p:txBody>
          <a:bodyPr wrap="square">
            <a:spAutoFit/>
          </a:bodyPr>
          <a:lstStyle/>
          <a:p>
            <a:pPr algn="l"/>
            <a:r>
              <a:rPr sz="1000" b="0" i="0">
                <a:solidFill>
                  <a:srgbClr val="222233"/>
                </a:solidFill>
                <a:latin typeface="Calibri"/>
              </a:rPr>
              <a:t>Sponsored boost</a:t>
            </a:r>
          </a:p>
        </p:txBody>
      </p:sp>
      <p:sp>
        <p:nvSpPr>
          <p:cNvPr id="57" name="Rectangle 56"/>
          <p:cNvSpPr/>
          <p:nvPr/>
        </p:nvSpPr>
        <p:spPr>
          <a:xfrm>
            <a:off x="9262872" y="3657600"/>
            <a:ext cx="731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317736" y="3694176"/>
            <a:ext cx="621792" cy="310896"/>
          </a:xfrm>
          <a:prstGeom prst="rect">
            <a:avLst/>
          </a:prstGeom>
          <a:noFill/>
        </p:spPr>
        <p:txBody>
          <a:bodyPr wrap="square">
            <a:spAutoFit/>
          </a:bodyPr>
          <a:lstStyle/>
          <a:p>
            <a:pPr algn="ctr"/>
            <a:r>
              <a:rPr sz="1000" b="0" i="0">
                <a:solidFill>
                  <a:srgbClr val="222233"/>
                </a:solidFill>
                <a:latin typeface="Calibri"/>
              </a:rPr>
              <a:t>0.10</a:t>
            </a:r>
          </a:p>
        </p:txBody>
      </p:sp>
      <p:sp>
        <p:nvSpPr>
          <p:cNvPr id="59" name="Rectangle 58"/>
          <p:cNvSpPr/>
          <p:nvPr/>
        </p:nvSpPr>
        <p:spPr>
          <a:xfrm>
            <a:off x="9994392" y="3657600"/>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049256" y="3694176"/>
            <a:ext cx="1993392" cy="310896"/>
          </a:xfrm>
          <a:prstGeom prst="rect">
            <a:avLst/>
          </a:prstGeom>
          <a:noFill/>
        </p:spPr>
        <p:txBody>
          <a:bodyPr wrap="square">
            <a:spAutoFit/>
          </a:bodyPr>
          <a:lstStyle/>
          <a:p>
            <a:pPr algn="l"/>
            <a:r>
              <a:rPr sz="1000" b="0" i="0">
                <a:solidFill>
                  <a:srgbClr val="222233"/>
                </a:solidFill>
                <a:latin typeface="Calibri"/>
              </a:rPr>
              <a:t>Paid placement boost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LLM World: Aggregated Search</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I</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Interaction process</a:t>
            </a:r>
          </a:p>
        </p:txBody>
      </p:sp>
      <p:sp>
        <p:nvSpPr>
          <p:cNvPr id="11" name="TextBox 10"/>
          <p:cNvSpPr txBox="1"/>
          <p:nvPr/>
        </p:nvSpPr>
        <p:spPr>
          <a:xfrm>
            <a:off x="274320" y="1371600"/>
            <a:ext cx="11640312" cy="365760"/>
          </a:xfrm>
          <a:prstGeom prst="rect">
            <a:avLst/>
          </a:prstGeom>
          <a:noFill/>
        </p:spPr>
        <p:txBody>
          <a:bodyPr wrap="square">
            <a:spAutoFit/>
          </a:bodyPr>
          <a:lstStyle/>
          <a:p>
            <a:pPr algn="l"/>
            <a:r>
              <a:rPr sz="1100" b="0" i="0">
                <a:solidFill>
                  <a:srgbClr val="222233"/>
                </a:solidFill>
                <a:latin typeface="Calibri"/>
              </a:rPr>
              <a:t>1.  Consumer samples meal intent (cuisine, budget, max time).</a:t>
            </a:r>
          </a:p>
        </p:txBody>
      </p:sp>
      <p:sp>
        <p:nvSpPr>
          <p:cNvPr id="12" name="TextBox 11"/>
          <p:cNvSpPr txBox="1"/>
          <p:nvPr/>
        </p:nvSpPr>
        <p:spPr>
          <a:xfrm>
            <a:off x="274320" y="1755648"/>
            <a:ext cx="11640312" cy="365760"/>
          </a:xfrm>
          <a:prstGeom prst="rect">
            <a:avLst/>
          </a:prstGeom>
          <a:noFill/>
        </p:spPr>
        <p:txBody>
          <a:bodyPr wrap="square">
            <a:spAutoFit/>
          </a:bodyPr>
          <a:lstStyle/>
          <a:p>
            <a:pPr algn="l"/>
            <a:r>
              <a:rPr sz="1100" b="0" i="0">
                <a:solidFill>
                  <a:srgbClr val="222233"/>
                </a:solidFill>
                <a:latin typeface="Calibri"/>
              </a:rPr>
              <a:t>2.  LLM sees all offers across all platforms simultaneously.</a:t>
            </a:r>
          </a:p>
        </p:txBody>
      </p:sp>
      <p:sp>
        <p:nvSpPr>
          <p:cNvPr id="13" name="TextBox 12"/>
          <p:cNvSpPr txBox="1"/>
          <p:nvPr/>
        </p:nvSpPr>
        <p:spPr>
          <a:xfrm>
            <a:off x="274320" y="2139696"/>
            <a:ext cx="11640312" cy="365760"/>
          </a:xfrm>
          <a:prstGeom prst="rect">
            <a:avLst/>
          </a:prstGeom>
          <a:noFill/>
        </p:spPr>
        <p:txBody>
          <a:bodyPr wrap="square">
            <a:spAutoFit/>
          </a:bodyPr>
          <a:lstStyle/>
          <a:p>
            <a:pPr algn="l"/>
            <a:r>
              <a:rPr sz="1100" b="0" i="0">
                <a:solidFill>
                  <a:srgbClr val="222233"/>
                </a:solidFill>
                <a:latin typeface="Calibri"/>
              </a:rPr>
              <a:t>3.  LLM scores every offer using intent-weighted ranking formula.</a:t>
            </a:r>
          </a:p>
        </p:txBody>
      </p:sp>
      <p:sp>
        <p:nvSpPr>
          <p:cNvPr id="14" name="TextBox 13"/>
          <p:cNvSpPr txBox="1"/>
          <p:nvPr/>
        </p:nvSpPr>
        <p:spPr>
          <a:xfrm>
            <a:off x="274320" y="2523744"/>
            <a:ext cx="11640312" cy="365760"/>
          </a:xfrm>
          <a:prstGeom prst="rect">
            <a:avLst/>
          </a:prstGeom>
          <a:noFill/>
        </p:spPr>
        <p:txBody>
          <a:bodyPr wrap="square">
            <a:spAutoFit/>
          </a:bodyPr>
          <a:lstStyle/>
          <a:p>
            <a:pPr algn="l"/>
            <a:r>
              <a:rPr sz="1100" b="0" i="0">
                <a:solidFill>
                  <a:srgbClr val="222233"/>
                </a:solidFill>
                <a:latin typeface="Calibri"/>
              </a:rPr>
              <a:t>4.  LLM returns top-5 shortlist.</a:t>
            </a:r>
          </a:p>
        </p:txBody>
      </p:sp>
      <p:sp>
        <p:nvSpPr>
          <p:cNvPr id="15" name="TextBox 14"/>
          <p:cNvSpPr txBox="1"/>
          <p:nvPr/>
        </p:nvSpPr>
        <p:spPr>
          <a:xfrm>
            <a:off x="274320" y="2907792"/>
            <a:ext cx="11640312" cy="365760"/>
          </a:xfrm>
          <a:prstGeom prst="rect">
            <a:avLst/>
          </a:prstGeom>
          <a:noFill/>
        </p:spPr>
        <p:txBody>
          <a:bodyPr wrap="square">
            <a:spAutoFit/>
          </a:bodyPr>
          <a:lstStyle/>
          <a:p>
            <a:pPr algn="l"/>
            <a:r>
              <a:rPr sz="1100" b="0" i="0">
                <a:solidFill>
                  <a:srgbClr val="222233"/>
                </a:solidFill>
                <a:latin typeface="Calibri"/>
              </a:rPr>
              <a:t>5.  Consumer clicks one recommendation or ignores the shortlist (Stage 1 choice).</a:t>
            </a:r>
          </a:p>
        </p:txBody>
      </p:sp>
      <p:sp>
        <p:nvSpPr>
          <p:cNvPr id="16" name="TextBox 15"/>
          <p:cNvSpPr txBox="1"/>
          <p:nvPr/>
        </p:nvSpPr>
        <p:spPr>
          <a:xfrm>
            <a:off x="274320" y="3291840"/>
            <a:ext cx="11640312" cy="365760"/>
          </a:xfrm>
          <a:prstGeom prst="rect">
            <a:avLst/>
          </a:prstGeom>
          <a:noFill/>
        </p:spPr>
        <p:txBody>
          <a:bodyPr wrap="square">
            <a:spAutoFit/>
          </a:bodyPr>
          <a:lstStyle/>
          <a:p>
            <a:pPr algn="l"/>
            <a:r>
              <a:rPr sz="1100" b="0" i="0">
                <a:solidFill>
                  <a:srgbClr val="222233"/>
                </a:solidFill>
                <a:latin typeface="Calibri"/>
              </a:rPr>
              <a:t>6.  If clicked, consumer purchases the offer or abandons (Stage 2 choice).</a:t>
            </a:r>
          </a:p>
        </p:txBody>
      </p:sp>
      <p:sp>
        <p:nvSpPr>
          <p:cNvPr id="17" name="TextBox 16"/>
          <p:cNvSpPr txBox="1"/>
          <p:nvPr/>
        </p:nvSpPr>
        <p:spPr>
          <a:xfrm>
            <a:off x="274320" y="3364992"/>
            <a:ext cx="11640312" cy="292608"/>
          </a:xfrm>
          <a:prstGeom prst="rect">
            <a:avLst/>
          </a:prstGeom>
          <a:noFill/>
        </p:spPr>
        <p:txBody>
          <a:bodyPr wrap="square">
            <a:spAutoFit/>
          </a:bodyPr>
          <a:lstStyle/>
          <a:p>
            <a:pPr algn="l"/>
            <a:r>
              <a:rPr sz="1200" b="1" i="0">
                <a:solidFill>
                  <a:srgbClr val="1A2E4A"/>
                </a:solidFill>
                <a:latin typeface="Calibri"/>
              </a:rPr>
              <a:t>Choice set</a:t>
            </a:r>
          </a:p>
        </p:txBody>
      </p:sp>
      <p:sp>
        <p:nvSpPr>
          <p:cNvPr id="18" name="Rectangle 17"/>
          <p:cNvSpPr/>
          <p:nvPr/>
        </p:nvSpPr>
        <p:spPr>
          <a:xfrm>
            <a:off x="274320" y="3685032"/>
            <a:ext cx="11640312" cy="7315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3776472"/>
            <a:ext cx="11420856" cy="548640"/>
          </a:xfrm>
          <a:prstGeom prst="rect">
            <a:avLst/>
          </a:prstGeom>
          <a:noFill/>
        </p:spPr>
        <p:txBody>
          <a:bodyPr wrap="square">
            <a:spAutoFit/>
          </a:bodyPr>
          <a:lstStyle/>
          <a:p>
            <a:pPr algn="l"/>
            <a:r>
              <a:rPr sz="1000" b="0" i="0">
                <a:solidFill>
                  <a:srgbClr val="A8D8A8"/>
                </a:solidFill>
                <a:latin typeface="Courier New"/>
              </a:rPr>
              <a:t>shortlist  =  top_5_offers_across_all_platforms(llm_score)
Stage 1 options:  shortlist[0..4]  +  no_click
Stage 2 options:  clicked_offer  +  abandon</a:t>
            </a:r>
          </a:p>
        </p:txBody>
      </p:sp>
      <p:sp>
        <p:nvSpPr>
          <p:cNvPr id="20" name="TextBox 19"/>
          <p:cNvSpPr txBox="1"/>
          <p:nvPr/>
        </p:nvSpPr>
        <p:spPr>
          <a:xfrm>
            <a:off x="274320" y="4544568"/>
            <a:ext cx="11640312" cy="292608"/>
          </a:xfrm>
          <a:prstGeom prst="rect">
            <a:avLst/>
          </a:prstGeom>
          <a:noFill/>
        </p:spPr>
        <p:txBody>
          <a:bodyPr wrap="square">
            <a:spAutoFit/>
          </a:bodyPr>
          <a:lstStyle/>
          <a:p>
            <a:pPr algn="l"/>
            <a:r>
              <a:rPr sz="1200" b="1" i="0">
                <a:solidFill>
                  <a:srgbClr val="1A2E4A"/>
                </a:solidFill>
                <a:latin typeface="Calibri"/>
              </a:rPr>
              <a:t>Key difference vs no-LLM</a:t>
            </a:r>
          </a:p>
        </p:txBody>
      </p:sp>
      <p:sp>
        <p:nvSpPr>
          <p:cNvPr id="21" name="Rectangle 20"/>
          <p:cNvSpPr/>
          <p:nvPr/>
        </p:nvSpPr>
        <p:spPr>
          <a:xfrm>
            <a:off x="274320" y="4864608"/>
            <a:ext cx="11640312"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4956048"/>
            <a:ext cx="11420856" cy="365760"/>
          </a:xfrm>
          <a:prstGeom prst="rect">
            <a:avLst/>
          </a:prstGeom>
          <a:noFill/>
        </p:spPr>
        <p:txBody>
          <a:bodyPr wrap="square">
            <a:spAutoFit/>
          </a:bodyPr>
          <a:lstStyle/>
          <a:p>
            <a:pPr algn="l"/>
            <a:r>
              <a:rPr sz="1000" b="0" i="0">
                <a:solidFill>
                  <a:srgbClr val="A8D8A8"/>
                </a:solidFill>
                <a:latin typeface="Courier New"/>
              </a:rPr>
              <a:t>No-LLM:  platform-fragmented search (2 platforms, cuisine filter)
LLM:     cross-platform aggregation (all platforms, all cuisines ranked by intent)</a:t>
            </a:r>
          </a:p>
        </p:txBody>
      </p:sp>
      <p:sp>
        <p:nvSpPr>
          <p:cNvPr id="23" name="TextBox 22"/>
          <p:cNvSpPr txBox="1"/>
          <p:nvPr/>
        </p:nvSpPr>
        <p:spPr>
          <a:xfrm>
            <a:off x="274320" y="5532120"/>
            <a:ext cx="11640312" cy="594360"/>
          </a:xfrm>
          <a:prstGeom prst="rect">
            <a:avLst/>
          </a:prstGeom>
          <a:noFill/>
        </p:spPr>
        <p:txBody>
          <a:bodyPr wrap="square">
            <a:spAutoFit/>
          </a:bodyPr>
          <a:lstStyle/>
          <a:p>
            <a:pPr algn="l"/>
            <a:r>
              <a:rPr sz="1100" b="0" i="1">
                <a:solidFill>
                  <a:srgbClr val="888899"/>
                </a:solidFill>
                <a:latin typeface="Calibri"/>
              </a:rPr>
              <a:t>The LLM's advantage is not a smarter algorithm per se — it is the elimination of search fragmentation. A neutral LLM with exactly the same ranking logic as a platform but applied across all platforms would still improve consumer outcomes.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LLM Ranking Formula</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J</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LLM score (any regime)</a:t>
            </a:r>
          </a:p>
        </p:txBody>
      </p:sp>
      <p:sp>
        <p:nvSpPr>
          <p:cNvPr id="11" name="Rectangle 10"/>
          <p:cNvSpPr/>
          <p:nvPr/>
        </p:nvSpPr>
        <p:spPr>
          <a:xfrm>
            <a:off x="274320" y="1371600"/>
            <a:ext cx="5943600" cy="1508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5724144" cy="1325880"/>
          </a:xfrm>
          <a:prstGeom prst="rect">
            <a:avLst/>
          </a:prstGeom>
          <a:noFill/>
        </p:spPr>
        <p:txBody>
          <a:bodyPr wrap="square">
            <a:spAutoFit/>
          </a:bodyPr>
          <a:lstStyle/>
          <a:p>
            <a:pPr algn="l"/>
            <a:r>
              <a:rPr sz="1000" b="0" i="0">
                <a:solidFill>
                  <a:srgbClr val="A8D8A8"/>
                </a:solidFill>
                <a:latin typeface="Courier New"/>
              </a:rPr>
              <a:t>llm_score  =
    0.35 * semantic_match
  + 0.20 * affordability_fit
  + 0.28 * quality / 5
  - 0.12 * delivery_time / 90
  - 0.05 * total_price / 40
  + sponsorship_bias         # = 0 in neutral regime</a:t>
            </a:r>
          </a:p>
        </p:txBody>
      </p:sp>
      <p:sp>
        <p:nvSpPr>
          <p:cNvPr id="13" name="TextBox 12"/>
          <p:cNvSpPr txBox="1"/>
          <p:nvPr/>
        </p:nvSpPr>
        <p:spPr>
          <a:xfrm>
            <a:off x="274320" y="2990088"/>
            <a:ext cx="11640312" cy="292608"/>
          </a:xfrm>
          <a:prstGeom prst="rect">
            <a:avLst/>
          </a:prstGeom>
          <a:noFill/>
        </p:spPr>
        <p:txBody>
          <a:bodyPr wrap="square">
            <a:spAutoFit/>
          </a:bodyPr>
          <a:lstStyle/>
          <a:p>
            <a:pPr algn="l"/>
            <a:r>
              <a:rPr sz="1200" b="1" i="0">
                <a:solidFill>
                  <a:srgbClr val="1A2E4A"/>
                </a:solidFill>
                <a:latin typeface="Calibri"/>
              </a:rPr>
              <a:t>Semantic match</a:t>
            </a:r>
          </a:p>
        </p:txBody>
      </p:sp>
      <p:sp>
        <p:nvSpPr>
          <p:cNvPr id="14" name="Rectangle 13"/>
          <p:cNvSpPr/>
          <p:nvPr/>
        </p:nvSpPr>
        <p:spPr>
          <a:xfrm>
            <a:off x="274320" y="3310128"/>
            <a:ext cx="5943600" cy="10515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3401568"/>
            <a:ext cx="5724144" cy="868680"/>
          </a:xfrm>
          <a:prstGeom prst="rect">
            <a:avLst/>
          </a:prstGeom>
          <a:noFill/>
        </p:spPr>
        <p:txBody>
          <a:bodyPr wrap="square">
            <a:spAutoFit/>
          </a:bodyPr>
          <a:lstStyle/>
          <a:p>
            <a:pPr algn="l"/>
            <a:r>
              <a:rPr sz="1000" b="0" i="0">
                <a:solidFill>
                  <a:srgbClr val="A8D8A8"/>
                </a:solidFill>
                <a:latin typeface="Courier New"/>
              </a:rPr>
              <a:t>if offer_cuisine == intent_cuisine:
    semantic_match = 1.0
elif cuisines are similar (hand-coded table):
    semantic_match = partial value (0.1 – 0.9)
else:
    semantic_match = 0.05   # distant match</a:t>
            </a:r>
          </a:p>
        </p:txBody>
      </p:sp>
      <p:sp>
        <p:nvSpPr>
          <p:cNvPr id="16" name="TextBox 15"/>
          <p:cNvSpPr txBox="1"/>
          <p:nvPr/>
        </p:nvSpPr>
        <p:spPr>
          <a:xfrm>
            <a:off x="274320" y="4480560"/>
            <a:ext cx="11640312" cy="292608"/>
          </a:xfrm>
          <a:prstGeom prst="rect">
            <a:avLst/>
          </a:prstGeom>
          <a:noFill/>
        </p:spPr>
        <p:txBody>
          <a:bodyPr wrap="square">
            <a:spAutoFit/>
          </a:bodyPr>
          <a:lstStyle/>
          <a:p>
            <a:pPr algn="l"/>
            <a:r>
              <a:rPr sz="1200" b="1" i="0">
                <a:solidFill>
                  <a:srgbClr val="1A2E4A"/>
                </a:solidFill>
                <a:latin typeface="Calibri"/>
              </a:rPr>
              <a:t>Affordability fit</a:t>
            </a:r>
          </a:p>
        </p:txBody>
      </p:sp>
      <p:sp>
        <p:nvSpPr>
          <p:cNvPr id="17" name="Rectangle 16"/>
          <p:cNvSpPr/>
          <p:nvPr/>
        </p:nvSpPr>
        <p:spPr>
          <a:xfrm>
            <a:off x="274320" y="4800600"/>
            <a:ext cx="5943600" cy="8229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4892040"/>
            <a:ext cx="5724144" cy="640080"/>
          </a:xfrm>
          <a:prstGeom prst="rect">
            <a:avLst/>
          </a:prstGeom>
          <a:noFill/>
        </p:spPr>
        <p:txBody>
          <a:bodyPr wrap="square">
            <a:spAutoFit/>
          </a:bodyPr>
          <a:lstStyle/>
          <a:p>
            <a:pPr algn="l"/>
            <a:r>
              <a:rPr sz="1000" b="0" i="0">
                <a:solidFill>
                  <a:srgbClr val="A8D8A8"/>
                </a:solidFill>
                <a:latin typeface="Courier New"/>
              </a:rPr>
              <a:t>if total_price &lt;= budget:
    affordability_fit = 1.0
else:
    affordability_fit = max(0, 1 - (total_price - budget) / budget)</a:t>
            </a:r>
          </a:p>
        </p:txBody>
      </p:sp>
      <p:sp>
        <p:nvSpPr>
          <p:cNvPr id="19" name="TextBox 18"/>
          <p:cNvSpPr txBox="1"/>
          <p:nvPr/>
        </p:nvSpPr>
        <p:spPr>
          <a:xfrm>
            <a:off x="6245352" y="1051560"/>
            <a:ext cx="11640312" cy="292608"/>
          </a:xfrm>
          <a:prstGeom prst="rect">
            <a:avLst/>
          </a:prstGeom>
          <a:noFill/>
        </p:spPr>
        <p:txBody>
          <a:bodyPr wrap="square">
            <a:spAutoFit/>
          </a:bodyPr>
          <a:lstStyle/>
          <a:p>
            <a:pPr algn="l"/>
            <a:r>
              <a:rPr sz="1200" b="1" i="0">
                <a:solidFill>
                  <a:srgbClr val="1A2E4A"/>
                </a:solidFill>
                <a:latin typeface="Calibri"/>
              </a:rPr>
              <a:t>Neutral regime sponsorship bias</a:t>
            </a:r>
          </a:p>
        </p:txBody>
      </p:sp>
      <p:sp>
        <p:nvSpPr>
          <p:cNvPr id="20" name="Rectangle 19"/>
          <p:cNvSpPr/>
          <p:nvPr/>
        </p:nvSpPr>
        <p:spPr>
          <a:xfrm>
            <a:off x="6245352" y="1371600"/>
            <a:ext cx="5577840"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1463040"/>
            <a:ext cx="5358384" cy="182880"/>
          </a:xfrm>
          <a:prstGeom prst="rect">
            <a:avLst/>
          </a:prstGeom>
          <a:noFill/>
        </p:spPr>
        <p:txBody>
          <a:bodyPr wrap="square">
            <a:spAutoFit/>
          </a:bodyPr>
          <a:lstStyle/>
          <a:p>
            <a:pPr algn="l"/>
            <a:r>
              <a:rPr sz="1000" b="0" i="0">
                <a:solidFill>
                  <a:srgbClr val="A8D8A8"/>
                </a:solidFill>
                <a:latin typeface="Courier New"/>
              </a:rPr>
              <a:t>sponsorship_bias  =  0</a:t>
            </a:r>
          </a:p>
        </p:txBody>
      </p:sp>
      <p:sp>
        <p:nvSpPr>
          <p:cNvPr id="22" name="TextBox 21"/>
          <p:cNvSpPr txBox="1"/>
          <p:nvPr/>
        </p:nvSpPr>
        <p:spPr>
          <a:xfrm>
            <a:off x="6245352" y="1847088"/>
            <a:ext cx="11640312" cy="292608"/>
          </a:xfrm>
          <a:prstGeom prst="rect">
            <a:avLst/>
          </a:prstGeom>
          <a:noFill/>
        </p:spPr>
        <p:txBody>
          <a:bodyPr wrap="square">
            <a:spAutoFit/>
          </a:bodyPr>
          <a:lstStyle/>
          <a:p>
            <a:pPr algn="l"/>
            <a:r>
              <a:rPr sz="1200" b="1" i="0">
                <a:solidFill>
                  <a:srgbClr val="1A2E4A"/>
                </a:solidFill>
                <a:latin typeface="Calibri"/>
              </a:rPr>
              <a:t>Weight interpretation</a:t>
            </a:r>
          </a:p>
        </p:txBody>
      </p:sp>
      <p:sp>
        <p:nvSpPr>
          <p:cNvPr id="23" name="Rectangle 22"/>
          <p:cNvSpPr/>
          <p:nvPr/>
        </p:nvSpPr>
        <p:spPr>
          <a:xfrm>
            <a:off x="6245352" y="2176272"/>
            <a:ext cx="25603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0216" y="2212848"/>
            <a:ext cx="2450592" cy="292608"/>
          </a:xfrm>
          <a:prstGeom prst="rect">
            <a:avLst/>
          </a:prstGeom>
          <a:noFill/>
        </p:spPr>
        <p:txBody>
          <a:bodyPr wrap="square">
            <a:spAutoFit/>
          </a:bodyPr>
          <a:lstStyle/>
          <a:p>
            <a:pPr algn="ctr"/>
            <a:r>
              <a:rPr sz="1100" b="1" i="0">
                <a:solidFill>
                  <a:srgbClr val="FFFFFF"/>
                </a:solidFill>
                <a:latin typeface="Calibri"/>
              </a:rPr>
              <a:t>Component</a:t>
            </a:r>
          </a:p>
        </p:txBody>
      </p:sp>
      <p:sp>
        <p:nvSpPr>
          <p:cNvPr id="25" name="Rectangle 24"/>
          <p:cNvSpPr/>
          <p:nvPr/>
        </p:nvSpPr>
        <p:spPr>
          <a:xfrm>
            <a:off x="8805672" y="2176272"/>
            <a:ext cx="7315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860536" y="2212848"/>
            <a:ext cx="621792" cy="292608"/>
          </a:xfrm>
          <a:prstGeom prst="rect">
            <a:avLst/>
          </a:prstGeom>
          <a:noFill/>
        </p:spPr>
        <p:txBody>
          <a:bodyPr wrap="square">
            <a:spAutoFit/>
          </a:bodyPr>
          <a:lstStyle/>
          <a:p>
            <a:pPr algn="ctr"/>
            <a:r>
              <a:rPr sz="1100" b="1" i="0">
                <a:solidFill>
                  <a:srgbClr val="FFFFFF"/>
                </a:solidFill>
                <a:latin typeface="Calibri"/>
              </a:rPr>
              <a:t>Weight</a:t>
            </a:r>
          </a:p>
        </p:txBody>
      </p:sp>
      <p:sp>
        <p:nvSpPr>
          <p:cNvPr id="27" name="Rectangle 26"/>
          <p:cNvSpPr/>
          <p:nvPr/>
        </p:nvSpPr>
        <p:spPr>
          <a:xfrm>
            <a:off x="9537192" y="2176272"/>
            <a:ext cx="22860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92056" y="2212848"/>
            <a:ext cx="2176272" cy="292608"/>
          </a:xfrm>
          <a:prstGeom prst="rect">
            <a:avLst/>
          </a:prstGeom>
          <a:noFill/>
        </p:spPr>
        <p:txBody>
          <a:bodyPr wrap="square">
            <a:spAutoFit/>
          </a:bodyPr>
          <a:lstStyle/>
          <a:p>
            <a:pPr algn="ctr"/>
            <a:r>
              <a:rPr sz="1100" b="1" i="0">
                <a:solidFill>
                  <a:srgbClr val="FFFFFF"/>
                </a:solidFill>
                <a:latin typeface="Calibri"/>
              </a:rPr>
              <a:t>Captures</a:t>
            </a:r>
          </a:p>
        </p:txBody>
      </p:sp>
      <p:sp>
        <p:nvSpPr>
          <p:cNvPr id="29" name="Rectangle 28"/>
          <p:cNvSpPr/>
          <p:nvPr/>
        </p:nvSpPr>
        <p:spPr>
          <a:xfrm>
            <a:off x="6245352" y="2542032"/>
            <a:ext cx="25603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00216" y="2578608"/>
            <a:ext cx="2450592" cy="310896"/>
          </a:xfrm>
          <a:prstGeom prst="rect">
            <a:avLst/>
          </a:prstGeom>
          <a:noFill/>
        </p:spPr>
        <p:txBody>
          <a:bodyPr wrap="square">
            <a:spAutoFit/>
          </a:bodyPr>
          <a:lstStyle/>
          <a:p>
            <a:pPr algn="l"/>
            <a:r>
              <a:rPr sz="1000" b="0" i="0">
                <a:solidFill>
                  <a:srgbClr val="222233"/>
                </a:solidFill>
                <a:latin typeface="Calibri"/>
              </a:rPr>
              <a:t>Semantic match</a:t>
            </a:r>
          </a:p>
        </p:txBody>
      </p:sp>
      <p:sp>
        <p:nvSpPr>
          <p:cNvPr id="31" name="Rectangle 30"/>
          <p:cNvSpPr/>
          <p:nvPr/>
        </p:nvSpPr>
        <p:spPr>
          <a:xfrm>
            <a:off x="8805672" y="2542032"/>
            <a:ext cx="731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860536" y="2578608"/>
            <a:ext cx="621792" cy="310896"/>
          </a:xfrm>
          <a:prstGeom prst="rect">
            <a:avLst/>
          </a:prstGeom>
          <a:noFill/>
        </p:spPr>
        <p:txBody>
          <a:bodyPr wrap="square">
            <a:spAutoFit/>
          </a:bodyPr>
          <a:lstStyle/>
          <a:p>
            <a:pPr algn="ctr"/>
            <a:r>
              <a:rPr sz="1000" b="0" i="0">
                <a:solidFill>
                  <a:srgbClr val="222233"/>
                </a:solidFill>
                <a:latin typeface="Calibri"/>
              </a:rPr>
              <a:t>0.35</a:t>
            </a:r>
          </a:p>
        </p:txBody>
      </p:sp>
      <p:sp>
        <p:nvSpPr>
          <p:cNvPr id="33" name="Rectangle 32"/>
          <p:cNvSpPr/>
          <p:nvPr/>
        </p:nvSpPr>
        <p:spPr>
          <a:xfrm>
            <a:off x="9537192" y="2542032"/>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592056" y="2578608"/>
            <a:ext cx="2176272" cy="310896"/>
          </a:xfrm>
          <a:prstGeom prst="rect">
            <a:avLst/>
          </a:prstGeom>
          <a:noFill/>
        </p:spPr>
        <p:txBody>
          <a:bodyPr wrap="square">
            <a:spAutoFit/>
          </a:bodyPr>
          <a:lstStyle/>
          <a:p>
            <a:pPr algn="l"/>
            <a:r>
              <a:rPr sz="1000" b="0" i="0">
                <a:solidFill>
                  <a:srgbClr val="222233"/>
                </a:solidFill>
                <a:latin typeface="Calibri"/>
              </a:rPr>
              <a:t>Cuisine intent fulfilment</a:t>
            </a:r>
          </a:p>
        </p:txBody>
      </p:sp>
      <p:sp>
        <p:nvSpPr>
          <p:cNvPr id="35" name="Rectangle 34"/>
          <p:cNvSpPr/>
          <p:nvPr/>
        </p:nvSpPr>
        <p:spPr>
          <a:xfrm>
            <a:off x="6245352" y="2926080"/>
            <a:ext cx="25603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00216" y="2962656"/>
            <a:ext cx="2450592" cy="310896"/>
          </a:xfrm>
          <a:prstGeom prst="rect">
            <a:avLst/>
          </a:prstGeom>
          <a:noFill/>
        </p:spPr>
        <p:txBody>
          <a:bodyPr wrap="square">
            <a:spAutoFit/>
          </a:bodyPr>
          <a:lstStyle/>
          <a:p>
            <a:pPr algn="l"/>
            <a:r>
              <a:rPr sz="1000" b="0" i="0">
                <a:solidFill>
                  <a:srgbClr val="222233"/>
                </a:solidFill>
                <a:latin typeface="Calibri"/>
              </a:rPr>
              <a:t>Affordability fit</a:t>
            </a:r>
          </a:p>
        </p:txBody>
      </p:sp>
      <p:sp>
        <p:nvSpPr>
          <p:cNvPr id="37" name="Rectangle 36"/>
          <p:cNvSpPr/>
          <p:nvPr/>
        </p:nvSpPr>
        <p:spPr>
          <a:xfrm>
            <a:off x="8805672" y="2926080"/>
            <a:ext cx="731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860536" y="2962656"/>
            <a:ext cx="621792" cy="310896"/>
          </a:xfrm>
          <a:prstGeom prst="rect">
            <a:avLst/>
          </a:prstGeom>
          <a:noFill/>
        </p:spPr>
        <p:txBody>
          <a:bodyPr wrap="square">
            <a:spAutoFit/>
          </a:bodyPr>
          <a:lstStyle/>
          <a:p>
            <a:pPr algn="ctr"/>
            <a:r>
              <a:rPr sz="1000" b="0" i="0">
                <a:solidFill>
                  <a:srgbClr val="222233"/>
                </a:solidFill>
                <a:latin typeface="Calibri"/>
              </a:rPr>
              <a:t>0.20</a:t>
            </a:r>
          </a:p>
        </p:txBody>
      </p:sp>
      <p:sp>
        <p:nvSpPr>
          <p:cNvPr id="39" name="Rectangle 38"/>
          <p:cNvSpPr/>
          <p:nvPr/>
        </p:nvSpPr>
        <p:spPr>
          <a:xfrm>
            <a:off x="9537192" y="2926080"/>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592056" y="2962656"/>
            <a:ext cx="2176272" cy="310896"/>
          </a:xfrm>
          <a:prstGeom prst="rect">
            <a:avLst/>
          </a:prstGeom>
          <a:noFill/>
        </p:spPr>
        <p:txBody>
          <a:bodyPr wrap="square">
            <a:spAutoFit/>
          </a:bodyPr>
          <a:lstStyle/>
          <a:p>
            <a:pPr algn="l"/>
            <a:r>
              <a:rPr sz="1000" b="0" i="0">
                <a:solidFill>
                  <a:srgbClr val="222233"/>
                </a:solidFill>
                <a:latin typeface="Calibri"/>
              </a:rPr>
              <a:t>Budget constraint</a:t>
            </a:r>
          </a:p>
        </p:txBody>
      </p:sp>
      <p:sp>
        <p:nvSpPr>
          <p:cNvPr id="41" name="Rectangle 40"/>
          <p:cNvSpPr/>
          <p:nvPr/>
        </p:nvSpPr>
        <p:spPr>
          <a:xfrm>
            <a:off x="6245352" y="3310128"/>
            <a:ext cx="25603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00216" y="3346704"/>
            <a:ext cx="2450592" cy="310896"/>
          </a:xfrm>
          <a:prstGeom prst="rect">
            <a:avLst/>
          </a:prstGeom>
          <a:noFill/>
        </p:spPr>
        <p:txBody>
          <a:bodyPr wrap="square">
            <a:spAutoFit/>
          </a:bodyPr>
          <a:lstStyle/>
          <a:p>
            <a:pPr algn="l"/>
            <a:r>
              <a:rPr sz="1000" b="0" i="0">
                <a:solidFill>
                  <a:srgbClr val="222233"/>
                </a:solidFill>
                <a:latin typeface="Calibri"/>
              </a:rPr>
              <a:t>Quality / 5</a:t>
            </a:r>
          </a:p>
        </p:txBody>
      </p:sp>
      <p:sp>
        <p:nvSpPr>
          <p:cNvPr id="43" name="Rectangle 42"/>
          <p:cNvSpPr/>
          <p:nvPr/>
        </p:nvSpPr>
        <p:spPr>
          <a:xfrm>
            <a:off x="8805672" y="3310128"/>
            <a:ext cx="731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860536" y="3346704"/>
            <a:ext cx="621792" cy="310896"/>
          </a:xfrm>
          <a:prstGeom prst="rect">
            <a:avLst/>
          </a:prstGeom>
          <a:noFill/>
        </p:spPr>
        <p:txBody>
          <a:bodyPr wrap="square">
            <a:spAutoFit/>
          </a:bodyPr>
          <a:lstStyle/>
          <a:p>
            <a:pPr algn="ctr"/>
            <a:r>
              <a:rPr sz="1000" b="0" i="0">
                <a:solidFill>
                  <a:srgbClr val="222233"/>
                </a:solidFill>
                <a:latin typeface="Calibri"/>
              </a:rPr>
              <a:t>0.28</a:t>
            </a:r>
          </a:p>
        </p:txBody>
      </p:sp>
      <p:sp>
        <p:nvSpPr>
          <p:cNvPr id="45" name="Rectangle 44"/>
          <p:cNvSpPr/>
          <p:nvPr/>
        </p:nvSpPr>
        <p:spPr>
          <a:xfrm>
            <a:off x="9537192" y="3310128"/>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92056" y="3346704"/>
            <a:ext cx="2176272" cy="310896"/>
          </a:xfrm>
          <a:prstGeom prst="rect">
            <a:avLst/>
          </a:prstGeom>
          <a:noFill/>
        </p:spPr>
        <p:txBody>
          <a:bodyPr wrap="square">
            <a:spAutoFit/>
          </a:bodyPr>
          <a:lstStyle/>
          <a:p>
            <a:pPr algn="l"/>
            <a:r>
              <a:rPr sz="1000" b="0" i="0">
                <a:solidFill>
                  <a:srgbClr val="222233"/>
                </a:solidFill>
                <a:latin typeface="Calibri"/>
              </a:rPr>
              <a:t>Restaurant quality</a:t>
            </a:r>
          </a:p>
        </p:txBody>
      </p:sp>
      <p:sp>
        <p:nvSpPr>
          <p:cNvPr id="47" name="Rectangle 46"/>
          <p:cNvSpPr/>
          <p:nvPr/>
        </p:nvSpPr>
        <p:spPr>
          <a:xfrm>
            <a:off x="6245352" y="3694176"/>
            <a:ext cx="25603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300216" y="3730752"/>
            <a:ext cx="2450592" cy="310896"/>
          </a:xfrm>
          <a:prstGeom prst="rect">
            <a:avLst/>
          </a:prstGeom>
          <a:noFill/>
        </p:spPr>
        <p:txBody>
          <a:bodyPr wrap="square">
            <a:spAutoFit/>
          </a:bodyPr>
          <a:lstStyle/>
          <a:p>
            <a:pPr algn="l"/>
            <a:r>
              <a:rPr sz="1000" b="0" i="0">
                <a:solidFill>
                  <a:srgbClr val="222233"/>
                </a:solidFill>
                <a:latin typeface="Calibri"/>
              </a:rPr>
              <a:t>−  Delivery time / 90</a:t>
            </a:r>
          </a:p>
        </p:txBody>
      </p:sp>
      <p:sp>
        <p:nvSpPr>
          <p:cNvPr id="49" name="Rectangle 48"/>
          <p:cNvSpPr/>
          <p:nvPr/>
        </p:nvSpPr>
        <p:spPr>
          <a:xfrm>
            <a:off x="8805672" y="3694176"/>
            <a:ext cx="7315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860536" y="3730752"/>
            <a:ext cx="621792" cy="310896"/>
          </a:xfrm>
          <a:prstGeom prst="rect">
            <a:avLst/>
          </a:prstGeom>
          <a:noFill/>
        </p:spPr>
        <p:txBody>
          <a:bodyPr wrap="square">
            <a:spAutoFit/>
          </a:bodyPr>
          <a:lstStyle/>
          <a:p>
            <a:pPr algn="ctr"/>
            <a:r>
              <a:rPr sz="1000" b="0" i="0">
                <a:solidFill>
                  <a:srgbClr val="222233"/>
                </a:solidFill>
                <a:latin typeface="Calibri"/>
              </a:rPr>
              <a:t>0.12</a:t>
            </a:r>
          </a:p>
        </p:txBody>
      </p:sp>
      <p:sp>
        <p:nvSpPr>
          <p:cNvPr id="51" name="Rectangle 50"/>
          <p:cNvSpPr/>
          <p:nvPr/>
        </p:nvSpPr>
        <p:spPr>
          <a:xfrm>
            <a:off x="9537192" y="3694176"/>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592056" y="3730752"/>
            <a:ext cx="2176272" cy="310896"/>
          </a:xfrm>
          <a:prstGeom prst="rect">
            <a:avLst/>
          </a:prstGeom>
          <a:noFill/>
        </p:spPr>
        <p:txBody>
          <a:bodyPr wrap="square">
            <a:spAutoFit/>
          </a:bodyPr>
          <a:lstStyle/>
          <a:p>
            <a:pPr algn="l"/>
            <a:r>
              <a:rPr sz="1000" b="0" i="0">
                <a:solidFill>
                  <a:srgbClr val="222233"/>
                </a:solidFill>
                <a:latin typeface="Calibri"/>
              </a:rPr>
              <a:t>Speed preference</a:t>
            </a:r>
          </a:p>
        </p:txBody>
      </p:sp>
      <p:sp>
        <p:nvSpPr>
          <p:cNvPr id="53" name="Rectangle 52"/>
          <p:cNvSpPr/>
          <p:nvPr/>
        </p:nvSpPr>
        <p:spPr>
          <a:xfrm>
            <a:off x="6245352" y="4078224"/>
            <a:ext cx="25603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00216" y="4114800"/>
            <a:ext cx="2450592" cy="310896"/>
          </a:xfrm>
          <a:prstGeom prst="rect">
            <a:avLst/>
          </a:prstGeom>
          <a:noFill/>
        </p:spPr>
        <p:txBody>
          <a:bodyPr wrap="square">
            <a:spAutoFit/>
          </a:bodyPr>
          <a:lstStyle/>
          <a:p>
            <a:pPr algn="l"/>
            <a:r>
              <a:rPr sz="1000" b="0" i="0">
                <a:solidFill>
                  <a:srgbClr val="222233"/>
                </a:solidFill>
                <a:latin typeface="Calibri"/>
              </a:rPr>
              <a:t>−  Total price / 40</a:t>
            </a:r>
          </a:p>
        </p:txBody>
      </p:sp>
      <p:sp>
        <p:nvSpPr>
          <p:cNvPr id="55" name="Rectangle 54"/>
          <p:cNvSpPr/>
          <p:nvPr/>
        </p:nvSpPr>
        <p:spPr>
          <a:xfrm>
            <a:off x="8805672" y="4078224"/>
            <a:ext cx="7315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860536" y="4114800"/>
            <a:ext cx="621792" cy="310896"/>
          </a:xfrm>
          <a:prstGeom prst="rect">
            <a:avLst/>
          </a:prstGeom>
          <a:noFill/>
        </p:spPr>
        <p:txBody>
          <a:bodyPr wrap="square">
            <a:spAutoFit/>
          </a:bodyPr>
          <a:lstStyle/>
          <a:p>
            <a:pPr algn="ctr"/>
            <a:r>
              <a:rPr sz="1000" b="0" i="0">
                <a:solidFill>
                  <a:srgbClr val="222233"/>
                </a:solidFill>
                <a:latin typeface="Calibri"/>
              </a:rPr>
              <a:t>0.05</a:t>
            </a:r>
          </a:p>
        </p:txBody>
      </p:sp>
      <p:sp>
        <p:nvSpPr>
          <p:cNvPr id="57" name="Rectangle 56"/>
          <p:cNvSpPr/>
          <p:nvPr/>
        </p:nvSpPr>
        <p:spPr>
          <a:xfrm>
            <a:off x="9537192" y="4078224"/>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592056" y="4114800"/>
            <a:ext cx="2176272" cy="310896"/>
          </a:xfrm>
          <a:prstGeom prst="rect">
            <a:avLst/>
          </a:prstGeom>
          <a:noFill/>
        </p:spPr>
        <p:txBody>
          <a:bodyPr wrap="square">
            <a:spAutoFit/>
          </a:bodyPr>
          <a:lstStyle/>
          <a:p>
            <a:pPr algn="l"/>
            <a:r>
              <a:rPr sz="1000" b="0" i="0">
                <a:solidFill>
                  <a:srgbClr val="222233"/>
                </a:solidFill>
                <a:latin typeface="Calibri"/>
              </a:rPr>
              <a:t>Price beyond budget</a:t>
            </a:r>
          </a:p>
        </p:txBody>
      </p:sp>
      <p:sp>
        <p:nvSpPr>
          <p:cNvPr id="59" name="TextBox 58"/>
          <p:cNvSpPr txBox="1"/>
          <p:nvPr/>
        </p:nvSpPr>
        <p:spPr>
          <a:xfrm>
            <a:off x="6245352" y="4572000"/>
            <a:ext cx="5577840" cy="502920"/>
          </a:xfrm>
          <a:prstGeom prst="rect">
            <a:avLst/>
          </a:prstGeom>
          <a:noFill/>
        </p:spPr>
        <p:txBody>
          <a:bodyPr wrap="square">
            <a:spAutoFit/>
          </a:bodyPr>
          <a:lstStyle/>
          <a:p>
            <a:pPr algn="l"/>
            <a:r>
              <a:rPr sz="1100" b="0" i="1">
                <a:solidFill>
                  <a:srgbClr val="888899"/>
                </a:solidFill>
                <a:latin typeface="Calibri"/>
              </a:rPr>
              <a:t>Semantic match has the highest weight (0.35) — the LLM prioritizes cuisine intent above all else.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LLM Sponsorship Bias By Regime</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K</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Nominal platform sponsorship rates</a:t>
            </a:r>
          </a:p>
        </p:txBody>
      </p:sp>
      <p:sp>
        <p:nvSpPr>
          <p:cNvPr id="11" name="Rectangle 10"/>
          <p:cNvSpPr/>
          <p:nvPr/>
        </p:nvSpPr>
        <p:spPr>
          <a:xfrm>
            <a:off x="274320" y="1371600"/>
            <a:ext cx="27432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 y="1408176"/>
            <a:ext cx="2633472" cy="292608"/>
          </a:xfrm>
          <a:prstGeom prst="rect">
            <a:avLst/>
          </a:prstGeom>
          <a:noFill/>
        </p:spPr>
        <p:txBody>
          <a:bodyPr wrap="square">
            <a:spAutoFit/>
          </a:bodyPr>
          <a:lstStyle/>
          <a:p>
            <a:pPr algn="ctr"/>
            <a:r>
              <a:rPr sz="1100" b="1" i="0">
                <a:solidFill>
                  <a:srgbClr val="FFFFFF"/>
                </a:solidFill>
                <a:latin typeface="Calibri"/>
              </a:rPr>
              <a:t>Platform</a:t>
            </a:r>
          </a:p>
        </p:txBody>
      </p:sp>
      <p:sp>
        <p:nvSpPr>
          <p:cNvPr id="13" name="Rectangle 12"/>
          <p:cNvSpPr/>
          <p:nvPr/>
        </p:nvSpPr>
        <p:spPr>
          <a:xfrm>
            <a:off x="3017520" y="1371600"/>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72384" y="1408176"/>
            <a:ext cx="1993392" cy="292608"/>
          </a:xfrm>
          <a:prstGeom prst="rect">
            <a:avLst/>
          </a:prstGeom>
          <a:noFill/>
        </p:spPr>
        <p:txBody>
          <a:bodyPr wrap="square">
            <a:spAutoFit/>
          </a:bodyPr>
          <a:lstStyle/>
          <a:p>
            <a:pPr algn="ctr"/>
            <a:r>
              <a:rPr sz="1100" b="1" i="0">
                <a:solidFill>
                  <a:srgbClr val="FFFFFF"/>
                </a:solidFill>
                <a:latin typeface="Calibri"/>
              </a:rPr>
              <a:t>CPC rate</a:t>
            </a:r>
          </a:p>
        </p:txBody>
      </p:sp>
      <p:sp>
        <p:nvSpPr>
          <p:cNvPr id="15" name="Rectangle 14"/>
          <p:cNvSpPr/>
          <p:nvPr/>
        </p:nvSpPr>
        <p:spPr>
          <a:xfrm>
            <a:off x="5120640" y="1371600"/>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75504" y="1408176"/>
            <a:ext cx="1993392" cy="292608"/>
          </a:xfrm>
          <a:prstGeom prst="rect">
            <a:avLst/>
          </a:prstGeom>
          <a:noFill/>
        </p:spPr>
        <p:txBody>
          <a:bodyPr wrap="square">
            <a:spAutoFit/>
          </a:bodyPr>
          <a:lstStyle/>
          <a:p>
            <a:pPr algn="ctr"/>
            <a:r>
              <a:rPr sz="1100" b="1" i="0">
                <a:solidFill>
                  <a:srgbClr val="FFFFFF"/>
                </a:solidFill>
                <a:latin typeface="Calibri"/>
              </a:rPr>
              <a:t>CPA rate</a:t>
            </a:r>
          </a:p>
        </p:txBody>
      </p:sp>
      <p:sp>
        <p:nvSpPr>
          <p:cNvPr id="17" name="Rectangle 16"/>
          <p:cNvSpPr/>
          <p:nvPr/>
        </p:nvSpPr>
        <p:spPr>
          <a:xfrm>
            <a:off x="7223760" y="1371600"/>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78624" y="1408176"/>
            <a:ext cx="1993392" cy="292608"/>
          </a:xfrm>
          <a:prstGeom prst="rect">
            <a:avLst/>
          </a:prstGeom>
          <a:noFill/>
        </p:spPr>
        <p:txBody>
          <a:bodyPr wrap="square">
            <a:spAutoFit/>
          </a:bodyPr>
          <a:lstStyle/>
          <a:p>
            <a:pPr algn="ctr"/>
            <a:r>
              <a:rPr sz="1100" b="1" i="0">
                <a:solidFill>
                  <a:srgbClr val="FFFFFF"/>
                </a:solidFill>
                <a:latin typeface="Calibri"/>
              </a:rPr>
              <a:t>CPFI rate</a:t>
            </a:r>
          </a:p>
        </p:txBody>
      </p:sp>
      <p:sp>
        <p:nvSpPr>
          <p:cNvPr id="19" name="Rectangle 18"/>
          <p:cNvSpPr/>
          <p:nvPr/>
        </p:nvSpPr>
        <p:spPr>
          <a:xfrm>
            <a:off x="9326880" y="1371600"/>
            <a:ext cx="2587752"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81744" y="1408176"/>
            <a:ext cx="2478024" cy="292608"/>
          </a:xfrm>
          <a:prstGeom prst="rect">
            <a:avLst/>
          </a:prstGeom>
          <a:noFill/>
        </p:spPr>
        <p:txBody>
          <a:bodyPr wrap="square">
            <a:spAutoFit/>
          </a:bodyPr>
          <a:lstStyle/>
          <a:p>
            <a:pPr algn="ctr"/>
            <a:r>
              <a:rPr sz="1100" b="1" i="0">
                <a:solidFill>
                  <a:srgbClr val="FFFFFF"/>
                </a:solidFill>
                <a:latin typeface="Calibri"/>
              </a:rPr>
              <a:t>Commission</a:t>
            </a:r>
          </a:p>
        </p:txBody>
      </p:sp>
      <p:sp>
        <p:nvSpPr>
          <p:cNvPr id="21" name="Rectangle 20"/>
          <p:cNvSpPr/>
          <p:nvPr/>
        </p:nvSpPr>
        <p:spPr>
          <a:xfrm>
            <a:off x="274320" y="1737360"/>
            <a:ext cx="27432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9184" y="1773936"/>
            <a:ext cx="2633472" cy="310896"/>
          </a:xfrm>
          <a:prstGeom prst="rect">
            <a:avLst/>
          </a:prstGeom>
          <a:noFill/>
        </p:spPr>
        <p:txBody>
          <a:bodyPr wrap="square">
            <a:spAutoFit/>
          </a:bodyPr>
          <a:lstStyle/>
          <a:p>
            <a:pPr algn="ctr"/>
            <a:r>
              <a:rPr sz="1100" b="0" i="0">
                <a:solidFill>
                  <a:srgbClr val="222233"/>
                </a:solidFill>
                <a:latin typeface="Calibri"/>
              </a:rPr>
              <a:t>QuickEats</a:t>
            </a:r>
          </a:p>
        </p:txBody>
      </p:sp>
      <p:sp>
        <p:nvSpPr>
          <p:cNvPr id="23" name="Rectangle 22"/>
          <p:cNvSpPr/>
          <p:nvPr/>
        </p:nvSpPr>
        <p:spPr>
          <a:xfrm>
            <a:off x="3017520" y="1737360"/>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72384" y="1773936"/>
            <a:ext cx="1993392" cy="310896"/>
          </a:xfrm>
          <a:prstGeom prst="rect">
            <a:avLst/>
          </a:prstGeom>
          <a:noFill/>
        </p:spPr>
        <p:txBody>
          <a:bodyPr wrap="square">
            <a:spAutoFit/>
          </a:bodyPr>
          <a:lstStyle/>
          <a:p>
            <a:pPr algn="ctr"/>
            <a:r>
              <a:rPr sz="1100" b="0" i="0">
                <a:solidFill>
                  <a:srgbClr val="222233"/>
                </a:solidFill>
                <a:latin typeface="Calibri"/>
              </a:rPr>
              <a:t>$0.50</a:t>
            </a:r>
          </a:p>
        </p:txBody>
      </p:sp>
      <p:sp>
        <p:nvSpPr>
          <p:cNvPr id="25" name="Rectangle 24"/>
          <p:cNvSpPr/>
          <p:nvPr/>
        </p:nvSpPr>
        <p:spPr>
          <a:xfrm>
            <a:off x="5120640" y="1737360"/>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175504" y="1773936"/>
            <a:ext cx="1993392" cy="310896"/>
          </a:xfrm>
          <a:prstGeom prst="rect">
            <a:avLst/>
          </a:prstGeom>
          <a:noFill/>
        </p:spPr>
        <p:txBody>
          <a:bodyPr wrap="square">
            <a:spAutoFit/>
          </a:bodyPr>
          <a:lstStyle/>
          <a:p>
            <a:pPr algn="ctr"/>
            <a:r>
              <a:rPr sz="1100" b="0" i="0">
                <a:solidFill>
                  <a:srgbClr val="222233"/>
                </a:solidFill>
                <a:latin typeface="Calibri"/>
              </a:rPr>
              <a:t>$0.45</a:t>
            </a:r>
          </a:p>
        </p:txBody>
      </p:sp>
      <p:sp>
        <p:nvSpPr>
          <p:cNvPr id="27" name="Rectangle 26"/>
          <p:cNvSpPr/>
          <p:nvPr/>
        </p:nvSpPr>
        <p:spPr>
          <a:xfrm>
            <a:off x="7223760" y="1737360"/>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78624" y="1773936"/>
            <a:ext cx="1993392" cy="310896"/>
          </a:xfrm>
          <a:prstGeom prst="rect">
            <a:avLst/>
          </a:prstGeom>
          <a:noFill/>
        </p:spPr>
        <p:txBody>
          <a:bodyPr wrap="square">
            <a:spAutoFit/>
          </a:bodyPr>
          <a:lstStyle/>
          <a:p>
            <a:pPr algn="ctr"/>
            <a:r>
              <a:rPr sz="1100" b="0" i="0">
                <a:solidFill>
                  <a:srgbClr val="222233"/>
                </a:solidFill>
                <a:latin typeface="Calibri"/>
              </a:rPr>
              <a:t>$0.65</a:t>
            </a:r>
          </a:p>
        </p:txBody>
      </p:sp>
      <p:sp>
        <p:nvSpPr>
          <p:cNvPr id="29" name="Rectangle 28"/>
          <p:cNvSpPr/>
          <p:nvPr/>
        </p:nvSpPr>
        <p:spPr>
          <a:xfrm>
            <a:off x="9326880" y="1737360"/>
            <a:ext cx="258775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381744" y="1773936"/>
            <a:ext cx="2478024" cy="310896"/>
          </a:xfrm>
          <a:prstGeom prst="rect">
            <a:avLst/>
          </a:prstGeom>
          <a:noFill/>
        </p:spPr>
        <p:txBody>
          <a:bodyPr wrap="square">
            <a:spAutoFit/>
          </a:bodyPr>
          <a:lstStyle/>
          <a:p>
            <a:pPr algn="ctr"/>
            <a:r>
              <a:rPr sz="1100" b="0" i="0">
                <a:solidFill>
                  <a:srgbClr val="222233"/>
                </a:solidFill>
                <a:latin typeface="Calibri"/>
              </a:rPr>
              <a:t>20%</a:t>
            </a:r>
          </a:p>
        </p:txBody>
      </p:sp>
      <p:sp>
        <p:nvSpPr>
          <p:cNvPr id="31" name="Rectangle 30"/>
          <p:cNvSpPr/>
          <p:nvPr/>
        </p:nvSpPr>
        <p:spPr>
          <a:xfrm>
            <a:off x="274320" y="2121408"/>
            <a:ext cx="27432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9184" y="2157984"/>
            <a:ext cx="2633472" cy="310896"/>
          </a:xfrm>
          <a:prstGeom prst="rect">
            <a:avLst/>
          </a:prstGeom>
          <a:noFill/>
        </p:spPr>
        <p:txBody>
          <a:bodyPr wrap="square">
            <a:spAutoFit/>
          </a:bodyPr>
          <a:lstStyle/>
          <a:p>
            <a:pPr algn="ctr"/>
            <a:r>
              <a:rPr sz="1100" b="0" i="0">
                <a:solidFill>
                  <a:srgbClr val="222233"/>
                </a:solidFill>
                <a:latin typeface="Calibri"/>
              </a:rPr>
              <a:t>FoodRush</a:t>
            </a:r>
          </a:p>
        </p:txBody>
      </p:sp>
      <p:sp>
        <p:nvSpPr>
          <p:cNvPr id="33" name="Rectangle 32"/>
          <p:cNvSpPr/>
          <p:nvPr/>
        </p:nvSpPr>
        <p:spPr>
          <a:xfrm>
            <a:off x="3017520" y="2121408"/>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72384" y="2157984"/>
            <a:ext cx="1993392" cy="310896"/>
          </a:xfrm>
          <a:prstGeom prst="rect">
            <a:avLst/>
          </a:prstGeom>
          <a:noFill/>
        </p:spPr>
        <p:txBody>
          <a:bodyPr wrap="square">
            <a:spAutoFit/>
          </a:bodyPr>
          <a:lstStyle/>
          <a:p>
            <a:pPr algn="ctr"/>
            <a:r>
              <a:rPr sz="1100" b="0" i="0">
                <a:solidFill>
                  <a:srgbClr val="222233"/>
                </a:solidFill>
                <a:latin typeface="Calibri"/>
              </a:rPr>
              <a:t>$0.80</a:t>
            </a:r>
          </a:p>
        </p:txBody>
      </p:sp>
      <p:sp>
        <p:nvSpPr>
          <p:cNvPr id="35" name="Rectangle 34"/>
          <p:cNvSpPr/>
          <p:nvPr/>
        </p:nvSpPr>
        <p:spPr>
          <a:xfrm>
            <a:off x="5120640" y="2121408"/>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175504" y="2157984"/>
            <a:ext cx="1993392" cy="310896"/>
          </a:xfrm>
          <a:prstGeom prst="rect">
            <a:avLst/>
          </a:prstGeom>
          <a:noFill/>
        </p:spPr>
        <p:txBody>
          <a:bodyPr wrap="square">
            <a:spAutoFit/>
          </a:bodyPr>
          <a:lstStyle/>
          <a:p>
            <a:pPr algn="ctr"/>
            <a:r>
              <a:rPr sz="1100" b="0" i="0">
                <a:solidFill>
                  <a:srgbClr val="222233"/>
                </a:solidFill>
                <a:latin typeface="Calibri"/>
              </a:rPr>
              <a:t>$0.60</a:t>
            </a:r>
          </a:p>
        </p:txBody>
      </p:sp>
      <p:sp>
        <p:nvSpPr>
          <p:cNvPr id="37" name="Rectangle 36"/>
          <p:cNvSpPr/>
          <p:nvPr/>
        </p:nvSpPr>
        <p:spPr>
          <a:xfrm>
            <a:off x="7223760" y="2121408"/>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78624" y="2157984"/>
            <a:ext cx="1993392" cy="310896"/>
          </a:xfrm>
          <a:prstGeom prst="rect">
            <a:avLst/>
          </a:prstGeom>
          <a:noFill/>
        </p:spPr>
        <p:txBody>
          <a:bodyPr wrap="square">
            <a:spAutoFit/>
          </a:bodyPr>
          <a:lstStyle/>
          <a:p>
            <a:pPr algn="ctr"/>
            <a:r>
              <a:rPr sz="1100" b="0" i="0">
                <a:solidFill>
                  <a:srgbClr val="222233"/>
                </a:solidFill>
                <a:latin typeface="Calibri"/>
              </a:rPr>
              <a:t>$0.85</a:t>
            </a:r>
          </a:p>
        </p:txBody>
      </p:sp>
      <p:sp>
        <p:nvSpPr>
          <p:cNvPr id="39" name="Rectangle 38"/>
          <p:cNvSpPr/>
          <p:nvPr/>
        </p:nvSpPr>
        <p:spPr>
          <a:xfrm>
            <a:off x="9326880" y="2121408"/>
            <a:ext cx="258775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381744" y="2157984"/>
            <a:ext cx="2478024" cy="310896"/>
          </a:xfrm>
          <a:prstGeom prst="rect">
            <a:avLst/>
          </a:prstGeom>
          <a:noFill/>
        </p:spPr>
        <p:txBody>
          <a:bodyPr wrap="square">
            <a:spAutoFit/>
          </a:bodyPr>
          <a:lstStyle/>
          <a:p>
            <a:pPr algn="ctr"/>
            <a:r>
              <a:rPr sz="1100" b="0" i="0">
                <a:solidFill>
                  <a:srgbClr val="222233"/>
                </a:solidFill>
                <a:latin typeface="Calibri"/>
              </a:rPr>
              <a:t>25%</a:t>
            </a:r>
          </a:p>
        </p:txBody>
      </p:sp>
      <p:sp>
        <p:nvSpPr>
          <p:cNvPr id="41" name="Rectangle 40"/>
          <p:cNvSpPr/>
          <p:nvPr/>
        </p:nvSpPr>
        <p:spPr>
          <a:xfrm>
            <a:off x="274320" y="2505456"/>
            <a:ext cx="27432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9184" y="2542032"/>
            <a:ext cx="2633472" cy="310896"/>
          </a:xfrm>
          <a:prstGeom prst="rect">
            <a:avLst/>
          </a:prstGeom>
          <a:noFill/>
        </p:spPr>
        <p:txBody>
          <a:bodyPr wrap="square">
            <a:spAutoFit/>
          </a:bodyPr>
          <a:lstStyle/>
          <a:p>
            <a:pPr algn="ctr"/>
            <a:r>
              <a:rPr sz="1100" b="0" i="0">
                <a:solidFill>
                  <a:srgbClr val="222233"/>
                </a:solidFill>
                <a:latin typeface="Calibri"/>
              </a:rPr>
              <a:t>NomNom</a:t>
            </a:r>
          </a:p>
        </p:txBody>
      </p:sp>
      <p:sp>
        <p:nvSpPr>
          <p:cNvPr id="43" name="Rectangle 42"/>
          <p:cNvSpPr/>
          <p:nvPr/>
        </p:nvSpPr>
        <p:spPr>
          <a:xfrm>
            <a:off x="3017520" y="2505456"/>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072384" y="2542032"/>
            <a:ext cx="1993392" cy="310896"/>
          </a:xfrm>
          <a:prstGeom prst="rect">
            <a:avLst/>
          </a:prstGeom>
          <a:noFill/>
        </p:spPr>
        <p:txBody>
          <a:bodyPr wrap="square">
            <a:spAutoFit/>
          </a:bodyPr>
          <a:lstStyle/>
          <a:p>
            <a:pPr algn="ctr"/>
            <a:r>
              <a:rPr sz="1100" b="0" i="0">
                <a:solidFill>
                  <a:srgbClr val="222233"/>
                </a:solidFill>
                <a:latin typeface="Calibri"/>
              </a:rPr>
              <a:t>$0.30</a:t>
            </a:r>
          </a:p>
        </p:txBody>
      </p:sp>
      <p:sp>
        <p:nvSpPr>
          <p:cNvPr id="45" name="Rectangle 44"/>
          <p:cNvSpPr/>
          <p:nvPr/>
        </p:nvSpPr>
        <p:spPr>
          <a:xfrm>
            <a:off x="5120640" y="2505456"/>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175504" y="2542032"/>
            <a:ext cx="1993392" cy="310896"/>
          </a:xfrm>
          <a:prstGeom prst="rect">
            <a:avLst/>
          </a:prstGeom>
          <a:noFill/>
        </p:spPr>
        <p:txBody>
          <a:bodyPr wrap="square">
            <a:spAutoFit/>
          </a:bodyPr>
          <a:lstStyle/>
          <a:p>
            <a:pPr algn="ctr"/>
            <a:r>
              <a:rPr sz="1100" b="0" i="0">
                <a:solidFill>
                  <a:srgbClr val="222233"/>
                </a:solidFill>
                <a:latin typeface="Calibri"/>
              </a:rPr>
              <a:t>$0.25</a:t>
            </a:r>
          </a:p>
        </p:txBody>
      </p:sp>
      <p:sp>
        <p:nvSpPr>
          <p:cNvPr id="47" name="Rectangle 46"/>
          <p:cNvSpPr/>
          <p:nvPr/>
        </p:nvSpPr>
        <p:spPr>
          <a:xfrm>
            <a:off x="7223760" y="2505456"/>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78624" y="2542032"/>
            <a:ext cx="1993392" cy="310896"/>
          </a:xfrm>
          <a:prstGeom prst="rect">
            <a:avLst/>
          </a:prstGeom>
          <a:noFill/>
        </p:spPr>
        <p:txBody>
          <a:bodyPr wrap="square">
            <a:spAutoFit/>
          </a:bodyPr>
          <a:lstStyle/>
          <a:p>
            <a:pPr algn="ctr"/>
            <a:r>
              <a:rPr sz="1100" b="0" i="0">
                <a:solidFill>
                  <a:srgbClr val="222233"/>
                </a:solidFill>
                <a:latin typeface="Calibri"/>
              </a:rPr>
              <a:t>$0.40</a:t>
            </a:r>
          </a:p>
        </p:txBody>
      </p:sp>
      <p:sp>
        <p:nvSpPr>
          <p:cNvPr id="49" name="Rectangle 48"/>
          <p:cNvSpPr/>
          <p:nvPr/>
        </p:nvSpPr>
        <p:spPr>
          <a:xfrm>
            <a:off x="9326880" y="2505456"/>
            <a:ext cx="258775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381744" y="2542032"/>
            <a:ext cx="2478024" cy="310896"/>
          </a:xfrm>
          <a:prstGeom prst="rect">
            <a:avLst/>
          </a:prstGeom>
          <a:noFill/>
        </p:spPr>
        <p:txBody>
          <a:bodyPr wrap="square">
            <a:spAutoFit/>
          </a:bodyPr>
          <a:lstStyle/>
          <a:p>
            <a:pPr algn="ctr"/>
            <a:r>
              <a:rPr sz="1100" b="0" i="0">
                <a:solidFill>
                  <a:srgbClr val="222233"/>
                </a:solidFill>
                <a:latin typeface="Calibri"/>
              </a:rPr>
              <a:t>15%</a:t>
            </a:r>
          </a:p>
        </p:txBody>
      </p:sp>
      <p:sp>
        <p:nvSpPr>
          <p:cNvPr id="51" name="TextBox 50"/>
          <p:cNvSpPr txBox="1"/>
          <p:nvPr/>
        </p:nvSpPr>
        <p:spPr>
          <a:xfrm>
            <a:off x="274320" y="2944368"/>
            <a:ext cx="11640312" cy="292608"/>
          </a:xfrm>
          <a:prstGeom prst="rect">
            <a:avLst/>
          </a:prstGeom>
          <a:noFill/>
        </p:spPr>
        <p:txBody>
          <a:bodyPr wrap="square">
            <a:spAutoFit/>
          </a:bodyPr>
          <a:lstStyle/>
          <a:p>
            <a:pPr algn="l"/>
            <a:r>
              <a:rPr sz="1200" b="1" i="0">
                <a:solidFill>
                  <a:srgbClr val="1A2E4A"/>
                </a:solidFill>
                <a:latin typeface="Calibri"/>
              </a:rPr>
              <a:t>Default bias strength</a:t>
            </a:r>
          </a:p>
        </p:txBody>
      </p:sp>
      <p:sp>
        <p:nvSpPr>
          <p:cNvPr id="52" name="Rectangle 51"/>
          <p:cNvSpPr/>
          <p:nvPr/>
        </p:nvSpPr>
        <p:spPr>
          <a:xfrm>
            <a:off x="274320" y="3264408"/>
            <a:ext cx="11640312"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3355848"/>
            <a:ext cx="11420856" cy="182880"/>
          </a:xfrm>
          <a:prstGeom prst="rect">
            <a:avLst/>
          </a:prstGeom>
          <a:noFill/>
        </p:spPr>
        <p:txBody>
          <a:bodyPr wrap="square">
            <a:spAutoFit/>
          </a:bodyPr>
          <a:lstStyle/>
          <a:p>
            <a:pPr algn="l"/>
            <a:r>
              <a:rPr sz="1000" b="0" i="0">
                <a:solidFill>
                  <a:srgbClr val="A8D8A8"/>
                </a:solidFill>
                <a:latin typeface="Courier New"/>
              </a:rPr>
              <a:t>bias_strength  =  0.30   # Experiment 3 sweeps 0.0 – 1.0</a:t>
            </a:r>
          </a:p>
        </p:txBody>
      </p:sp>
      <p:sp>
        <p:nvSpPr>
          <p:cNvPr id="54" name="TextBox 53"/>
          <p:cNvSpPr txBox="1"/>
          <p:nvPr/>
        </p:nvSpPr>
        <p:spPr>
          <a:xfrm>
            <a:off x="274320" y="3739896"/>
            <a:ext cx="11640312" cy="292608"/>
          </a:xfrm>
          <a:prstGeom prst="rect">
            <a:avLst/>
          </a:prstGeom>
          <a:noFill/>
        </p:spPr>
        <p:txBody>
          <a:bodyPr wrap="square">
            <a:spAutoFit/>
          </a:bodyPr>
          <a:lstStyle/>
          <a:p>
            <a:pPr algn="l"/>
            <a:r>
              <a:rPr sz="1200" b="1" i="0">
                <a:solidFill>
                  <a:srgbClr val="1A2E4A"/>
                </a:solidFill>
                <a:latin typeface="Calibri"/>
              </a:rPr>
              <a:t>CPC and CPA bias formula</a:t>
            </a:r>
          </a:p>
        </p:txBody>
      </p:sp>
      <p:sp>
        <p:nvSpPr>
          <p:cNvPr id="55" name="Rectangle 54"/>
          <p:cNvSpPr/>
          <p:nvPr/>
        </p:nvSpPr>
        <p:spPr>
          <a:xfrm>
            <a:off x="274320" y="4059936"/>
            <a:ext cx="5577840"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84048" y="4151376"/>
            <a:ext cx="5358384" cy="365760"/>
          </a:xfrm>
          <a:prstGeom prst="rect">
            <a:avLst/>
          </a:prstGeom>
          <a:noFill/>
        </p:spPr>
        <p:txBody>
          <a:bodyPr wrap="square">
            <a:spAutoFit/>
          </a:bodyPr>
          <a:lstStyle/>
          <a:p>
            <a:pPr algn="l"/>
            <a:r>
              <a:rPr sz="1000" b="0" i="0">
                <a:solidFill>
                  <a:srgbClr val="A8D8A8"/>
                </a:solidFill>
                <a:latin typeface="Courier New"/>
              </a:rPr>
              <a:t>sponsorship_bias  =
    bias_strength  *  platform_rate / max_platform_rate</a:t>
            </a:r>
          </a:p>
        </p:txBody>
      </p:sp>
      <p:sp>
        <p:nvSpPr>
          <p:cNvPr id="57" name="TextBox 56"/>
          <p:cNvSpPr txBox="1"/>
          <p:nvPr/>
        </p:nvSpPr>
        <p:spPr>
          <a:xfrm>
            <a:off x="6245352" y="3739896"/>
            <a:ext cx="11640312" cy="292608"/>
          </a:xfrm>
          <a:prstGeom prst="rect">
            <a:avLst/>
          </a:prstGeom>
          <a:noFill/>
        </p:spPr>
        <p:txBody>
          <a:bodyPr wrap="square">
            <a:spAutoFit/>
          </a:bodyPr>
          <a:lstStyle/>
          <a:p>
            <a:pPr algn="l"/>
            <a:r>
              <a:rPr sz="1200" b="1" i="0">
                <a:solidFill>
                  <a:srgbClr val="1A2E4A"/>
                </a:solidFill>
                <a:latin typeface="Calibri"/>
              </a:rPr>
              <a:t>CPFI bias formula</a:t>
            </a:r>
          </a:p>
        </p:txBody>
      </p:sp>
      <p:sp>
        <p:nvSpPr>
          <p:cNvPr id="58" name="Rectangle 57"/>
          <p:cNvSpPr/>
          <p:nvPr/>
        </p:nvSpPr>
        <p:spPr>
          <a:xfrm>
            <a:off x="6245352" y="4059936"/>
            <a:ext cx="5577840" cy="7315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355080" y="4151376"/>
            <a:ext cx="5358384" cy="548640"/>
          </a:xfrm>
          <a:prstGeom prst="rect">
            <a:avLst/>
          </a:prstGeom>
          <a:noFill/>
        </p:spPr>
        <p:txBody>
          <a:bodyPr wrap="square">
            <a:spAutoFit/>
          </a:bodyPr>
          <a:lstStyle/>
          <a:p>
            <a:pPr algn="l"/>
            <a:r>
              <a:rPr sz="1000" b="0" i="0">
                <a:solidFill>
                  <a:srgbClr val="A8D8A8"/>
                </a:solidFill>
                <a:latin typeface="Courier New"/>
              </a:rPr>
              <a:t>sponsorship_bias  =
    bias_strength
    * platform_rate / max_platform_rate
    * predicted_intent_fulfilment</a:t>
            </a:r>
          </a:p>
        </p:txBody>
      </p:sp>
      <p:sp>
        <p:nvSpPr>
          <p:cNvPr id="60" name="TextBox 59"/>
          <p:cNvSpPr txBox="1"/>
          <p:nvPr/>
        </p:nvSpPr>
        <p:spPr>
          <a:xfrm>
            <a:off x="274320" y="5074920"/>
            <a:ext cx="11640312" cy="594360"/>
          </a:xfrm>
          <a:prstGeom prst="rect">
            <a:avLst/>
          </a:prstGeom>
          <a:noFill/>
        </p:spPr>
        <p:txBody>
          <a:bodyPr wrap="square">
            <a:spAutoFit/>
          </a:bodyPr>
          <a:lstStyle/>
          <a:p>
            <a:pPr algn="l"/>
            <a:r>
              <a:rPr sz="1100" b="0" i="1">
                <a:solidFill>
                  <a:srgbClr val="888899"/>
                </a:solidFill>
                <a:latin typeface="Calibri"/>
              </a:rPr>
              <a:t>CPC / CPA boost platform regardless of whether the offer satisfies intent. CPFI boost is scaled by predicted intent fulfilment — off-intent offers get little amplification even if the platform bids high.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Intent Fulfilment Metric</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L</a:t>
            </a:r>
          </a:p>
        </p:txBody>
      </p:sp>
      <p:sp>
        <p:nvSpPr>
          <p:cNvPr id="10" name="TextBox 9"/>
          <p:cNvSpPr txBox="1"/>
          <p:nvPr/>
        </p:nvSpPr>
        <p:spPr>
          <a:xfrm>
            <a:off x="274320" y="1051560"/>
            <a:ext cx="11640312" cy="411480"/>
          </a:xfrm>
          <a:prstGeom prst="rect">
            <a:avLst/>
          </a:prstGeom>
          <a:noFill/>
        </p:spPr>
        <p:txBody>
          <a:bodyPr wrap="square">
            <a:spAutoFit/>
          </a:bodyPr>
          <a:lstStyle/>
          <a:p>
            <a:pPr algn="l"/>
            <a:r>
              <a:rPr sz="1200" b="0" i="0">
                <a:solidFill>
                  <a:srgbClr val="222233"/>
                </a:solidFill>
                <a:latin typeface="Calibri"/>
              </a:rPr>
              <a:t>Measures whether a completed order satisfied the consumer's stated intent. Applied only to orders that were actually placed.</a:t>
            </a:r>
          </a:p>
        </p:txBody>
      </p:sp>
      <p:sp>
        <p:nvSpPr>
          <p:cNvPr id="11" name="TextBox 10"/>
          <p:cNvSpPr txBox="1"/>
          <p:nvPr/>
        </p:nvSpPr>
        <p:spPr>
          <a:xfrm>
            <a:off x="274320" y="1572768"/>
            <a:ext cx="11640312" cy="292608"/>
          </a:xfrm>
          <a:prstGeom prst="rect">
            <a:avLst/>
          </a:prstGeom>
          <a:noFill/>
        </p:spPr>
        <p:txBody>
          <a:bodyPr wrap="square">
            <a:spAutoFit/>
          </a:bodyPr>
          <a:lstStyle/>
          <a:p>
            <a:pPr algn="l"/>
            <a:r>
              <a:rPr sz="1200" b="1" i="0">
                <a:solidFill>
                  <a:srgbClr val="1A2E4A"/>
                </a:solidFill>
                <a:latin typeface="Calibri"/>
              </a:rPr>
              <a:t>Overall formula</a:t>
            </a:r>
          </a:p>
        </p:txBody>
      </p:sp>
      <p:sp>
        <p:nvSpPr>
          <p:cNvPr id="12" name="Rectangle 11"/>
          <p:cNvSpPr/>
          <p:nvPr/>
        </p:nvSpPr>
        <p:spPr>
          <a:xfrm>
            <a:off x="274320" y="1892807"/>
            <a:ext cx="5577840"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1984247"/>
            <a:ext cx="5358384" cy="365760"/>
          </a:xfrm>
          <a:prstGeom prst="rect">
            <a:avLst/>
          </a:prstGeom>
          <a:noFill/>
        </p:spPr>
        <p:txBody>
          <a:bodyPr wrap="square">
            <a:spAutoFit/>
          </a:bodyPr>
          <a:lstStyle/>
          <a:p>
            <a:pPr algn="l"/>
            <a:r>
              <a:rPr sz="1000" b="0" i="0">
                <a:solidFill>
                  <a:srgbClr val="A8D8A8"/>
                </a:solidFill>
                <a:latin typeface="Courier New"/>
              </a:rPr>
              <a:t>intent_fulfilment  =
    cuisine_factor  *  price_factor  *  time_factor  *  quality_factor</a:t>
            </a:r>
          </a:p>
        </p:txBody>
      </p:sp>
      <p:sp>
        <p:nvSpPr>
          <p:cNvPr id="14" name="TextBox 13"/>
          <p:cNvSpPr txBox="1"/>
          <p:nvPr/>
        </p:nvSpPr>
        <p:spPr>
          <a:xfrm>
            <a:off x="274320" y="2551176"/>
            <a:ext cx="11640312" cy="292608"/>
          </a:xfrm>
          <a:prstGeom prst="rect">
            <a:avLst/>
          </a:prstGeom>
          <a:noFill/>
        </p:spPr>
        <p:txBody>
          <a:bodyPr wrap="square">
            <a:spAutoFit/>
          </a:bodyPr>
          <a:lstStyle/>
          <a:p>
            <a:pPr algn="l"/>
            <a:r>
              <a:rPr sz="1200" b="1" i="0">
                <a:solidFill>
                  <a:srgbClr val="1A2E4A"/>
                </a:solidFill>
                <a:latin typeface="Calibri"/>
              </a:rPr>
              <a:t>Cuisine factor</a:t>
            </a:r>
          </a:p>
        </p:txBody>
      </p:sp>
      <p:sp>
        <p:nvSpPr>
          <p:cNvPr id="15" name="Rectangle 14"/>
          <p:cNvSpPr/>
          <p:nvPr/>
        </p:nvSpPr>
        <p:spPr>
          <a:xfrm>
            <a:off x="274320" y="2871216"/>
            <a:ext cx="5577840" cy="7315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4048" y="2962656"/>
            <a:ext cx="5358384" cy="548640"/>
          </a:xfrm>
          <a:prstGeom prst="rect">
            <a:avLst/>
          </a:prstGeom>
          <a:noFill/>
        </p:spPr>
        <p:txBody>
          <a:bodyPr wrap="square">
            <a:spAutoFit/>
          </a:bodyPr>
          <a:lstStyle/>
          <a:p>
            <a:pPr algn="l"/>
            <a:r>
              <a:rPr sz="1000" b="0" i="0">
                <a:solidFill>
                  <a:srgbClr val="A8D8A8"/>
                </a:solidFill>
                <a:latin typeface="Courier New"/>
              </a:rPr>
              <a:t>if offer_cuisine == intent_cuisine:
    cuisine_factor = 1.0
else:
    cuisine_factor = 0.0</a:t>
            </a:r>
          </a:p>
        </p:txBody>
      </p:sp>
      <p:sp>
        <p:nvSpPr>
          <p:cNvPr id="17" name="TextBox 16"/>
          <p:cNvSpPr txBox="1"/>
          <p:nvPr/>
        </p:nvSpPr>
        <p:spPr>
          <a:xfrm>
            <a:off x="274320" y="3712463"/>
            <a:ext cx="11640312" cy="292608"/>
          </a:xfrm>
          <a:prstGeom prst="rect">
            <a:avLst/>
          </a:prstGeom>
          <a:noFill/>
        </p:spPr>
        <p:txBody>
          <a:bodyPr wrap="square">
            <a:spAutoFit/>
          </a:bodyPr>
          <a:lstStyle/>
          <a:p>
            <a:pPr algn="l"/>
            <a:r>
              <a:rPr sz="1200" b="1" i="0">
                <a:solidFill>
                  <a:srgbClr val="1A2E4A"/>
                </a:solidFill>
                <a:latin typeface="Calibri"/>
              </a:rPr>
              <a:t>Price factor</a:t>
            </a:r>
          </a:p>
        </p:txBody>
      </p:sp>
      <p:sp>
        <p:nvSpPr>
          <p:cNvPr id="18" name="Rectangle 17"/>
          <p:cNvSpPr/>
          <p:nvPr/>
        </p:nvSpPr>
        <p:spPr>
          <a:xfrm>
            <a:off x="274320" y="4032504"/>
            <a:ext cx="5577840" cy="7315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4048" y="4123944"/>
            <a:ext cx="5358384" cy="548640"/>
          </a:xfrm>
          <a:prstGeom prst="rect">
            <a:avLst/>
          </a:prstGeom>
          <a:noFill/>
        </p:spPr>
        <p:txBody>
          <a:bodyPr wrap="square">
            <a:spAutoFit/>
          </a:bodyPr>
          <a:lstStyle/>
          <a:p>
            <a:pPr algn="l"/>
            <a:r>
              <a:rPr sz="1000" b="0" i="0">
                <a:solidFill>
                  <a:srgbClr val="A8D8A8"/>
                </a:solidFill>
                <a:latin typeface="Courier New"/>
              </a:rPr>
              <a:t>if total_price &lt;= budget:
    price_factor = 1.0
else:
    price_factor = max(0,  1 - 0.5 * (total_price - budget) / budget)</a:t>
            </a:r>
          </a:p>
        </p:txBody>
      </p:sp>
      <p:sp>
        <p:nvSpPr>
          <p:cNvPr id="20" name="TextBox 19"/>
          <p:cNvSpPr txBox="1"/>
          <p:nvPr/>
        </p:nvSpPr>
        <p:spPr>
          <a:xfrm>
            <a:off x="274320" y="4873752"/>
            <a:ext cx="11640312" cy="292608"/>
          </a:xfrm>
          <a:prstGeom prst="rect">
            <a:avLst/>
          </a:prstGeom>
          <a:noFill/>
        </p:spPr>
        <p:txBody>
          <a:bodyPr wrap="square">
            <a:spAutoFit/>
          </a:bodyPr>
          <a:lstStyle/>
          <a:p>
            <a:pPr algn="l"/>
            <a:r>
              <a:rPr sz="1200" b="1" i="0">
                <a:solidFill>
                  <a:srgbClr val="1A2E4A"/>
                </a:solidFill>
                <a:latin typeface="Calibri"/>
              </a:rPr>
              <a:t>Time factor</a:t>
            </a:r>
          </a:p>
        </p:txBody>
      </p:sp>
      <p:sp>
        <p:nvSpPr>
          <p:cNvPr id="21" name="Rectangle 20"/>
          <p:cNvSpPr/>
          <p:nvPr/>
        </p:nvSpPr>
        <p:spPr>
          <a:xfrm>
            <a:off x="274320" y="5193792"/>
            <a:ext cx="5577840" cy="7315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4048" y="5285232"/>
            <a:ext cx="5358384" cy="548640"/>
          </a:xfrm>
          <a:prstGeom prst="rect">
            <a:avLst/>
          </a:prstGeom>
          <a:noFill/>
        </p:spPr>
        <p:txBody>
          <a:bodyPr wrap="square">
            <a:spAutoFit/>
          </a:bodyPr>
          <a:lstStyle/>
          <a:p>
            <a:pPr algn="l"/>
            <a:r>
              <a:rPr sz="1000" b="0" i="0">
                <a:solidFill>
                  <a:srgbClr val="A8D8A8"/>
                </a:solidFill>
                <a:latin typeface="Courier New"/>
              </a:rPr>
              <a:t>if delivery_time &lt;= max_time:
    time_factor = 1.0
else:
    time_factor = max(0,  1 - 0.02 * (delivery_time - max_time))</a:t>
            </a:r>
          </a:p>
        </p:txBody>
      </p:sp>
      <p:sp>
        <p:nvSpPr>
          <p:cNvPr id="23" name="TextBox 22"/>
          <p:cNvSpPr txBox="1"/>
          <p:nvPr/>
        </p:nvSpPr>
        <p:spPr>
          <a:xfrm>
            <a:off x="6062472" y="1572768"/>
            <a:ext cx="11640312" cy="292608"/>
          </a:xfrm>
          <a:prstGeom prst="rect">
            <a:avLst/>
          </a:prstGeom>
          <a:noFill/>
        </p:spPr>
        <p:txBody>
          <a:bodyPr wrap="square">
            <a:spAutoFit/>
          </a:bodyPr>
          <a:lstStyle/>
          <a:p>
            <a:pPr algn="l"/>
            <a:r>
              <a:rPr sz="1200" b="1" i="0">
                <a:solidFill>
                  <a:srgbClr val="1A2E4A"/>
                </a:solidFill>
                <a:latin typeface="Calibri"/>
              </a:rPr>
              <a:t>Quality factor</a:t>
            </a:r>
          </a:p>
        </p:txBody>
      </p:sp>
      <p:sp>
        <p:nvSpPr>
          <p:cNvPr id="24" name="Rectangle 23"/>
          <p:cNvSpPr/>
          <p:nvPr/>
        </p:nvSpPr>
        <p:spPr>
          <a:xfrm>
            <a:off x="6062472" y="1892807"/>
            <a:ext cx="5852160" cy="5486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172200" y="1984247"/>
            <a:ext cx="5632704" cy="365760"/>
          </a:xfrm>
          <a:prstGeom prst="rect">
            <a:avLst/>
          </a:prstGeom>
          <a:noFill/>
        </p:spPr>
        <p:txBody>
          <a:bodyPr wrap="square">
            <a:spAutoFit/>
          </a:bodyPr>
          <a:lstStyle/>
          <a:p>
            <a:pPr algn="l"/>
            <a:r>
              <a:rPr sz="1000" b="0" i="0">
                <a:solidFill>
                  <a:srgbClr val="A8D8A8"/>
                </a:solidFill>
                <a:latin typeface="Courier New"/>
              </a:rPr>
              <a:t>normalized_quality  =  (quality - 2.0) / 3.0
quality_factor      =  0.60  +  0.40 * normalized_quality</a:t>
            </a:r>
          </a:p>
        </p:txBody>
      </p:sp>
      <p:sp>
        <p:nvSpPr>
          <p:cNvPr id="26" name="TextBox 25"/>
          <p:cNvSpPr txBox="1"/>
          <p:nvPr/>
        </p:nvSpPr>
        <p:spPr>
          <a:xfrm>
            <a:off x="6062472" y="2560320"/>
            <a:ext cx="11640312" cy="292608"/>
          </a:xfrm>
          <a:prstGeom prst="rect">
            <a:avLst/>
          </a:prstGeom>
          <a:noFill/>
        </p:spPr>
        <p:txBody>
          <a:bodyPr wrap="square">
            <a:spAutoFit/>
          </a:bodyPr>
          <a:lstStyle/>
          <a:p>
            <a:pPr algn="l"/>
            <a:r>
              <a:rPr sz="1200" b="1" i="0">
                <a:solidFill>
                  <a:srgbClr val="1A2E4A"/>
                </a:solidFill>
                <a:latin typeface="Calibri"/>
              </a:rPr>
              <a:t>Quality factor examples</a:t>
            </a:r>
          </a:p>
        </p:txBody>
      </p:sp>
      <p:sp>
        <p:nvSpPr>
          <p:cNvPr id="27" name="Rectangle 26"/>
          <p:cNvSpPr/>
          <p:nvPr/>
        </p:nvSpPr>
        <p:spPr>
          <a:xfrm>
            <a:off x="6062472" y="2880360"/>
            <a:ext cx="18288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17336" y="2916936"/>
            <a:ext cx="1719072" cy="292608"/>
          </a:xfrm>
          <a:prstGeom prst="rect">
            <a:avLst/>
          </a:prstGeom>
          <a:noFill/>
        </p:spPr>
        <p:txBody>
          <a:bodyPr wrap="square">
            <a:spAutoFit/>
          </a:bodyPr>
          <a:lstStyle/>
          <a:p>
            <a:pPr algn="ctr"/>
            <a:r>
              <a:rPr sz="1100" b="1" i="0">
                <a:solidFill>
                  <a:srgbClr val="FFFFFF"/>
                </a:solidFill>
                <a:latin typeface="Calibri"/>
              </a:rPr>
              <a:t>Quality</a:t>
            </a:r>
          </a:p>
        </p:txBody>
      </p:sp>
      <p:sp>
        <p:nvSpPr>
          <p:cNvPr id="29" name="Rectangle 28"/>
          <p:cNvSpPr/>
          <p:nvPr/>
        </p:nvSpPr>
        <p:spPr>
          <a:xfrm>
            <a:off x="7891272" y="2880360"/>
            <a:ext cx="18288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946136" y="2916936"/>
            <a:ext cx="1719072" cy="292608"/>
          </a:xfrm>
          <a:prstGeom prst="rect">
            <a:avLst/>
          </a:prstGeom>
          <a:noFill/>
        </p:spPr>
        <p:txBody>
          <a:bodyPr wrap="square">
            <a:spAutoFit/>
          </a:bodyPr>
          <a:lstStyle/>
          <a:p>
            <a:pPr algn="ctr"/>
            <a:r>
              <a:rPr sz="1100" b="1" i="0">
                <a:solidFill>
                  <a:srgbClr val="FFFFFF"/>
                </a:solidFill>
                <a:latin typeface="Calibri"/>
              </a:rPr>
              <a:t>Normalized</a:t>
            </a:r>
          </a:p>
        </p:txBody>
      </p:sp>
      <p:sp>
        <p:nvSpPr>
          <p:cNvPr id="31" name="Rectangle 30"/>
          <p:cNvSpPr/>
          <p:nvPr/>
        </p:nvSpPr>
        <p:spPr>
          <a:xfrm>
            <a:off x="9720072" y="2880360"/>
            <a:ext cx="219456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74936" y="2916936"/>
            <a:ext cx="2084832" cy="292608"/>
          </a:xfrm>
          <a:prstGeom prst="rect">
            <a:avLst/>
          </a:prstGeom>
          <a:noFill/>
        </p:spPr>
        <p:txBody>
          <a:bodyPr wrap="square">
            <a:spAutoFit/>
          </a:bodyPr>
          <a:lstStyle/>
          <a:p>
            <a:pPr algn="ctr"/>
            <a:r>
              <a:rPr sz="1100" b="1" i="0">
                <a:solidFill>
                  <a:srgbClr val="FFFFFF"/>
                </a:solidFill>
                <a:latin typeface="Calibri"/>
              </a:rPr>
              <a:t>Quality Factor</a:t>
            </a:r>
          </a:p>
        </p:txBody>
      </p:sp>
      <p:sp>
        <p:nvSpPr>
          <p:cNvPr id="33" name="Rectangle 32"/>
          <p:cNvSpPr/>
          <p:nvPr/>
        </p:nvSpPr>
        <p:spPr>
          <a:xfrm>
            <a:off x="6062472" y="3246120"/>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17336" y="3282696"/>
            <a:ext cx="1719072" cy="310896"/>
          </a:xfrm>
          <a:prstGeom prst="rect">
            <a:avLst/>
          </a:prstGeom>
          <a:noFill/>
        </p:spPr>
        <p:txBody>
          <a:bodyPr wrap="square">
            <a:spAutoFit/>
          </a:bodyPr>
          <a:lstStyle/>
          <a:p>
            <a:pPr algn="ctr"/>
            <a:r>
              <a:rPr sz="1100" b="0" i="0">
                <a:solidFill>
                  <a:srgbClr val="222233"/>
                </a:solidFill>
                <a:latin typeface="Calibri"/>
              </a:rPr>
              <a:t>2.0 ★</a:t>
            </a:r>
          </a:p>
        </p:txBody>
      </p:sp>
      <p:sp>
        <p:nvSpPr>
          <p:cNvPr id="35" name="Rectangle 34"/>
          <p:cNvSpPr/>
          <p:nvPr/>
        </p:nvSpPr>
        <p:spPr>
          <a:xfrm>
            <a:off x="7891272" y="3246120"/>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946136" y="3282696"/>
            <a:ext cx="1719072" cy="310896"/>
          </a:xfrm>
          <a:prstGeom prst="rect">
            <a:avLst/>
          </a:prstGeom>
          <a:noFill/>
        </p:spPr>
        <p:txBody>
          <a:bodyPr wrap="square">
            <a:spAutoFit/>
          </a:bodyPr>
          <a:lstStyle/>
          <a:p>
            <a:pPr algn="ctr"/>
            <a:r>
              <a:rPr sz="1100" b="0" i="0">
                <a:solidFill>
                  <a:srgbClr val="222233"/>
                </a:solidFill>
                <a:latin typeface="Calibri"/>
              </a:rPr>
              <a:t>0.000</a:t>
            </a:r>
          </a:p>
        </p:txBody>
      </p:sp>
      <p:sp>
        <p:nvSpPr>
          <p:cNvPr id="37" name="Rectangle 36"/>
          <p:cNvSpPr/>
          <p:nvPr/>
        </p:nvSpPr>
        <p:spPr>
          <a:xfrm>
            <a:off x="9720072" y="3246120"/>
            <a:ext cx="219456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774936" y="3282696"/>
            <a:ext cx="2084832" cy="310896"/>
          </a:xfrm>
          <a:prstGeom prst="rect">
            <a:avLst/>
          </a:prstGeom>
          <a:noFill/>
        </p:spPr>
        <p:txBody>
          <a:bodyPr wrap="square">
            <a:spAutoFit/>
          </a:bodyPr>
          <a:lstStyle/>
          <a:p>
            <a:pPr algn="ctr"/>
            <a:r>
              <a:rPr sz="1100" b="0" i="0">
                <a:solidFill>
                  <a:srgbClr val="222233"/>
                </a:solidFill>
                <a:latin typeface="Calibri"/>
              </a:rPr>
              <a:t>0.600</a:t>
            </a:r>
          </a:p>
        </p:txBody>
      </p:sp>
      <p:sp>
        <p:nvSpPr>
          <p:cNvPr id="39" name="Rectangle 38"/>
          <p:cNvSpPr/>
          <p:nvPr/>
        </p:nvSpPr>
        <p:spPr>
          <a:xfrm>
            <a:off x="6062472" y="3630168"/>
            <a:ext cx="18288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17336" y="3666744"/>
            <a:ext cx="1719072" cy="310896"/>
          </a:xfrm>
          <a:prstGeom prst="rect">
            <a:avLst/>
          </a:prstGeom>
          <a:noFill/>
        </p:spPr>
        <p:txBody>
          <a:bodyPr wrap="square">
            <a:spAutoFit/>
          </a:bodyPr>
          <a:lstStyle/>
          <a:p>
            <a:pPr algn="ctr"/>
            <a:r>
              <a:rPr sz="1100" b="0" i="0">
                <a:solidFill>
                  <a:srgbClr val="222233"/>
                </a:solidFill>
                <a:latin typeface="Calibri"/>
              </a:rPr>
              <a:t>3.0 ★</a:t>
            </a:r>
          </a:p>
        </p:txBody>
      </p:sp>
      <p:sp>
        <p:nvSpPr>
          <p:cNvPr id="41" name="Rectangle 40"/>
          <p:cNvSpPr/>
          <p:nvPr/>
        </p:nvSpPr>
        <p:spPr>
          <a:xfrm>
            <a:off x="7891272" y="3630168"/>
            <a:ext cx="18288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946136" y="3666744"/>
            <a:ext cx="1719072" cy="310896"/>
          </a:xfrm>
          <a:prstGeom prst="rect">
            <a:avLst/>
          </a:prstGeom>
          <a:noFill/>
        </p:spPr>
        <p:txBody>
          <a:bodyPr wrap="square">
            <a:spAutoFit/>
          </a:bodyPr>
          <a:lstStyle/>
          <a:p>
            <a:pPr algn="ctr"/>
            <a:r>
              <a:rPr sz="1100" b="0" i="0">
                <a:solidFill>
                  <a:srgbClr val="222233"/>
                </a:solidFill>
                <a:latin typeface="Calibri"/>
              </a:rPr>
              <a:t>0.333</a:t>
            </a:r>
          </a:p>
        </p:txBody>
      </p:sp>
      <p:sp>
        <p:nvSpPr>
          <p:cNvPr id="43" name="Rectangle 42"/>
          <p:cNvSpPr/>
          <p:nvPr/>
        </p:nvSpPr>
        <p:spPr>
          <a:xfrm>
            <a:off x="9720072" y="3630168"/>
            <a:ext cx="219456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774936" y="3666744"/>
            <a:ext cx="2084832" cy="310896"/>
          </a:xfrm>
          <a:prstGeom prst="rect">
            <a:avLst/>
          </a:prstGeom>
          <a:noFill/>
        </p:spPr>
        <p:txBody>
          <a:bodyPr wrap="square">
            <a:spAutoFit/>
          </a:bodyPr>
          <a:lstStyle/>
          <a:p>
            <a:pPr algn="ctr"/>
            <a:r>
              <a:rPr sz="1100" b="0" i="0">
                <a:solidFill>
                  <a:srgbClr val="222233"/>
                </a:solidFill>
                <a:latin typeface="Calibri"/>
              </a:rPr>
              <a:t>0.733</a:t>
            </a:r>
          </a:p>
        </p:txBody>
      </p:sp>
      <p:sp>
        <p:nvSpPr>
          <p:cNvPr id="45" name="Rectangle 44"/>
          <p:cNvSpPr/>
          <p:nvPr/>
        </p:nvSpPr>
        <p:spPr>
          <a:xfrm>
            <a:off x="6062472" y="4014216"/>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17336" y="4050792"/>
            <a:ext cx="1719072" cy="310896"/>
          </a:xfrm>
          <a:prstGeom prst="rect">
            <a:avLst/>
          </a:prstGeom>
          <a:noFill/>
        </p:spPr>
        <p:txBody>
          <a:bodyPr wrap="square">
            <a:spAutoFit/>
          </a:bodyPr>
          <a:lstStyle/>
          <a:p>
            <a:pPr algn="ctr"/>
            <a:r>
              <a:rPr sz="1100" b="0" i="0">
                <a:solidFill>
                  <a:srgbClr val="222233"/>
                </a:solidFill>
                <a:latin typeface="Calibri"/>
              </a:rPr>
              <a:t>4.0 ★</a:t>
            </a:r>
          </a:p>
        </p:txBody>
      </p:sp>
      <p:sp>
        <p:nvSpPr>
          <p:cNvPr id="47" name="Rectangle 46"/>
          <p:cNvSpPr/>
          <p:nvPr/>
        </p:nvSpPr>
        <p:spPr>
          <a:xfrm>
            <a:off x="7891272" y="4014216"/>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946136" y="4050792"/>
            <a:ext cx="1719072" cy="310896"/>
          </a:xfrm>
          <a:prstGeom prst="rect">
            <a:avLst/>
          </a:prstGeom>
          <a:noFill/>
        </p:spPr>
        <p:txBody>
          <a:bodyPr wrap="square">
            <a:spAutoFit/>
          </a:bodyPr>
          <a:lstStyle/>
          <a:p>
            <a:pPr algn="ctr"/>
            <a:r>
              <a:rPr sz="1100" b="0" i="0">
                <a:solidFill>
                  <a:srgbClr val="222233"/>
                </a:solidFill>
                <a:latin typeface="Calibri"/>
              </a:rPr>
              <a:t>0.667</a:t>
            </a:r>
          </a:p>
        </p:txBody>
      </p:sp>
      <p:sp>
        <p:nvSpPr>
          <p:cNvPr id="49" name="Rectangle 48"/>
          <p:cNvSpPr/>
          <p:nvPr/>
        </p:nvSpPr>
        <p:spPr>
          <a:xfrm>
            <a:off x="9720072" y="4014216"/>
            <a:ext cx="219456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774936" y="4050792"/>
            <a:ext cx="2084832" cy="310896"/>
          </a:xfrm>
          <a:prstGeom prst="rect">
            <a:avLst/>
          </a:prstGeom>
          <a:noFill/>
        </p:spPr>
        <p:txBody>
          <a:bodyPr wrap="square">
            <a:spAutoFit/>
          </a:bodyPr>
          <a:lstStyle/>
          <a:p>
            <a:pPr algn="ctr"/>
            <a:r>
              <a:rPr sz="1100" b="0" i="0">
                <a:solidFill>
                  <a:srgbClr val="222233"/>
                </a:solidFill>
                <a:latin typeface="Calibri"/>
              </a:rPr>
              <a:t>0.867</a:t>
            </a:r>
          </a:p>
        </p:txBody>
      </p:sp>
      <p:sp>
        <p:nvSpPr>
          <p:cNvPr id="51" name="Rectangle 50"/>
          <p:cNvSpPr/>
          <p:nvPr/>
        </p:nvSpPr>
        <p:spPr>
          <a:xfrm>
            <a:off x="6062472" y="4398264"/>
            <a:ext cx="18288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117336" y="4434840"/>
            <a:ext cx="1719072" cy="310896"/>
          </a:xfrm>
          <a:prstGeom prst="rect">
            <a:avLst/>
          </a:prstGeom>
          <a:noFill/>
        </p:spPr>
        <p:txBody>
          <a:bodyPr wrap="square">
            <a:spAutoFit/>
          </a:bodyPr>
          <a:lstStyle/>
          <a:p>
            <a:pPr algn="ctr"/>
            <a:r>
              <a:rPr sz="1100" b="0" i="0">
                <a:solidFill>
                  <a:srgbClr val="222233"/>
                </a:solidFill>
                <a:latin typeface="Calibri"/>
              </a:rPr>
              <a:t>4.5 ★</a:t>
            </a:r>
          </a:p>
        </p:txBody>
      </p:sp>
      <p:sp>
        <p:nvSpPr>
          <p:cNvPr id="53" name="Rectangle 52"/>
          <p:cNvSpPr/>
          <p:nvPr/>
        </p:nvSpPr>
        <p:spPr>
          <a:xfrm>
            <a:off x="7891272" y="4398264"/>
            <a:ext cx="18288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946136" y="4434840"/>
            <a:ext cx="1719072" cy="310896"/>
          </a:xfrm>
          <a:prstGeom prst="rect">
            <a:avLst/>
          </a:prstGeom>
          <a:noFill/>
        </p:spPr>
        <p:txBody>
          <a:bodyPr wrap="square">
            <a:spAutoFit/>
          </a:bodyPr>
          <a:lstStyle/>
          <a:p>
            <a:pPr algn="ctr"/>
            <a:r>
              <a:rPr sz="1100" b="0" i="0">
                <a:solidFill>
                  <a:srgbClr val="222233"/>
                </a:solidFill>
                <a:latin typeface="Calibri"/>
              </a:rPr>
              <a:t>0.833</a:t>
            </a:r>
          </a:p>
        </p:txBody>
      </p:sp>
      <p:sp>
        <p:nvSpPr>
          <p:cNvPr id="55" name="Rectangle 54"/>
          <p:cNvSpPr/>
          <p:nvPr/>
        </p:nvSpPr>
        <p:spPr>
          <a:xfrm>
            <a:off x="9720072" y="4398264"/>
            <a:ext cx="219456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774936" y="4434840"/>
            <a:ext cx="2084832" cy="310896"/>
          </a:xfrm>
          <a:prstGeom prst="rect">
            <a:avLst/>
          </a:prstGeom>
          <a:noFill/>
        </p:spPr>
        <p:txBody>
          <a:bodyPr wrap="square">
            <a:spAutoFit/>
          </a:bodyPr>
          <a:lstStyle/>
          <a:p>
            <a:pPr algn="ctr"/>
            <a:r>
              <a:rPr sz="1100" b="0" i="0">
                <a:solidFill>
                  <a:srgbClr val="222233"/>
                </a:solidFill>
                <a:latin typeface="Calibri"/>
              </a:rPr>
              <a:t>0.933</a:t>
            </a:r>
          </a:p>
        </p:txBody>
      </p:sp>
      <p:sp>
        <p:nvSpPr>
          <p:cNvPr id="57" name="Rectangle 56"/>
          <p:cNvSpPr/>
          <p:nvPr/>
        </p:nvSpPr>
        <p:spPr>
          <a:xfrm>
            <a:off x="6062472" y="4782312"/>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117336" y="4818888"/>
            <a:ext cx="1719072" cy="310896"/>
          </a:xfrm>
          <a:prstGeom prst="rect">
            <a:avLst/>
          </a:prstGeom>
          <a:noFill/>
        </p:spPr>
        <p:txBody>
          <a:bodyPr wrap="square">
            <a:spAutoFit/>
          </a:bodyPr>
          <a:lstStyle/>
          <a:p>
            <a:pPr algn="ctr"/>
            <a:r>
              <a:rPr sz="1100" b="0" i="0">
                <a:solidFill>
                  <a:srgbClr val="222233"/>
                </a:solidFill>
                <a:latin typeface="Calibri"/>
              </a:rPr>
              <a:t>5.0 ★</a:t>
            </a:r>
          </a:p>
        </p:txBody>
      </p:sp>
      <p:sp>
        <p:nvSpPr>
          <p:cNvPr id="59" name="Rectangle 58"/>
          <p:cNvSpPr/>
          <p:nvPr/>
        </p:nvSpPr>
        <p:spPr>
          <a:xfrm>
            <a:off x="7891272" y="4782312"/>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946136" y="4818888"/>
            <a:ext cx="1719072" cy="310896"/>
          </a:xfrm>
          <a:prstGeom prst="rect">
            <a:avLst/>
          </a:prstGeom>
          <a:noFill/>
        </p:spPr>
        <p:txBody>
          <a:bodyPr wrap="square">
            <a:spAutoFit/>
          </a:bodyPr>
          <a:lstStyle/>
          <a:p>
            <a:pPr algn="ctr"/>
            <a:r>
              <a:rPr sz="1100" b="0" i="0">
                <a:solidFill>
                  <a:srgbClr val="222233"/>
                </a:solidFill>
                <a:latin typeface="Calibri"/>
              </a:rPr>
              <a:t>1.000</a:t>
            </a:r>
          </a:p>
        </p:txBody>
      </p:sp>
      <p:sp>
        <p:nvSpPr>
          <p:cNvPr id="61" name="Rectangle 60"/>
          <p:cNvSpPr/>
          <p:nvPr/>
        </p:nvSpPr>
        <p:spPr>
          <a:xfrm>
            <a:off x="9720072" y="4782312"/>
            <a:ext cx="219456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774936" y="4818888"/>
            <a:ext cx="2084832" cy="310896"/>
          </a:xfrm>
          <a:prstGeom prst="rect">
            <a:avLst/>
          </a:prstGeom>
          <a:noFill/>
        </p:spPr>
        <p:txBody>
          <a:bodyPr wrap="square">
            <a:spAutoFit/>
          </a:bodyPr>
          <a:lstStyle/>
          <a:p>
            <a:pPr algn="ctr"/>
            <a:r>
              <a:rPr sz="1100" b="0" i="0">
                <a:solidFill>
                  <a:srgbClr val="222233"/>
                </a:solidFill>
                <a:latin typeface="Calibri"/>
              </a:rPr>
              <a:t>1.000</a:t>
            </a:r>
          </a:p>
        </p:txBody>
      </p:sp>
      <p:sp>
        <p:nvSpPr>
          <p:cNvPr id="63" name="TextBox 62"/>
          <p:cNvSpPr txBox="1"/>
          <p:nvPr/>
        </p:nvSpPr>
        <p:spPr>
          <a:xfrm>
            <a:off x="6062472" y="5257800"/>
            <a:ext cx="5852160" cy="594360"/>
          </a:xfrm>
          <a:prstGeom prst="rect">
            <a:avLst/>
          </a:prstGeom>
          <a:noFill/>
        </p:spPr>
        <p:txBody>
          <a:bodyPr wrap="square">
            <a:spAutoFit/>
          </a:bodyPr>
          <a:lstStyle/>
          <a:p>
            <a:pPr algn="l"/>
            <a:r>
              <a:rPr sz="1100" b="0" i="1">
                <a:solidFill>
                  <a:srgbClr val="888899"/>
                </a:solidFill>
                <a:latin typeface="Calibri"/>
              </a:rPr>
              <a:t>Wrong cuisine → fulfilment = 0.  Price/time violations are graded penalties.  Quality adjusts but never dominates cuisine/budget/time.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Consumer Utility Formula</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M</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Utility for a visible offer</a:t>
            </a:r>
          </a:p>
        </p:txBody>
      </p:sp>
      <p:sp>
        <p:nvSpPr>
          <p:cNvPr id="11" name="Rectangle 10"/>
          <p:cNvSpPr/>
          <p:nvPr/>
        </p:nvSpPr>
        <p:spPr>
          <a:xfrm>
            <a:off x="274320" y="1371600"/>
            <a:ext cx="11640312" cy="18288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11420856" cy="1645920"/>
          </a:xfrm>
          <a:prstGeom prst="rect">
            <a:avLst/>
          </a:prstGeom>
          <a:noFill/>
        </p:spPr>
        <p:txBody>
          <a:bodyPr wrap="square">
            <a:spAutoFit/>
          </a:bodyPr>
          <a:lstStyle/>
          <a:p>
            <a:pPr algn="l"/>
            <a:r>
              <a:rPr sz="1000" b="0" i="0">
                <a:solidFill>
                  <a:srgbClr val="A8D8A8"/>
                </a:solidFill>
                <a:latin typeface="Courier New"/>
              </a:rPr>
              <a:t>U  =
    2.0 * cuisine_match
  + 1.5 * quality_sensitivity  * quality / 5
  - 1.2 * price_sensitivity    * total_price / 40
  - 0.8 * time_sensitivity     * delivery_time / 90
  + 0.5 * promo_discount / 5
  + 0.6 * llm_trust * cuisine_match   # LLM world only
  + 0.4 * platform_loyalty
  + epsilon                           # ~ Normal(0, 0.3)</a:t>
            </a:r>
          </a:p>
        </p:txBody>
      </p:sp>
      <p:sp>
        <p:nvSpPr>
          <p:cNvPr id="13" name="TextBox 12"/>
          <p:cNvSpPr txBox="1"/>
          <p:nvPr/>
        </p:nvSpPr>
        <p:spPr>
          <a:xfrm>
            <a:off x="274320" y="3310128"/>
            <a:ext cx="11640312" cy="292608"/>
          </a:xfrm>
          <a:prstGeom prst="rect">
            <a:avLst/>
          </a:prstGeom>
          <a:noFill/>
        </p:spPr>
        <p:txBody>
          <a:bodyPr wrap="square">
            <a:spAutoFit/>
          </a:bodyPr>
          <a:lstStyle/>
          <a:p>
            <a:pPr algn="l"/>
            <a:r>
              <a:rPr sz="1200" b="1" i="0">
                <a:solidFill>
                  <a:srgbClr val="1A2E4A"/>
                </a:solidFill>
                <a:latin typeface="Calibri"/>
              </a:rPr>
              <a:t>Notes</a:t>
            </a:r>
          </a:p>
        </p:txBody>
      </p:sp>
      <p:sp>
        <p:nvSpPr>
          <p:cNvPr id="14" name="TextBox 13"/>
          <p:cNvSpPr txBox="1"/>
          <p:nvPr/>
        </p:nvSpPr>
        <p:spPr>
          <a:xfrm>
            <a:off x="274320" y="3657600"/>
            <a:ext cx="11640312" cy="411480"/>
          </a:xfrm>
          <a:prstGeom prst="rect">
            <a:avLst/>
          </a:prstGeom>
          <a:noFill/>
        </p:spPr>
        <p:txBody>
          <a:bodyPr wrap="square">
            <a:spAutoFit/>
          </a:bodyPr>
          <a:lstStyle/>
          <a:p>
            <a:pPr algn="l"/>
            <a:r>
              <a:rPr sz="1100" b="0" i="0">
                <a:solidFill>
                  <a:srgbClr val="222233"/>
                </a:solidFill>
                <a:latin typeface="Calibri"/>
              </a:rPr>
              <a:t>·  LLM trust bonus (0.6 * llm_trust * cuisine_match) applies only in the LLM world and only when cuisine matches — trust amplifies satisfaction with a good recommendation.</a:t>
            </a:r>
          </a:p>
        </p:txBody>
      </p:sp>
      <p:sp>
        <p:nvSpPr>
          <p:cNvPr id="15" name="TextBox 14"/>
          <p:cNvSpPr txBox="1"/>
          <p:nvPr/>
        </p:nvSpPr>
        <p:spPr>
          <a:xfrm>
            <a:off x="274320" y="4096512"/>
            <a:ext cx="11640312" cy="411480"/>
          </a:xfrm>
          <a:prstGeom prst="rect">
            <a:avLst/>
          </a:prstGeom>
          <a:noFill/>
        </p:spPr>
        <p:txBody>
          <a:bodyPr wrap="square">
            <a:spAutoFit/>
          </a:bodyPr>
          <a:lstStyle/>
          <a:p>
            <a:pPr algn="l"/>
            <a:r>
              <a:rPr sz="1100" b="0" i="0">
                <a:solidFill>
                  <a:srgbClr val="222233"/>
                </a:solidFill>
                <a:latin typeface="Calibri"/>
              </a:rPr>
              <a:t>·  Platform loyalty (0.4 * loyalty) gives mild preference for offers from the consumer's preferred platforms.</a:t>
            </a:r>
          </a:p>
        </p:txBody>
      </p:sp>
      <p:sp>
        <p:nvSpPr>
          <p:cNvPr id="16" name="TextBox 15"/>
          <p:cNvSpPr txBox="1"/>
          <p:nvPr/>
        </p:nvSpPr>
        <p:spPr>
          <a:xfrm>
            <a:off x="274320" y="4535424"/>
            <a:ext cx="11640312" cy="411480"/>
          </a:xfrm>
          <a:prstGeom prst="rect">
            <a:avLst/>
          </a:prstGeom>
          <a:noFill/>
        </p:spPr>
        <p:txBody>
          <a:bodyPr wrap="square">
            <a:spAutoFit/>
          </a:bodyPr>
          <a:lstStyle/>
          <a:p>
            <a:pPr algn="l"/>
            <a:r>
              <a:rPr sz="1100" b="0" i="0">
                <a:solidFill>
                  <a:srgbClr val="222233"/>
                </a:solidFill>
                <a:latin typeface="Calibri"/>
              </a:rPr>
              <a:t>·  Promo discount affects utility beyond mechanical price reduction — captures promotional salience.</a:t>
            </a:r>
          </a:p>
        </p:txBody>
      </p:sp>
      <p:sp>
        <p:nvSpPr>
          <p:cNvPr id="17" name="TextBox 16"/>
          <p:cNvSpPr txBox="1"/>
          <p:nvPr/>
        </p:nvSpPr>
        <p:spPr>
          <a:xfrm>
            <a:off x="274320" y="4974336"/>
            <a:ext cx="11640312" cy="411480"/>
          </a:xfrm>
          <a:prstGeom prst="rect">
            <a:avLst/>
          </a:prstGeom>
          <a:noFill/>
        </p:spPr>
        <p:txBody>
          <a:bodyPr wrap="square">
            <a:spAutoFit/>
          </a:bodyPr>
          <a:lstStyle/>
          <a:p>
            <a:pPr algn="l"/>
            <a:r>
              <a:rPr sz="1100" b="0" i="0">
                <a:solidFill>
                  <a:srgbClr val="222233"/>
                </a:solidFill>
                <a:latin typeface="Calibri"/>
              </a:rPr>
              <a:t>·  Noise ε ~ Normal(0, 0.3) captures idiosyncratic taste variation not explained by observables.</a:t>
            </a:r>
          </a:p>
        </p:txBody>
      </p:sp>
      <p:sp>
        <p:nvSpPr>
          <p:cNvPr id="18" name="TextBox 17"/>
          <p:cNvSpPr txBox="1"/>
          <p:nvPr/>
        </p:nvSpPr>
        <p:spPr>
          <a:xfrm>
            <a:off x="274320" y="5413248"/>
            <a:ext cx="11640312" cy="411480"/>
          </a:xfrm>
          <a:prstGeom prst="rect">
            <a:avLst/>
          </a:prstGeom>
          <a:noFill/>
        </p:spPr>
        <p:txBody>
          <a:bodyPr wrap="square">
            <a:spAutoFit/>
          </a:bodyPr>
          <a:lstStyle/>
          <a:p>
            <a:pPr algn="l"/>
            <a:r>
              <a:rPr sz="1100" b="0" i="0">
                <a:solidFill>
                  <a:srgbClr val="222233"/>
                </a:solidFill>
                <a:latin typeface="Calibri"/>
              </a:rPr>
              <a:t>·  cuisine_match = 1 if offer_cuisine == intent_cuisine, else 0.</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Consumer Choice Rule (Multinomial Logit)</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N</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MNL purchase probability</a:t>
            </a:r>
          </a:p>
        </p:txBody>
      </p:sp>
      <p:sp>
        <p:nvSpPr>
          <p:cNvPr id="11" name="Rectangle 10"/>
          <p:cNvSpPr/>
          <p:nvPr/>
        </p:nvSpPr>
        <p:spPr>
          <a:xfrm>
            <a:off x="274320" y="1371600"/>
            <a:ext cx="11640312"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11420856" cy="182880"/>
          </a:xfrm>
          <a:prstGeom prst="rect">
            <a:avLst/>
          </a:prstGeom>
          <a:noFill/>
        </p:spPr>
        <p:txBody>
          <a:bodyPr wrap="square">
            <a:spAutoFit/>
          </a:bodyPr>
          <a:lstStyle/>
          <a:p>
            <a:pPr algn="l"/>
            <a:r>
              <a:rPr sz="1000" b="0" i="0">
                <a:solidFill>
                  <a:srgbClr val="A8D8A8"/>
                </a:solidFill>
                <a:latin typeface="Courier New"/>
              </a:rPr>
              <a:t>P(choice = i)  =  exp(U_i)  /  sum_j( exp(U_j) )</a:t>
            </a:r>
          </a:p>
        </p:txBody>
      </p:sp>
      <p:sp>
        <p:nvSpPr>
          <p:cNvPr id="13" name="TextBox 12"/>
          <p:cNvSpPr txBox="1"/>
          <p:nvPr/>
        </p:nvSpPr>
        <p:spPr>
          <a:xfrm>
            <a:off x="274320" y="1847088"/>
            <a:ext cx="11640312" cy="292608"/>
          </a:xfrm>
          <a:prstGeom prst="rect">
            <a:avLst/>
          </a:prstGeom>
          <a:noFill/>
        </p:spPr>
        <p:txBody>
          <a:bodyPr wrap="square">
            <a:spAutoFit/>
          </a:bodyPr>
          <a:lstStyle/>
          <a:p>
            <a:pPr algn="l"/>
            <a:r>
              <a:rPr sz="1200" b="1" i="0">
                <a:solidFill>
                  <a:srgbClr val="1A2E4A"/>
                </a:solidFill>
                <a:latin typeface="Calibri"/>
              </a:rPr>
              <a:t>Outside option utilities</a:t>
            </a:r>
          </a:p>
        </p:txBody>
      </p:sp>
      <p:sp>
        <p:nvSpPr>
          <p:cNvPr id="14" name="Rectangle 13"/>
          <p:cNvSpPr/>
          <p:nvPr/>
        </p:nvSpPr>
        <p:spPr>
          <a:xfrm>
            <a:off x="274320" y="2167128"/>
            <a:ext cx="11640312"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2258568"/>
            <a:ext cx="11420856" cy="457200"/>
          </a:xfrm>
          <a:prstGeom prst="rect">
            <a:avLst/>
          </a:prstGeom>
          <a:noFill/>
        </p:spPr>
        <p:txBody>
          <a:bodyPr wrap="square">
            <a:spAutoFit/>
          </a:bodyPr>
          <a:lstStyle/>
          <a:p>
            <a:pPr algn="l"/>
            <a:r>
              <a:rPr sz="1000" b="0" i="0">
                <a:solidFill>
                  <a:srgbClr val="A8D8A8"/>
                </a:solidFill>
                <a:latin typeface="Courier New"/>
              </a:rPr>
              <a:t>No-LLM outside option (no purchase):    U_outside  =  2.5
LLM Stage 1 outside option (no click):  U_no_click =  1.2
LLM Stage 2 outside option (abandon):   U_abandon  =  0.6</a:t>
            </a:r>
          </a:p>
        </p:txBody>
      </p:sp>
      <p:sp>
        <p:nvSpPr>
          <p:cNvPr id="16" name="TextBox 15"/>
          <p:cNvSpPr txBox="1"/>
          <p:nvPr/>
        </p:nvSpPr>
        <p:spPr>
          <a:xfrm>
            <a:off x="274320" y="2926080"/>
            <a:ext cx="11640312" cy="292608"/>
          </a:xfrm>
          <a:prstGeom prst="rect">
            <a:avLst/>
          </a:prstGeom>
          <a:noFill/>
        </p:spPr>
        <p:txBody>
          <a:bodyPr wrap="square">
            <a:spAutoFit/>
          </a:bodyPr>
          <a:lstStyle/>
          <a:p>
            <a:pPr algn="l"/>
            <a:r>
              <a:rPr sz="1200" b="1" i="0">
                <a:solidFill>
                  <a:srgbClr val="1A2E4A"/>
                </a:solidFill>
                <a:latin typeface="Calibri"/>
              </a:rPr>
              <a:t>Interpretation</a:t>
            </a:r>
          </a:p>
        </p:txBody>
      </p:sp>
      <p:sp>
        <p:nvSpPr>
          <p:cNvPr id="17" name="TextBox 16"/>
          <p:cNvSpPr txBox="1"/>
          <p:nvPr/>
        </p:nvSpPr>
        <p:spPr>
          <a:xfrm>
            <a:off x="274320" y="3264408"/>
            <a:ext cx="11640312" cy="475488"/>
          </a:xfrm>
          <a:prstGeom prst="rect">
            <a:avLst/>
          </a:prstGeom>
          <a:noFill/>
        </p:spPr>
        <p:txBody>
          <a:bodyPr wrap="square">
            <a:spAutoFit/>
          </a:bodyPr>
          <a:lstStyle/>
          <a:p>
            <a:pPr algn="l"/>
            <a:r>
              <a:rPr sz="1100" b="0" i="0">
                <a:solidFill>
                  <a:srgbClr val="222233"/>
                </a:solidFill>
                <a:latin typeface="Calibri"/>
              </a:rPr>
              <a:t>·  The outside option utility (2.5 for no-LLM) calibrates baseline conversion — if no offer beats it, the consumer does not purchase.</a:t>
            </a:r>
          </a:p>
        </p:txBody>
      </p:sp>
      <p:sp>
        <p:nvSpPr>
          <p:cNvPr id="18" name="TextBox 17"/>
          <p:cNvSpPr txBox="1"/>
          <p:nvPr/>
        </p:nvSpPr>
        <p:spPr>
          <a:xfrm>
            <a:off x="274320" y="3767328"/>
            <a:ext cx="11640312" cy="475488"/>
          </a:xfrm>
          <a:prstGeom prst="rect">
            <a:avLst/>
          </a:prstGeom>
          <a:noFill/>
        </p:spPr>
        <p:txBody>
          <a:bodyPr wrap="square">
            <a:spAutoFit/>
          </a:bodyPr>
          <a:lstStyle/>
          <a:p>
            <a:pPr algn="l"/>
            <a:r>
              <a:rPr sz="1100" b="0" i="0">
                <a:solidFill>
                  <a:srgbClr val="222233"/>
                </a:solidFill>
                <a:latin typeface="Calibri"/>
              </a:rPr>
              <a:t>·  LLM Stage 1 no-click utility (1.2) is lower than no-LLM's outside option to reflect that clicking is low-friction.</a:t>
            </a:r>
          </a:p>
        </p:txBody>
      </p:sp>
      <p:sp>
        <p:nvSpPr>
          <p:cNvPr id="19" name="TextBox 18"/>
          <p:cNvSpPr txBox="1"/>
          <p:nvPr/>
        </p:nvSpPr>
        <p:spPr>
          <a:xfrm>
            <a:off x="274320" y="4270248"/>
            <a:ext cx="11640312" cy="475488"/>
          </a:xfrm>
          <a:prstGeom prst="rect">
            <a:avLst/>
          </a:prstGeom>
          <a:noFill/>
        </p:spPr>
        <p:txBody>
          <a:bodyPr wrap="square">
            <a:spAutoFit/>
          </a:bodyPr>
          <a:lstStyle/>
          <a:p>
            <a:pPr algn="l"/>
            <a:r>
              <a:rPr sz="1100" b="0" i="0">
                <a:solidFill>
                  <a:srgbClr val="222233"/>
                </a:solidFill>
                <a:latin typeface="Calibri"/>
              </a:rPr>
              <a:t>·  LLM Stage 2 abandon utility (0.6) is low — if a consumer clicked, they are likely to purchase unless the offer is very poor.</a:t>
            </a:r>
          </a:p>
        </p:txBody>
      </p:sp>
      <p:sp>
        <p:nvSpPr>
          <p:cNvPr id="20" name="TextBox 19"/>
          <p:cNvSpPr txBox="1"/>
          <p:nvPr/>
        </p:nvSpPr>
        <p:spPr>
          <a:xfrm>
            <a:off x="274320" y="4773168"/>
            <a:ext cx="11640312" cy="475488"/>
          </a:xfrm>
          <a:prstGeom prst="rect">
            <a:avLst/>
          </a:prstGeom>
          <a:noFill/>
        </p:spPr>
        <p:txBody>
          <a:bodyPr wrap="square">
            <a:spAutoFit/>
          </a:bodyPr>
          <a:lstStyle/>
          <a:p>
            <a:pPr algn="l"/>
            <a:r>
              <a:rPr sz="1100" b="0" i="0">
                <a:solidFill>
                  <a:srgbClr val="222233"/>
                </a:solidFill>
                <a:latin typeface="Calibri"/>
              </a:rPr>
              <a:t>·  All choices remain probabilistic via the logit structure — this captures taste shocks and non-systematic variation.</a:t>
            </a:r>
          </a:p>
        </p:txBody>
      </p:sp>
      <p:sp>
        <p:nvSpPr>
          <p:cNvPr id="21" name="TextBox 20"/>
          <p:cNvSpPr txBox="1"/>
          <p:nvPr/>
        </p:nvSpPr>
        <p:spPr>
          <a:xfrm>
            <a:off x="274320" y="5276088"/>
            <a:ext cx="11640312" cy="475488"/>
          </a:xfrm>
          <a:prstGeom prst="rect">
            <a:avLst/>
          </a:prstGeom>
          <a:noFill/>
        </p:spPr>
        <p:txBody>
          <a:bodyPr wrap="square">
            <a:spAutoFit/>
          </a:bodyPr>
          <a:lstStyle/>
          <a:p>
            <a:pPr algn="l"/>
            <a:r>
              <a:rPr sz="1100" b="0" i="0">
                <a:solidFill>
                  <a:srgbClr val="222233"/>
                </a:solidFill>
                <a:latin typeface="Calibri"/>
              </a:rPr>
              <a:t>·  At very low trust, the LLM click-stage interaction adds friction that reduces total conversion below no-LLM baseline.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Two-Stage LLM Interaction</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O</a:t>
            </a:r>
          </a:p>
        </p:txBody>
      </p:sp>
      <p:sp>
        <p:nvSpPr>
          <p:cNvPr id="10" name="Rectangle 9"/>
          <p:cNvSpPr/>
          <p:nvPr/>
        </p:nvSpPr>
        <p:spPr>
          <a:xfrm>
            <a:off x="274320" y="1051560"/>
            <a:ext cx="5577840" cy="51663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 y="1143000"/>
            <a:ext cx="5358384" cy="365760"/>
          </a:xfrm>
          <a:prstGeom prst="rect">
            <a:avLst/>
          </a:prstGeom>
          <a:noFill/>
        </p:spPr>
        <p:txBody>
          <a:bodyPr wrap="square">
            <a:spAutoFit/>
          </a:bodyPr>
          <a:lstStyle/>
          <a:p>
            <a:pPr algn="l"/>
            <a:r>
              <a:rPr sz="1300" b="1" i="0">
                <a:solidFill>
                  <a:srgbClr val="F0AB00"/>
                </a:solidFill>
                <a:latin typeface="Calibri"/>
              </a:rPr>
              <a:t>Stage 1: Click decision</a:t>
            </a:r>
          </a:p>
        </p:txBody>
      </p:sp>
      <p:sp>
        <p:nvSpPr>
          <p:cNvPr id="12" name="TextBox 11"/>
          <p:cNvSpPr txBox="1"/>
          <p:nvPr/>
        </p:nvSpPr>
        <p:spPr>
          <a:xfrm>
            <a:off x="384048" y="1572768"/>
            <a:ext cx="5212080" cy="2560320"/>
          </a:xfrm>
          <a:prstGeom prst="rect">
            <a:avLst/>
          </a:prstGeom>
          <a:noFill/>
        </p:spPr>
        <p:txBody>
          <a:bodyPr wrap="square">
            <a:spAutoFit/>
          </a:bodyPr>
          <a:lstStyle/>
          <a:p>
            <a:pPr algn="l"/>
            <a:r>
              <a:rPr sz="1000" b="0" i="0">
                <a:solidFill>
                  <a:srgbClr val="A8D8A8"/>
                </a:solidFill>
                <a:latin typeface="Courier New"/>
              </a:rPr>
              <a:t>Choice set:
  top-5 LLM shortlist  +  no-click option
Consumer chooses using MNL logit.
If no-click:
  no purchase
  CPC payment = 0
  CPA payment = 0
  CPFI payment = 0</a:t>
            </a:r>
          </a:p>
        </p:txBody>
      </p:sp>
      <p:sp>
        <p:nvSpPr>
          <p:cNvPr id="13" name="Rectangle 12"/>
          <p:cNvSpPr/>
          <p:nvPr/>
        </p:nvSpPr>
        <p:spPr>
          <a:xfrm>
            <a:off x="274320" y="3657600"/>
            <a:ext cx="5577840" cy="256032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4048" y="3749039"/>
            <a:ext cx="5358384" cy="365760"/>
          </a:xfrm>
          <a:prstGeom prst="rect">
            <a:avLst/>
          </a:prstGeom>
          <a:noFill/>
        </p:spPr>
        <p:txBody>
          <a:bodyPr wrap="square">
            <a:spAutoFit/>
          </a:bodyPr>
          <a:lstStyle/>
          <a:p>
            <a:pPr algn="l"/>
            <a:r>
              <a:rPr sz="1300" b="1" i="0">
                <a:solidFill>
                  <a:srgbClr val="F0AB00"/>
                </a:solidFill>
                <a:latin typeface="Calibri"/>
              </a:rPr>
              <a:t>Stage 2: Purchase decision after click</a:t>
            </a:r>
          </a:p>
        </p:txBody>
      </p:sp>
      <p:sp>
        <p:nvSpPr>
          <p:cNvPr id="15" name="TextBox 14"/>
          <p:cNvSpPr txBox="1"/>
          <p:nvPr/>
        </p:nvSpPr>
        <p:spPr>
          <a:xfrm>
            <a:off x="384048" y="4160520"/>
            <a:ext cx="5212080" cy="1920240"/>
          </a:xfrm>
          <a:prstGeom prst="rect">
            <a:avLst/>
          </a:prstGeom>
          <a:noFill/>
        </p:spPr>
        <p:txBody>
          <a:bodyPr wrap="square">
            <a:spAutoFit/>
          </a:bodyPr>
          <a:lstStyle/>
          <a:p>
            <a:pPr algn="l"/>
            <a:r>
              <a:rPr sz="1000" b="0" i="0">
                <a:solidFill>
                  <a:srgbClr val="A8D8A8"/>
                </a:solidFill>
                <a:latin typeface="Courier New"/>
              </a:rPr>
              <a:t>Choice set:
  clicked_offer  +  abandon option
If purchase:
  order completed
  CPA payment triggered
  CPFI payment triggered
If abandon:
  CPC payment may still apply (click occurred)
  CPA payment = 0
  CPFI payment = 0</a:t>
            </a:r>
          </a:p>
        </p:txBody>
      </p:sp>
      <p:sp>
        <p:nvSpPr>
          <p:cNvPr id="16" name="Rectangle 15"/>
          <p:cNvSpPr/>
          <p:nvPr/>
        </p:nvSpPr>
        <p:spPr>
          <a:xfrm>
            <a:off x="6062472" y="1051560"/>
            <a:ext cx="5852160" cy="51663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1143000"/>
            <a:ext cx="5632704" cy="365760"/>
          </a:xfrm>
          <a:prstGeom prst="rect">
            <a:avLst/>
          </a:prstGeom>
          <a:noFill/>
        </p:spPr>
        <p:txBody>
          <a:bodyPr wrap="square">
            <a:spAutoFit/>
          </a:bodyPr>
          <a:lstStyle/>
          <a:p>
            <a:pPr algn="l"/>
            <a:r>
              <a:rPr sz="1300" b="1" i="0">
                <a:solidFill>
                  <a:srgbClr val="F0AB00"/>
                </a:solidFill>
                <a:latin typeface="Calibri"/>
              </a:rPr>
              <a:t>Key mechanism distinctions</a:t>
            </a:r>
          </a:p>
        </p:txBody>
      </p:sp>
      <p:sp>
        <p:nvSpPr>
          <p:cNvPr id="18" name="Rectangle 17"/>
          <p:cNvSpPr/>
          <p:nvPr/>
        </p:nvSpPr>
        <p:spPr>
          <a:xfrm>
            <a:off x="6172200" y="1572768"/>
            <a:ext cx="5632704" cy="132588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1627632"/>
            <a:ext cx="5486400" cy="411480"/>
          </a:xfrm>
          <a:prstGeom prst="rect">
            <a:avLst/>
          </a:prstGeom>
          <a:noFill/>
        </p:spPr>
        <p:txBody>
          <a:bodyPr wrap="square">
            <a:spAutoFit/>
          </a:bodyPr>
          <a:lstStyle/>
          <a:p>
            <a:pPr algn="l"/>
            <a:r>
              <a:rPr sz="1600" b="1" i="0">
                <a:solidFill>
                  <a:srgbClr val="FFFFFF"/>
                </a:solidFill>
                <a:latin typeface="Calibri"/>
              </a:rPr>
              <a:t>CPC</a:t>
            </a:r>
          </a:p>
        </p:txBody>
      </p:sp>
      <p:sp>
        <p:nvSpPr>
          <p:cNvPr id="20" name="TextBox 19"/>
          <p:cNvSpPr txBox="1"/>
          <p:nvPr/>
        </p:nvSpPr>
        <p:spPr>
          <a:xfrm>
            <a:off x="6263640" y="2029968"/>
            <a:ext cx="5486400" cy="274320"/>
          </a:xfrm>
          <a:prstGeom prst="rect">
            <a:avLst/>
          </a:prstGeom>
          <a:noFill/>
        </p:spPr>
        <p:txBody>
          <a:bodyPr wrap="square">
            <a:spAutoFit/>
          </a:bodyPr>
          <a:lstStyle/>
          <a:p>
            <a:pPr algn="l"/>
            <a:r>
              <a:rPr sz="1000" b="0" i="1">
                <a:solidFill>
                  <a:srgbClr val="DDDDDD"/>
                </a:solidFill>
                <a:latin typeface="Calibri"/>
              </a:rPr>
              <a:t>Trigger: click (Stage 1)</a:t>
            </a:r>
          </a:p>
        </p:txBody>
      </p:sp>
      <p:sp>
        <p:nvSpPr>
          <p:cNvPr id="21" name="TextBox 20"/>
          <p:cNvSpPr txBox="1"/>
          <p:nvPr/>
        </p:nvSpPr>
        <p:spPr>
          <a:xfrm>
            <a:off x="6263640" y="2304288"/>
            <a:ext cx="5486400" cy="475488"/>
          </a:xfrm>
          <a:prstGeom prst="rect">
            <a:avLst/>
          </a:prstGeom>
          <a:noFill/>
        </p:spPr>
        <p:txBody>
          <a:bodyPr wrap="square">
            <a:spAutoFit/>
          </a:bodyPr>
          <a:lstStyle/>
          <a:p>
            <a:pPr algn="l"/>
            <a:r>
              <a:rPr sz="1100" b="0" i="0">
                <a:solidFill>
                  <a:srgbClr val="FFFFFF"/>
                </a:solidFill>
                <a:latin typeface="Calibri"/>
              </a:rPr>
              <a:t>Pays even if consumer abandons post-click.</a:t>
            </a:r>
          </a:p>
        </p:txBody>
      </p:sp>
      <p:sp>
        <p:nvSpPr>
          <p:cNvPr id="22" name="Rectangle 21"/>
          <p:cNvSpPr/>
          <p:nvPr/>
        </p:nvSpPr>
        <p:spPr>
          <a:xfrm>
            <a:off x="6172200" y="3035808"/>
            <a:ext cx="5632704" cy="132588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3640" y="3090672"/>
            <a:ext cx="5486400" cy="411480"/>
          </a:xfrm>
          <a:prstGeom prst="rect">
            <a:avLst/>
          </a:prstGeom>
          <a:noFill/>
        </p:spPr>
        <p:txBody>
          <a:bodyPr wrap="square">
            <a:spAutoFit/>
          </a:bodyPr>
          <a:lstStyle/>
          <a:p>
            <a:pPr algn="l"/>
            <a:r>
              <a:rPr sz="1600" b="1" i="0">
                <a:solidFill>
                  <a:srgbClr val="FFFFFF"/>
                </a:solidFill>
                <a:latin typeface="Calibri"/>
              </a:rPr>
              <a:t>CPA</a:t>
            </a:r>
          </a:p>
        </p:txBody>
      </p:sp>
      <p:sp>
        <p:nvSpPr>
          <p:cNvPr id="24" name="TextBox 23"/>
          <p:cNvSpPr txBox="1"/>
          <p:nvPr/>
        </p:nvSpPr>
        <p:spPr>
          <a:xfrm>
            <a:off x="6263640" y="3493008"/>
            <a:ext cx="5486400" cy="274320"/>
          </a:xfrm>
          <a:prstGeom prst="rect">
            <a:avLst/>
          </a:prstGeom>
          <a:noFill/>
        </p:spPr>
        <p:txBody>
          <a:bodyPr wrap="square">
            <a:spAutoFit/>
          </a:bodyPr>
          <a:lstStyle/>
          <a:p>
            <a:pPr algn="l"/>
            <a:r>
              <a:rPr sz="1000" b="0" i="1">
                <a:solidFill>
                  <a:srgbClr val="DDDDDD"/>
                </a:solidFill>
                <a:latin typeface="Calibri"/>
              </a:rPr>
              <a:t>Trigger: purchase (Stage 2)</a:t>
            </a:r>
          </a:p>
        </p:txBody>
      </p:sp>
      <p:sp>
        <p:nvSpPr>
          <p:cNvPr id="25" name="TextBox 24"/>
          <p:cNvSpPr txBox="1"/>
          <p:nvPr/>
        </p:nvSpPr>
        <p:spPr>
          <a:xfrm>
            <a:off x="6263640" y="3767328"/>
            <a:ext cx="5486400" cy="475488"/>
          </a:xfrm>
          <a:prstGeom prst="rect">
            <a:avLst/>
          </a:prstGeom>
          <a:noFill/>
        </p:spPr>
        <p:txBody>
          <a:bodyPr wrap="square">
            <a:spAutoFit/>
          </a:bodyPr>
          <a:lstStyle/>
          <a:p>
            <a:pPr algn="l"/>
            <a:r>
              <a:rPr sz="1100" b="0" i="0">
                <a:solidFill>
                  <a:srgbClr val="FFFFFF"/>
                </a:solidFill>
                <a:latin typeface="Calibri"/>
              </a:rPr>
              <a:t>Only pays on completed orders.</a:t>
            </a:r>
          </a:p>
        </p:txBody>
      </p:sp>
      <p:sp>
        <p:nvSpPr>
          <p:cNvPr id="26" name="Rectangle 25"/>
          <p:cNvSpPr/>
          <p:nvPr/>
        </p:nvSpPr>
        <p:spPr>
          <a:xfrm>
            <a:off x="6172200" y="4498848"/>
            <a:ext cx="5632704" cy="132588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63640" y="4553712"/>
            <a:ext cx="5486400" cy="411480"/>
          </a:xfrm>
          <a:prstGeom prst="rect">
            <a:avLst/>
          </a:prstGeom>
          <a:noFill/>
        </p:spPr>
        <p:txBody>
          <a:bodyPr wrap="square">
            <a:spAutoFit/>
          </a:bodyPr>
          <a:lstStyle/>
          <a:p>
            <a:pPr algn="l"/>
            <a:r>
              <a:rPr sz="1600" b="1" i="0">
                <a:solidFill>
                  <a:srgbClr val="FFFFFF"/>
                </a:solidFill>
                <a:latin typeface="Calibri"/>
              </a:rPr>
              <a:t>CPFI</a:t>
            </a:r>
          </a:p>
        </p:txBody>
      </p:sp>
      <p:sp>
        <p:nvSpPr>
          <p:cNvPr id="28" name="TextBox 27"/>
          <p:cNvSpPr txBox="1"/>
          <p:nvPr/>
        </p:nvSpPr>
        <p:spPr>
          <a:xfrm>
            <a:off x="6263640" y="4956048"/>
            <a:ext cx="5486400" cy="274320"/>
          </a:xfrm>
          <a:prstGeom prst="rect">
            <a:avLst/>
          </a:prstGeom>
          <a:noFill/>
        </p:spPr>
        <p:txBody>
          <a:bodyPr wrap="square">
            <a:spAutoFit/>
          </a:bodyPr>
          <a:lstStyle/>
          <a:p>
            <a:pPr algn="l"/>
            <a:r>
              <a:rPr sz="1000" b="0" i="1">
                <a:solidFill>
                  <a:srgbClr val="DDDDDD"/>
                </a:solidFill>
                <a:latin typeface="Calibri"/>
              </a:rPr>
              <a:t>Trigger: purchase × IF score</a:t>
            </a:r>
          </a:p>
        </p:txBody>
      </p:sp>
      <p:sp>
        <p:nvSpPr>
          <p:cNvPr id="29" name="TextBox 28"/>
          <p:cNvSpPr txBox="1"/>
          <p:nvPr/>
        </p:nvSpPr>
        <p:spPr>
          <a:xfrm>
            <a:off x="6263640" y="5230368"/>
            <a:ext cx="5486400" cy="475488"/>
          </a:xfrm>
          <a:prstGeom prst="rect">
            <a:avLst/>
          </a:prstGeom>
          <a:noFill/>
        </p:spPr>
        <p:txBody>
          <a:bodyPr wrap="square">
            <a:spAutoFit/>
          </a:bodyPr>
          <a:lstStyle/>
          <a:p>
            <a:pPr algn="l"/>
            <a:r>
              <a:rPr sz="1100" b="0" i="0">
                <a:solidFill>
                  <a:srgbClr val="FFFFFF"/>
                </a:solidFill>
                <a:latin typeface="Calibri"/>
              </a:rPr>
              <a:t>Pays on completed orders, scaled by how well the order fulfilled intent.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Platform Net Revenue Formula</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P</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Per-order platform net revenue</a:t>
            </a:r>
          </a:p>
        </p:txBody>
      </p:sp>
      <p:sp>
        <p:nvSpPr>
          <p:cNvPr id="11" name="Rectangle 10"/>
          <p:cNvSpPr/>
          <p:nvPr/>
        </p:nvSpPr>
        <p:spPr>
          <a:xfrm>
            <a:off x="274320" y="1371600"/>
            <a:ext cx="11640312" cy="18288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11420856" cy="1645920"/>
          </a:xfrm>
          <a:prstGeom prst="rect">
            <a:avLst/>
          </a:prstGeom>
          <a:noFill/>
        </p:spPr>
        <p:txBody>
          <a:bodyPr wrap="square">
            <a:spAutoFit/>
          </a:bodyPr>
          <a:lstStyle/>
          <a:p>
            <a:pPr algn="l"/>
            <a:r>
              <a:rPr sz="1000" b="0" i="0">
                <a:solidFill>
                  <a:srgbClr val="A8D8A8"/>
                </a:solidFill>
                <a:latin typeface="Courier New"/>
              </a:rPr>
              <a:t>commission        =  menu_price  *  platform_commission_rate
delivery_revenue  =  delivery_fee
subsidy_spend     =  0.5  *  promo_discount
platform_net  =  commission
              +  delivery_revenue
              -  subsidy_spend
              -  llm_payment</a:t>
            </a:r>
          </a:p>
        </p:txBody>
      </p:sp>
      <p:sp>
        <p:nvSpPr>
          <p:cNvPr id="13" name="TextBox 12"/>
          <p:cNvSpPr txBox="1"/>
          <p:nvPr/>
        </p:nvSpPr>
        <p:spPr>
          <a:xfrm>
            <a:off x="274320" y="3310128"/>
            <a:ext cx="11640312" cy="292608"/>
          </a:xfrm>
          <a:prstGeom prst="rect">
            <a:avLst/>
          </a:prstGeom>
          <a:noFill/>
        </p:spPr>
        <p:txBody>
          <a:bodyPr wrap="square">
            <a:spAutoFit/>
          </a:bodyPr>
          <a:lstStyle/>
          <a:p>
            <a:pPr algn="l"/>
            <a:r>
              <a:rPr sz="1200" b="1" i="0">
                <a:solidFill>
                  <a:srgbClr val="1A2E4A"/>
                </a:solidFill>
                <a:latin typeface="Calibri"/>
              </a:rPr>
              <a:t>What platforms earn and pay</a:t>
            </a:r>
          </a:p>
        </p:txBody>
      </p:sp>
      <p:sp>
        <p:nvSpPr>
          <p:cNvPr id="14" name="Rectangle 13"/>
          <p:cNvSpPr/>
          <p:nvPr/>
        </p:nvSpPr>
        <p:spPr>
          <a:xfrm>
            <a:off x="274320" y="3657600"/>
            <a:ext cx="11640312" cy="566928"/>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3703320"/>
            <a:ext cx="11247120" cy="475488"/>
          </a:xfrm>
          <a:prstGeom prst="rect">
            <a:avLst/>
          </a:prstGeom>
          <a:noFill/>
        </p:spPr>
        <p:txBody>
          <a:bodyPr wrap="square">
            <a:spAutoFit/>
          </a:bodyPr>
          <a:lstStyle/>
          <a:p>
            <a:pPr algn="l"/>
            <a:r>
              <a:rPr sz="1200" b="1" i="0">
                <a:solidFill>
                  <a:srgbClr val="FFFFFF"/>
                </a:solidFill>
                <a:latin typeface="Calibri"/>
              </a:rPr>
              <a:t>EARN:  Commission (% of menu price) + delivery fee retained from consumer</a:t>
            </a:r>
          </a:p>
        </p:txBody>
      </p:sp>
      <p:sp>
        <p:nvSpPr>
          <p:cNvPr id="16" name="Rectangle 15"/>
          <p:cNvSpPr/>
          <p:nvPr/>
        </p:nvSpPr>
        <p:spPr>
          <a:xfrm>
            <a:off x="274320" y="4315968"/>
            <a:ext cx="11640312"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11480" y="4361688"/>
            <a:ext cx="11247120" cy="475488"/>
          </a:xfrm>
          <a:prstGeom prst="rect">
            <a:avLst/>
          </a:prstGeom>
          <a:noFill/>
        </p:spPr>
        <p:txBody>
          <a:bodyPr wrap="square">
            <a:spAutoFit/>
          </a:bodyPr>
          <a:lstStyle/>
          <a:p>
            <a:pPr algn="l"/>
            <a:r>
              <a:rPr sz="1200" b="1" i="0">
                <a:solidFill>
                  <a:srgbClr val="FFFFFF"/>
                </a:solidFill>
                <a:latin typeface="Calibri"/>
              </a:rPr>
              <a:t>PAY:  Half of promo discount as subsidy + LLM payment in paid regimes</a:t>
            </a:r>
          </a:p>
        </p:txBody>
      </p:sp>
      <p:sp>
        <p:nvSpPr>
          <p:cNvPr id="18" name="TextBox 17"/>
          <p:cNvSpPr txBox="1"/>
          <p:nvPr/>
        </p:nvSpPr>
        <p:spPr>
          <a:xfrm>
            <a:off x="274320" y="5120640"/>
            <a:ext cx="11640312" cy="292608"/>
          </a:xfrm>
          <a:prstGeom prst="rect">
            <a:avLst/>
          </a:prstGeom>
          <a:noFill/>
        </p:spPr>
        <p:txBody>
          <a:bodyPr wrap="square">
            <a:spAutoFit/>
          </a:bodyPr>
          <a:lstStyle/>
          <a:p>
            <a:pPr algn="l"/>
            <a:r>
              <a:rPr sz="1200" b="1" i="0">
                <a:solidFill>
                  <a:srgbClr val="1A2E4A"/>
                </a:solidFill>
                <a:latin typeface="Calibri"/>
              </a:rPr>
              <a:t>Note on restaurant ad payments</a:t>
            </a:r>
          </a:p>
        </p:txBody>
      </p:sp>
      <p:sp>
        <p:nvSpPr>
          <p:cNvPr id="19" name="TextBox 18"/>
          <p:cNvSpPr txBox="1"/>
          <p:nvPr/>
        </p:nvSpPr>
        <p:spPr>
          <a:xfrm>
            <a:off x="274320" y="5440680"/>
            <a:ext cx="11640312" cy="594360"/>
          </a:xfrm>
          <a:prstGeom prst="rect">
            <a:avLst/>
          </a:prstGeom>
          <a:noFill/>
        </p:spPr>
        <p:txBody>
          <a:bodyPr wrap="square">
            <a:spAutoFit/>
          </a:bodyPr>
          <a:lstStyle/>
          <a:p>
            <a:pPr algn="l"/>
            <a:r>
              <a:rPr sz="1100" b="0" i="1">
                <a:solidFill>
                  <a:srgbClr val="888899"/>
                </a:solidFill>
                <a:latin typeface="Calibri"/>
              </a:rPr>
              <a:t>Platform-internal sponsored boost is modeled as a ranking factor, not as explicit restaurant-to-platform ad cash flow. Restaurant profits are computed without an ad spend component.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Restaurant Profit Formula</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Q</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Per-order restaurant profit</a:t>
            </a:r>
          </a:p>
        </p:txBody>
      </p:sp>
      <p:sp>
        <p:nvSpPr>
          <p:cNvPr id="11" name="Rectangle 10"/>
          <p:cNvSpPr/>
          <p:nvPr/>
        </p:nvSpPr>
        <p:spPr>
          <a:xfrm>
            <a:off x="274320" y="1371600"/>
            <a:ext cx="11640312" cy="14630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11420856" cy="1280160"/>
          </a:xfrm>
          <a:prstGeom prst="rect">
            <a:avLst/>
          </a:prstGeom>
          <a:noFill/>
        </p:spPr>
        <p:txBody>
          <a:bodyPr wrap="square">
            <a:spAutoFit/>
          </a:bodyPr>
          <a:lstStyle/>
          <a:p>
            <a:pPr algn="l"/>
            <a:r>
              <a:rPr sz="1000" b="0" i="0">
                <a:solidFill>
                  <a:srgbClr val="A8D8A8"/>
                </a:solidFill>
                <a:latin typeface="Courier New"/>
              </a:rPr>
              <a:t>production_cost      =  menu_price  *  cost_ratio
platform_commission  =  menu_price  *  platform_commission_rate
restaurant_profit  =  menu_price
                   -  production_cost
                   -  platform_commission</a:t>
            </a:r>
          </a:p>
        </p:txBody>
      </p:sp>
      <p:sp>
        <p:nvSpPr>
          <p:cNvPr id="13" name="TextBox 12"/>
          <p:cNvSpPr txBox="1"/>
          <p:nvPr/>
        </p:nvSpPr>
        <p:spPr>
          <a:xfrm>
            <a:off x="274320" y="2944368"/>
            <a:ext cx="11640312" cy="292608"/>
          </a:xfrm>
          <a:prstGeom prst="rect">
            <a:avLst/>
          </a:prstGeom>
          <a:noFill/>
        </p:spPr>
        <p:txBody>
          <a:bodyPr wrap="square">
            <a:spAutoFit/>
          </a:bodyPr>
          <a:lstStyle/>
          <a:p>
            <a:pPr algn="l"/>
            <a:r>
              <a:rPr sz="1200" b="1" i="0">
                <a:solidFill>
                  <a:srgbClr val="1A2E4A"/>
                </a:solidFill>
                <a:latin typeface="Calibri"/>
              </a:rPr>
              <a:t>Numerical example</a:t>
            </a:r>
          </a:p>
        </p:txBody>
      </p:sp>
      <p:sp>
        <p:nvSpPr>
          <p:cNvPr id="14" name="Rectangle 13"/>
          <p:cNvSpPr/>
          <p:nvPr/>
        </p:nvSpPr>
        <p:spPr>
          <a:xfrm>
            <a:off x="274320" y="3264408"/>
            <a:ext cx="32004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9184" y="3300984"/>
            <a:ext cx="3090672" cy="292608"/>
          </a:xfrm>
          <a:prstGeom prst="rect">
            <a:avLst/>
          </a:prstGeom>
          <a:noFill/>
        </p:spPr>
        <p:txBody>
          <a:bodyPr wrap="square">
            <a:spAutoFit/>
          </a:bodyPr>
          <a:lstStyle/>
          <a:p>
            <a:pPr algn="ctr"/>
            <a:r>
              <a:rPr sz="1100" b="1" i="0">
                <a:solidFill>
                  <a:srgbClr val="FFFFFF"/>
                </a:solidFill>
                <a:latin typeface="Calibri"/>
              </a:rPr>
              <a:t>Item</a:t>
            </a:r>
          </a:p>
        </p:txBody>
      </p:sp>
      <p:sp>
        <p:nvSpPr>
          <p:cNvPr id="16" name="Rectangle 15"/>
          <p:cNvSpPr/>
          <p:nvPr/>
        </p:nvSpPr>
        <p:spPr>
          <a:xfrm>
            <a:off x="3474720" y="3264408"/>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29584" y="3300984"/>
            <a:ext cx="1993392" cy="292608"/>
          </a:xfrm>
          <a:prstGeom prst="rect">
            <a:avLst/>
          </a:prstGeom>
          <a:noFill/>
        </p:spPr>
        <p:txBody>
          <a:bodyPr wrap="square">
            <a:spAutoFit/>
          </a:bodyPr>
          <a:lstStyle/>
          <a:p>
            <a:pPr algn="ctr"/>
            <a:r>
              <a:rPr sz="1100" b="1" i="0">
                <a:solidFill>
                  <a:srgbClr val="FFFFFF"/>
                </a:solidFill>
                <a:latin typeface="Calibri"/>
              </a:rPr>
              <a:t>Menu price</a:t>
            </a:r>
          </a:p>
        </p:txBody>
      </p:sp>
      <p:sp>
        <p:nvSpPr>
          <p:cNvPr id="18" name="Rectangle 17"/>
          <p:cNvSpPr/>
          <p:nvPr/>
        </p:nvSpPr>
        <p:spPr>
          <a:xfrm>
            <a:off x="5577840" y="3264408"/>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32704" y="3300984"/>
            <a:ext cx="1993392" cy="292608"/>
          </a:xfrm>
          <a:prstGeom prst="rect">
            <a:avLst/>
          </a:prstGeom>
          <a:noFill/>
        </p:spPr>
        <p:txBody>
          <a:bodyPr wrap="square">
            <a:spAutoFit/>
          </a:bodyPr>
          <a:lstStyle/>
          <a:p>
            <a:pPr algn="ctr"/>
            <a:r>
              <a:rPr sz="1100" b="1" i="0">
                <a:solidFill>
                  <a:srgbClr val="FFFFFF"/>
                </a:solidFill>
                <a:latin typeface="Calibri"/>
              </a:rPr>
              <a:t>Cost ratio</a:t>
            </a:r>
          </a:p>
        </p:txBody>
      </p:sp>
      <p:sp>
        <p:nvSpPr>
          <p:cNvPr id="20" name="Rectangle 19"/>
          <p:cNvSpPr/>
          <p:nvPr/>
        </p:nvSpPr>
        <p:spPr>
          <a:xfrm>
            <a:off x="7680960" y="3264408"/>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35824" y="3300984"/>
            <a:ext cx="1993392" cy="292608"/>
          </a:xfrm>
          <a:prstGeom prst="rect">
            <a:avLst/>
          </a:prstGeom>
          <a:noFill/>
        </p:spPr>
        <p:txBody>
          <a:bodyPr wrap="square">
            <a:spAutoFit/>
          </a:bodyPr>
          <a:lstStyle/>
          <a:p>
            <a:pPr algn="ctr"/>
            <a:r>
              <a:rPr sz="1100" b="1" i="0">
                <a:solidFill>
                  <a:srgbClr val="FFFFFF"/>
                </a:solidFill>
                <a:latin typeface="Calibri"/>
              </a:rPr>
              <a:t>Commission</a:t>
            </a:r>
          </a:p>
        </p:txBody>
      </p:sp>
      <p:sp>
        <p:nvSpPr>
          <p:cNvPr id="22" name="Rectangle 21"/>
          <p:cNvSpPr/>
          <p:nvPr/>
        </p:nvSpPr>
        <p:spPr>
          <a:xfrm>
            <a:off x="9784080" y="3264408"/>
            <a:ext cx="2130552"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38944" y="3300984"/>
            <a:ext cx="2020824" cy="292608"/>
          </a:xfrm>
          <a:prstGeom prst="rect">
            <a:avLst/>
          </a:prstGeom>
          <a:noFill/>
        </p:spPr>
        <p:txBody>
          <a:bodyPr wrap="square">
            <a:spAutoFit/>
          </a:bodyPr>
          <a:lstStyle/>
          <a:p>
            <a:pPr algn="ctr"/>
            <a:r>
              <a:rPr sz="1100" b="1" i="0">
                <a:solidFill>
                  <a:srgbClr val="FFFFFF"/>
                </a:solidFill>
                <a:latin typeface="Calibri"/>
              </a:rPr>
              <a:t>Profit</a:t>
            </a:r>
          </a:p>
        </p:txBody>
      </p:sp>
      <p:sp>
        <p:nvSpPr>
          <p:cNvPr id="24" name="Rectangle 23"/>
          <p:cNvSpPr/>
          <p:nvPr/>
        </p:nvSpPr>
        <p:spPr>
          <a:xfrm>
            <a:off x="274320" y="3630168"/>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9184" y="3666744"/>
            <a:ext cx="3090672" cy="310896"/>
          </a:xfrm>
          <a:prstGeom prst="rect">
            <a:avLst/>
          </a:prstGeom>
          <a:noFill/>
        </p:spPr>
        <p:txBody>
          <a:bodyPr wrap="square">
            <a:spAutoFit/>
          </a:bodyPr>
          <a:lstStyle/>
          <a:p>
            <a:pPr algn="ctr"/>
            <a:r>
              <a:rPr sz="1100" b="0" i="0">
                <a:solidFill>
                  <a:srgbClr val="222233"/>
                </a:solidFill>
                <a:latin typeface="Calibri"/>
              </a:rPr>
              <a:t>QuickEats order</a:t>
            </a:r>
          </a:p>
        </p:txBody>
      </p:sp>
      <p:sp>
        <p:nvSpPr>
          <p:cNvPr id="26" name="Rectangle 25"/>
          <p:cNvSpPr/>
          <p:nvPr/>
        </p:nvSpPr>
        <p:spPr>
          <a:xfrm>
            <a:off x="3474720" y="3630168"/>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529584" y="3666744"/>
            <a:ext cx="1993392" cy="310896"/>
          </a:xfrm>
          <a:prstGeom prst="rect">
            <a:avLst/>
          </a:prstGeom>
          <a:noFill/>
        </p:spPr>
        <p:txBody>
          <a:bodyPr wrap="square">
            <a:spAutoFit/>
          </a:bodyPr>
          <a:lstStyle/>
          <a:p>
            <a:pPr algn="ctr"/>
            <a:r>
              <a:rPr sz="1100" b="0" i="0">
                <a:solidFill>
                  <a:srgbClr val="222233"/>
                </a:solidFill>
                <a:latin typeface="Calibri"/>
              </a:rPr>
              <a:t>$30.00</a:t>
            </a:r>
          </a:p>
        </p:txBody>
      </p:sp>
      <p:sp>
        <p:nvSpPr>
          <p:cNvPr id="28" name="Rectangle 27"/>
          <p:cNvSpPr/>
          <p:nvPr/>
        </p:nvSpPr>
        <p:spPr>
          <a:xfrm>
            <a:off x="5577840" y="3630168"/>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32704" y="3666744"/>
            <a:ext cx="1993392" cy="310896"/>
          </a:xfrm>
          <a:prstGeom prst="rect">
            <a:avLst/>
          </a:prstGeom>
          <a:noFill/>
        </p:spPr>
        <p:txBody>
          <a:bodyPr wrap="square">
            <a:spAutoFit/>
          </a:bodyPr>
          <a:lstStyle/>
          <a:p>
            <a:pPr algn="ctr"/>
            <a:r>
              <a:rPr sz="1100" b="0" i="0">
                <a:solidFill>
                  <a:srgbClr val="222233"/>
                </a:solidFill>
                <a:latin typeface="Calibri"/>
              </a:rPr>
              <a:t>40%</a:t>
            </a:r>
          </a:p>
        </p:txBody>
      </p:sp>
      <p:sp>
        <p:nvSpPr>
          <p:cNvPr id="30" name="Rectangle 29"/>
          <p:cNvSpPr/>
          <p:nvPr/>
        </p:nvSpPr>
        <p:spPr>
          <a:xfrm>
            <a:off x="7680960" y="3630168"/>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35824" y="3666744"/>
            <a:ext cx="1993392" cy="310896"/>
          </a:xfrm>
          <a:prstGeom prst="rect">
            <a:avLst/>
          </a:prstGeom>
          <a:noFill/>
        </p:spPr>
        <p:txBody>
          <a:bodyPr wrap="square">
            <a:spAutoFit/>
          </a:bodyPr>
          <a:lstStyle/>
          <a:p>
            <a:pPr algn="ctr"/>
            <a:r>
              <a:rPr sz="1100" b="0" i="0">
                <a:solidFill>
                  <a:srgbClr val="222233"/>
                </a:solidFill>
                <a:latin typeface="Calibri"/>
              </a:rPr>
              <a:t>20%</a:t>
            </a:r>
          </a:p>
        </p:txBody>
      </p:sp>
      <p:sp>
        <p:nvSpPr>
          <p:cNvPr id="32" name="Rectangle 31"/>
          <p:cNvSpPr/>
          <p:nvPr/>
        </p:nvSpPr>
        <p:spPr>
          <a:xfrm>
            <a:off x="9784080" y="3630168"/>
            <a:ext cx="213055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3666744"/>
            <a:ext cx="2020824" cy="310896"/>
          </a:xfrm>
          <a:prstGeom prst="rect">
            <a:avLst/>
          </a:prstGeom>
          <a:noFill/>
        </p:spPr>
        <p:txBody>
          <a:bodyPr wrap="square">
            <a:spAutoFit/>
          </a:bodyPr>
          <a:lstStyle/>
          <a:p>
            <a:pPr algn="ctr"/>
            <a:r>
              <a:rPr sz="1100" b="0" i="0">
                <a:solidFill>
                  <a:srgbClr val="222233"/>
                </a:solidFill>
                <a:latin typeface="Calibri"/>
              </a:rPr>
              <a:t>$12.00</a:t>
            </a:r>
          </a:p>
        </p:txBody>
      </p:sp>
      <p:sp>
        <p:nvSpPr>
          <p:cNvPr id="34" name="Rectangle 33"/>
          <p:cNvSpPr/>
          <p:nvPr/>
        </p:nvSpPr>
        <p:spPr>
          <a:xfrm>
            <a:off x="274320" y="4014216"/>
            <a:ext cx="32004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 y="4050792"/>
            <a:ext cx="3090672" cy="310896"/>
          </a:xfrm>
          <a:prstGeom prst="rect">
            <a:avLst/>
          </a:prstGeom>
          <a:noFill/>
        </p:spPr>
        <p:txBody>
          <a:bodyPr wrap="square">
            <a:spAutoFit/>
          </a:bodyPr>
          <a:lstStyle/>
          <a:p>
            <a:pPr algn="ctr"/>
            <a:r>
              <a:rPr sz="1100" b="0" i="0">
                <a:solidFill>
                  <a:srgbClr val="222233"/>
                </a:solidFill>
                <a:latin typeface="Calibri"/>
              </a:rPr>
              <a:t>FoodRush order</a:t>
            </a:r>
          </a:p>
        </p:txBody>
      </p:sp>
      <p:sp>
        <p:nvSpPr>
          <p:cNvPr id="36" name="Rectangle 35"/>
          <p:cNvSpPr/>
          <p:nvPr/>
        </p:nvSpPr>
        <p:spPr>
          <a:xfrm>
            <a:off x="3474720" y="4014216"/>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529584" y="4050792"/>
            <a:ext cx="1993392" cy="310896"/>
          </a:xfrm>
          <a:prstGeom prst="rect">
            <a:avLst/>
          </a:prstGeom>
          <a:noFill/>
        </p:spPr>
        <p:txBody>
          <a:bodyPr wrap="square">
            <a:spAutoFit/>
          </a:bodyPr>
          <a:lstStyle/>
          <a:p>
            <a:pPr algn="ctr"/>
            <a:r>
              <a:rPr sz="1100" b="0" i="0">
                <a:solidFill>
                  <a:srgbClr val="222233"/>
                </a:solidFill>
                <a:latin typeface="Calibri"/>
              </a:rPr>
              <a:t>$30.00</a:t>
            </a:r>
          </a:p>
        </p:txBody>
      </p:sp>
      <p:sp>
        <p:nvSpPr>
          <p:cNvPr id="38" name="Rectangle 37"/>
          <p:cNvSpPr/>
          <p:nvPr/>
        </p:nvSpPr>
        <p:spPr>
          <a:xfrm>
            <a:off x="5577840" y="4014216"/>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632704" y="4050792"/>
            <a:ext cx="1993392" cy="310896"/>
          </a:xfrm>
          <a:prstGeom prst="rect">
            <a:avLst/>
          </a:prstGeom>
          <a:noFill/>
        </p:spPr>
        <p:txBody>
          <a:bodyPr wrap="square">
            <a:spAutoFit/>
          </a:bodyPr>
          <a:lstStyle/>
          <a:p>
            <a:pPr algn="ctr"/>
            <a:r>
              <a:rPr sz="1100" b="0" i="0">
                <a:solidFill>
                  <a:srgbClr val="222233"/>
                </a:solidFill>
                <a:latin typeface="Calibri"/>
              </a:rPr>
              <a:t>40%</a:t>
            </a:r>
          </a:p>
        </p:txBody>
      </p:sp>
      <p:sp>
        <p:nvSpPr>
          <p:cNvPr id="40" name="Rectangle 39"/>
          <p:cNvSpPr/>
          <p:nvPr/>
        </p:nvSpPr>
        <p:spPr>
          <a:xfrm>
            <a:off x="7680960" y="4014216"/>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35824" y="4050792"/>
            <a:ext cx="1993392" cy="310896"/>
          </a:xfrm>
          <a:prstGeom prst="rect">
            <a:avLst/>
          </a:prstGeom>
          <a:noFill/>
        </p:spPr>
        <p:txBody>
          <a:bodyPr wrap="square">
            <a:spAutoFit/>
          </a:bodyPr>
          <a:lstStyle/>
          <a:p>
            <a:pPr algn="ctr"/>
            <a:r>
              <a:rPr sz="1100" b="0" i="0">
                <a:solidFill>
                  <a:srgbClr val="222233"/>
                </a:solidFill>
                <a:latin typeface="Calibri"/>
              </a:rPr>
              <a:t>25%</a:t>
            </a:r>
          </a:p>
        </p:txBody>
      </p:sp>
      <p:sp>
        <p:nvSpPr>
          <p:cNvPr id="42" name="Rectangle 41"/>
          <p:cNvSpPr/>
          <p:nvPr/>
        </p:nvSpPr>
        <p:spPr>
          <a:xfrm>
            <a:off x="9784080" y="4014216"/>
            <a:ext cx="213055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838944" y="4050792"/>
            <a:ext cx="2020824" cy="310896"/>
          </a:xfrm>
          <a:prstGeom prst="rect">
            <a:avLst/>
          </a:prstGeom>
          <a:noFill/>
        </p:spPr>
        <p:txBody>
          <a:bodyPr wrap="square">
            <a:spAutoFit/>
          </a:bodyPr>
          <a:lstStyle/>
          <a:p>
            <a:pPr algn="ctr"/>
            <a:r>
              <a:rPr sz="1100" b="0" i="0">
                <a:solidFill>
                  <a:srgbClr val="222233"/>
                </a:solidFill>
                <a:latin typeface="Calibri"/>
              </a:rPr>
              <a:t>$10.50</a:t>
            </a:r>
          </a:p>
        </p:txBody>
      </p:sp>
      <p:sp>
        <p:nvSpPr>
          <p:cNvPr id="44" name="Rectangle 43"/>
          <p:cNvSpPr/>
          <p:nvPr/>
        </p:nvSpPr>
        <p:spPr>
          <a:xfrm>
            <a:off x="274320" y="4398264"/>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29184" y="4434840"/>
            <a:ext cx="3090672" cy="310896"/>
          </a:xfrm>
          <a:prstGeom prst="rect">
            <a:avLst/>
          </a:prstGeom>
          <a:noFill/>
        </p:spPr>
        <p:txBody>
          <a:bodyPr wrap="square">
            <a:spAutoFit/>
          </a:bodyPr>
          <a:lstStyle/>
          <a:p>
            <a:pPr algn="ctr"/>
            <a:r>
              <a:rPr sz="1100" b="0" i="0">
                <a:solidFill>
                  <a:srgbClr val="222233"/>
                </a:solidFill>
                <a:latin typeface="Calibri"/>
              </a:rPr>
              <a:t>NomNom order</a:t>
            </a:r>
          </a:p>
        </p:txBody>
      </p:sp>
      <p:sp>
        <p:nvSpPr>
          <p:cNvPr id="46" name="Rectangle 45"/>
          <p:cNvSpPr/>
          <p:nvPr/>
        </p:nvSpPr>
        <p:spPr>
          <a:xfrm>
            <a:off x="3474720" y="4398264"/>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529584" y="4434840"/>
            <a:ext cx="1993392" cy="310896"/>
          </a:xfrm>
          <a:prstGeom prst="rect">
            <a:avLst/>
          </a:prstGeom>
          <a:noFill/>
        </p:spPr>
        <p:txBody>
          <a:bodyPr wrap="square">
            <a:spAutoFit/>
          </a:bodyPr>
          <a:lstStyle/>
          <a:p>
            <a:pPr algn="ctr"/>
            <a:r>
              <a:rPr sz="1100" b="0" i="0">
                <a:solidFill>
                  <a:srgbClr val="222233"/>
                </a:solidFill>
                <a:latin typeface="Calibri"/>
              </a:rPr>
              <a:t>$30.00</a:t>
            </a:r>
          </a:p>
        </p:txBody>
      </p:sp>
      <p:sp>
        <p:nvSpPr>
          <p:cNvPr id="48" name="Rectangle 47"/>
          <p:cNvSpPr/>
          <p:nvPr/>
        </p:nvSpPr>
        <p:spPr>
          <a:xfrm>
            <a:off x="5577840" y="4398264"/>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632704" y="4434840"/>
            <a:ext cx="1993392" cy="310896"/>
          </a:xfrm>
          <a:prstGeom prst="rect">
            <a:avLst/>
          </a:prstGeom>
          <a:noFill/>
        </p:spPr>
        <p:txBody>
          <a:bodyPr wrap="square">
            <a:spAutoFit/>
          </a:bodyPr>
          <a:lstStyle/>
          <a:p>
            <a:pPr algn="ctr"/>
            <a:r>
              <a:rPr sz="1100" b="0" i="0">
                <a:solidFill>
                  <a:srgbClr val="222233"/>
                </a:solidFill>
                <a:latin typeface="Calibri"/>
              </a:rPr>
              <a:t>40%</a:t>
            </a:r>
          </a:p>
        </p:txBody>
      </p:sp>
      <p:sp>
        <p:nvSpPr>
          <p:cNvPr id="50" name="Rectangle 49"/>
          <p:cNvSpPr/>
          <p:nvPr/>
        </p:nvSpPr>
        <p:spPr>
          <a:xfrm>
            <a:off x="7680960" y="4398264"/>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735824" y="4434840"/>
            <a:ext cx="1993392" cy="310896"/>
          </a:xfrm>
          <a:prstGeom prst="rect">
            <a:avLst/>
          </a:prstGeom>
          <a:noFill/>
        </p:spPr>
        <p:txBody>
          <a:bodyPr wrap="square">
            <a:spAutoFit/>
          </a:bodyPr>
          <a:lstStyle/>
          <a:p>
            <a:pPr algn="ctr"/>
            <a:r>
              <a:rPr sz="1100" b="0" i="0">
                <a:solidFill>
                  <a:srgbClr val="222233"/>
                </a:solidFill>
                <a:latin typeface="Calibri"/>
              </a:rPr>
              <a:t>15%</a:t>
            </a:r>
          </a:p>
        </p:txBody>
      </p:sp>
      <p:sp>
        <p:nvSpPr>
          <p:cNvPr id="52" name="Rectangle 51"/>
          <p:cNvSpPr/>
          <p:nvPr/>
        </p:nvSpPr>
        <p:spPr>
          <a:xfrm>
            <a:off x="9784080" y="4398264"/>
            <a:ext cx="213055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838944" y="4434840"/>
            <a:ext cx="2020824" cy="310896"/>
          </a:xfrm>
          <a:prstGeom prst="rect">
            <a:avLst/>
          </a:prstGeom>
          <a:noFill/>
        </p:spPr>
        <p:txBody>
          <a:bodyPr wrap="square">
            <a:spAutoFit/>
          </a:bodyPr>
          <a:lstStyle/>
          <a:p>
            <a:pPr algn="ctr"/>
            <a:r>
              <a:rPr sz="1100" b="0" i="0">
                <a:solidFill>
                  <a:srgbClr val="222233"/>
                </a:solidFill>
                <a:latin typeface="Calibri"/>
              </a:rPr>
              <a:t>$13.50</a:t>
            </a:r>
          </a:p>
        </p:txBody>
      </p:sp>
      <p:sp>
        <p:nvSpPr>
          <p:cNvPr id="54" name="TextBox 53"/>
          <p:cNvSpPr txBox="1"/>
          <p:nvPr/>
        </p:nvSpPr>
        <p:spPr>
          <a:xfrm>
            <a:off x="274320" y="4709160"/>
            <a:ext cx="11640312" cy="292608"/>
          </a:xfrm>
          <a:prstGeom prst="rect">
            <a:avLst/>
          </a:prstGeom>
          <a:noFill/>
        </p:spPr>
        <p:txBody>
          <a:bodyPr wrap="square">
            <a:spAutoFit/>
          </a:bodyPr>
          <a:lstStyle/>
          <a:p>
            <a:pPr algn="l"/>
            <a:r>
              <a:rPr sz="1200" b="1" i="0">
                <a:solidFill>
                  <a:srgbClr val="1A2E4A"/>
                </a:solidFill>
                <a:latin typeface="Calibri"/>
              </a:rPr>
              <a:t>What restaurants do and don't receive</a:t>
            </a:r>
          </a:p>
        </p:txBody>
      </p:sp>
      <p:sp>
        <p:nvSpPr>
          <p:cNvPr id="55" name="TextBox 54"/>
          <p:cNvSpPr txBox="1"/>
          <p:nvPr/>
        </p:nvSpPr>
        <p:spPr>
          <a:xfrm>
            <a:off x="274320" y="5047488"/>
            <a:ext cx="11640312" cy="365760"/>
          </a:xfrm>
          <a:prstGeom prst="rect">
            <a:avLst/>
          </a:prstGeom>
          <a:noFill/>
        </p:spPr>
        <p:txBody>
          <a:bodyPr wrap="square">
            <a:spAutoFit/>
          </a:bodyPr>
          <a:lstStyle/>
          <a:p>
            <a:pPr algn="l"/>
            <a:r>
              <a:rPr sz="1100" b="0" i="0">
                <a:solidFill>
                  <a:srgbClr val="222233"/>
                </a:solidFill>
                <a:latin typeface="Calibri"/>
              </a:rPr>
              <a:t>·  Restaurants earn menu price minus production cost minus platform commission.</a:t>
            </a:r>
          </a:p>
        </p:txBody>
      </p:sp>
      <p:sp>
        <p:nvSpPr>
          <p:cNvPr id="56" name="TextBox 55"/>
          <p:cNvSpPr txBox="1"/>
          <p:nvPr/>
        </p:nvSpPr>
        <p:spPr>
          <a:xfrm>
            <a:off x="274320" y="5431536"/>
            <a:ext cx="11640312" cy="365760"/>
          </a:xfrm>
          <a:prstGeom prst="rect">
            <a:avLst/>
          </a:prstGeom>
          <a:noFill/>
        </p:spPr>
        <p:txBody>
          <a:bodyPr wrap="square">
            <a:spAutoFit/>
          </a:bodyPr>
          <a:lstStyle/>
          <a:p>
            <a:pPr algn="l"/>
            <a:r>
              <a:rPr sz="1100" b="0" i="0">
                <a:solidFill>
                  <a:srgbClr val="222233"/>
                </a:solidFill>
                <a:latin typeface="Calibri"/>
              </a:rPr>
              <a:t>·  Restaurants do not pay separately for promo discounts (platform subsidizes half).</a:t>
            </a:r>
          </a:p>
        </p:txBody>
      </p:sp>
      <p:sp>
        <p:nvSpPr>
          <p:cNvPr id="57" name="TextBox 56"/>
          <p:cNvSpPr txBox="1"/>
          <p:nvPr/>
        </p:nvSpPr>
        <p:spPr>
          <a:xfrm>
            <a:off x="274320" y="5815584"/>
            <a:ext cx="11640312" cy="365760"/>
          </a:xfrm>
          <a:prstGeom prst="rect">
            <a:avLst/>
          </a:prstGeom>
          <a:noFill/>
        </p:spPr>
        <p:txBody>
          <a:bodyPr wrap="square">
            <a:spAutoFit/>
          </a:bodyPr>
          <a:lstStyle/>
          <a:p>
            <a:pPr algn="l"/>
            <a:r>
              <a:rPr sz="1100" b="0" i="0">
                <a:solidFill>
                  <a:srgbClr val="222233"/>
                </a:solidFill>
                <a:latin typeface="Calibri"/>
              </a:rPr>
              <a:t>·  Restaurants do not pay for platform-internal sponsored boost in this model version.</a:t>
            </a:r>
          </a:p>
        </p:txBody>
      </p:sp>
      <p:sp>
        <p:nvSpPr>
          <p:cNvPr id="58" name="TextBox 57"/>
          <p:cNvSpPr txBox="1"/>
          <p:nvPr/>
        </p:nvSpPr>
        <p:spPr>
          <a:xfrm>
            <a:off x="274320" y="6199632"/>
            <a:ext cx="11640312" cy="365760"/>
          </a:xfrm>
          <a:prstGeom prst="rect">
            <a:avLst/>
          </a:prstGeom>
          <a:noFill/>
        </p:spPr>
        <p:txBody>
          <a:bodyPr wrap="square">
            <a:spAutoFit/>
          </a:bodyPr>
          <a:lstStyle/>
          <a:p>
            <a:pPr algn="l"/>
            <a:r>
              <a:rPr sz="1100" b="0" i="0">
                <a:solidFill>
                  <a:srgbClr val="222233"/>
                </a:solidFill>
                <a:latin typeface="Calibri"/>
              </a:rPr>
              <a:t>·  Restaurants do not adjust prices or platform participation dynamically.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LLM Payment Formula By Regime</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R</a:t>
            </a:r>
          </a:p>
        </p:txBody>
      </p:sp>
      <p:sp>
        <p:nvSpPr>
          <p:cNvPr id="10" name="Rectangle 9"/>
          <p:cNvSpPr/>
          <p:nvPr/>
        </p:nvSpPr>
        <p:spPr>
          <a:xfrm>
            <a:off x="274320" y="1051560"/>
            <a:ext cx="5669280" cy="457200"/>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106424"/>
            <a:ext cx="5486400" cy="365760"/>
          </a:xfrm>
          <a:prstGeom prst="rect">
            <a:avLst/>
          </a:prstGeom>
          <a:noFill/>
        </p:spPr>
        <p:txBody>
          <a:bodyPr wrap="square">
            <a:spAutoFit/>
          </a:bodyPr>
          <a:lstStyle/>
          <a:p>
            <a:pPr algn="l"/>
            <a:r>
              <a:rPr sz="1600" b="1" i="0">
                <a:solidFill>
                  <a:srgbClr val="FFFFFF"/>
                </a:solidFill>
                <a:latin typeface="Calibri"/>
              </a:rPr>
              <a:t>Neutral</a:t>
            </a:r>
          </a:p>
        </p:txBody>
      </p:sp>
      <p:sp>
        <p:nvSpPr>
          <p:cNvPr id="12" name="Rectangle 11"/>
          <p:cNvSpPr/>
          <p:nvPr/>
        </p:nvSpPr>
        <p:spPr>
          <a:xfrm>
            <a:off x="274320" y="1508760"/>
            <a:ext cx="5669280" cy="17373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1600200"/>
            <a:ext cx="5449824" cy="1554480"/>
          </a:xfrm>
          <a:prstGeom prst="rect">
            <a:avLst/>
          </a:prstGeom>
          <a:noFill/>
        </p:spPr>
        <p:txBody>
          <a:bodyPr wrap="square">
            <a:spAutoFit/>
          </a:bodyPr>
          <a:lstStyle/>
          <a:p>
            <a:pPr algn="l"/>
            <a:r>
              <a:rPr sz="1000" b="0" i="0">
                <a:solidFill>
                  <a:srgbClr val="A8D8A8"/>
                </a:solidFill>
                <a:latin typeface="Courier New"/>
              </a:rPr>
              <a:t>llm_payment  =  0</a:t>
            </a:r>
          </a:p>
        </p:txBody>
      </p:sp>
      <p:sp>
        <p:nvSpPr>
          <p:cNvPr id="14" name="Rectangle 13"/>
          <p:cNvSpPr/>
          <p:nvPr/>
        </p:nvSpPr>
        <p:spPr>
          <a:xfrm>
            <a:off x="6245352" y="1051560"/>
            <a:ext cx="5669280" cy="457200"/>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36792" y="1106424"/>
            <a:ext cx="5486400" cy="365760"/>
          </a:xfrm>
          <a:prstGeom prst="rect">
            <a:avLst/>
          </a:prstGeom>
          <a:noFill/>
        </p:spPr>
        <p:txBody>
          <a:bodyPr wrap="square">
            <a:spAutoFit/>
          </a:bodyPr>
          <a:lstStyle/>
          <a:p>
            <a:pPr algn="l"/>
            <a:r>
              <a:rPr sz="1600" b="1" i="0">
                <a:solidFill>
                  <a:srgbClr val="FFFFFF"/>
                </a:solidFill>
                <a:latin typeface="Calibri"/>
              </a:rPr>
              <a:t>CPC</a:t>
            </a:r>
          </a:p>
        </p:txBody>
      </p:sp>
      <p:sp>
        <p:nvSpPr>
          <p:cNvPr id="16" name="Rectangle 15"/>
          <p:cNvSpPr/>
          <p:nvPr/>
        </p:nvSpPr>
        <p:spPr>
          <a:xfrm>
            <a:off x="6245352" y="1508760"/>
            <a:ext cx="5669280" cy="17373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1600200"/>
            <a:ext cx="5449824" cy="1554480"/>
          </a:xfrm>
          <a:prstGeom prst="rect">
            <a:avLst/>
          </a:prstGeom>
          <a:noFill/>
        </p:spPr>
        <p:txBody>
          <a:bodyPr wrap="square">
            <a:spAutoFit/>
          </a:bodyPr>
          <a:lstStyle/>
          <a:p>
            <a:pPr algn="l"/>
            <a:r>
              <a:rPr sz="1000" b="0" i="0">
                <a:solidFill>
                  <a:srgbClr val="A8D8A8"/>
                </a:solidFill>
                <a:latin typeface="Courier New"/>
              </a:rPr>
              <a:t>if user_clicks:
    llm_payment  =  platform_CPC_rate
else:
    llm_payment  =  0</a:t>
            </a:r>
          </a:p>
        </p:txBody>
      </p:sp>
      <p:sp>
        <p:nvSpPr>
          <p:cNvPr id="18" name="Rectangle 17"/>
          <p:cNvSpPr/>
          <p:nvPr/>
        </p:nvSpPr>
        <p:spPr>
          <a:xfrm>
            <a:off x="274320" y="3520440"/>
            <a:ext cx="5669280" cy="4572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3575304"/>
            <a:ext cx="5486400" cy="365760"/>
          </a:xfrm>
          <a:prstGeom prst="rect">
            <a:avLst/>
          </a:prstGeom>
          <a:noFill/>
        </p:spPr>
        <p:txBody>
          <a:bodyPr wrap="square">
            <a:spAutoFit/>
          </a:bodyPr>
          <a:lstStyle/>
          <a:p>
            <a:pPr algn="l"/>
            <a:r>
              <a:rPr sz="1600" b="1" i="0">
                <a:solidFill>
                  <a:srgbClr val="FFFFFF"/>
                </a:solidFill>
                <a:latin typeface="Calibri"/>
              </a:rPr>
              <a:t>CPA</a:t>
            </a:r>
          </a:p>
        </p:txBody>
      </p:sp>
      <p:sp>
        <p:nvSpPr>
          <p:cNvPr id="20" name="Rectangle 19"/>
          <p:cNvSpPr/>
          <p:nvPr/>
        </p:nvSpPr>
        <p:spPr>
          <a:xfrm>
            <a:off x="274320" y="3977640"/>
            <a:ext cx="5669280" cy="17373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4069080"/>
            <a:ext cx="5449824" cy="1554480"/>
          </a:xfrm>
          <a:prstGeom prst="rect">
            <a:avLst/>
          </a:prstGeom>
          <a:noFill/>
        </p:spPr>
        <p:txBody>
          <a:bodyPr wrap="square">
            <a:spAutoFit/>
          </a:bodyPr>
          <a:lstStyle/>
          <a:p>
            <a:pPr algn="l"/>
            <a:r>
              <a:rPr sz="1000" b="0" i="0">
                <a:solidFill>
                  <a:srgbClr val="A8D8A8"/>
                </a:solidFill>
                <a:latin typeface="Courier New"/>
              </a:rPr>
              <a:t>if user_purchases:
    llm_payment  =  platform_CPA_rate
else:
    llm_payment  =  0</a:t>
            </a:r>
          </a:p>
        </p:txBody>
      </p:sp>
      <p:sp>
        <p:nvSpPr>
          <p:cNvPr id="22" name="Rectangle 21"/>
          <p:cNvSpPr/>
          <p:nvPr/>
        </p:nvSpPr>
        <p:spPr>
          <a:xfrm>
            <a:off x="6245352" y="3520440"/>
            <a:ext cx="5669280" cy="457200"/>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36792" y="3575304"/>
            <a:ext cx="5486400" cy="365760"/>
          </a:xfrm>
          <a:prstGeom prst="rect">
            <a:avLst/>
          </a:prstGeom>
          <a:noFill/>
        </p:spPr>
        <p:txBody>
          <a:bodyPr wrap="square">
            <a:spAutoFit/>
          </a:bodyPr>
          <a:lstStyle/>
          <a:p>
            <a:pPr algn="l"/>
            <a:r>
              <a:rPr sz="1600" b="1" i="0">
                <a:solidFill>
                  <a:srgbClr val="FFFFFF"/>
                </a:solidFill>
                <a:latin typeface="Calibri"/>
              </a:rPr>
              <a:t>CPFI</a:t>
            </a:r>
          </a:p>
        </p:txBody>
      </p:sp>
      <p:sp>
        <p:nvSpPr>
          <p:cNvPr id="24" name="Rectangle 23"/>
          <p:cNvSpPr/>
          <p:nvPr/>
        </p:nvSpPr>
        <p:spPr>
          <a:xfrm>
            <a:off x="6245352" y="3977640"/>
            <a:ext cx="5669280" cy="17373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55080" y="4069080"/>
            <a:ext cx="5449824" cy="1554480"/>
          </a:xfrm>
          <a:prstGeom prst="rect">
            <a:avLst/>
          </a:prstGeom>
          <a:noFill/>
        </p:spPr>
        <p:txBody>
          <a:bodyPr wrap="square">
            <a:spAutoFit/>
          </a:bodyPr>
          <a:lstStyle/>
          <a:p>
            <a:pPr algn="l"/>
            <a:r>
              <a:rPr sz="1000" b="0" i="0">
                <a:solidFill>
                  <a:srgbClr val="A8D8A8"/>
                </a:solidFill>
                <a:latin typeface="Courier New"/>
              </a:rPr>
              <a:t>if user_purchases:
    llm_payment  =  platform_CPFI_rate  *  intent_fulfilment
else:
    llm_payment  =  0</a:t>
            </a:r>
          </a:p>
        </p:txBody>
      </p:sp>
      <p:sp>
        <p:nvSpPr>
          <p:cNvPr id="26" name="TextBox 25"/>
          <p:cNvSpPr txBox="1"/>
          <p:nvPr/>
        </p:nvSpPr>
        <p:spPr>
          <a:xfrm>
            <a:off x="274320" y="5230368"/>
            <a:ext cx="11640312" cy="292608"/>
          </a:xfrm>
          <a:prstGeom prst="rect">
            <a:avLst/>
          </a:prstGeom>
          <a:noFill/>
        </p:spPr>
        <p:txBody>
          <a:bodyPr wrap="square">
            <a:spAutoFit/>
          </a:bodyPr>
          <a:lstStyle/>
          <a:p>
            <a:pPr algn="l"/>
            <a:r>
              <a:rPr sz="1200" b="1" i="0">
                <a:solidFill>
                  <a:srgbClr val="1A2E4A"/>
                </a:solidFill>
                <a:latin typeface="Calibri"/>
              </a:rPr>
              <a:t>Exp 2 calibration note</a:t>
            </a:r>
          </a:p>
        </p:txBody>
      </p:sp>
      <p:sp>
        <p:nvSpPr>
          <p:cNvPr id="27" name="Rectangle 26"/>
          <p:cNvSpPr/>
          <p:nvPr/>
        </p:nvSpPr>
        <p:spPr>
          <a:xfrm>
            <a:off x="274320" y="5550408"/>
            <a:ext cx="11640312" cy="56692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84048" y="5641848"/>
            <a:ext cx="11420856" cy="384048"/>
          </a:xfrm>
          <a:prstGeom prst="rect">
            <a:avLst/>
          </a:prstGeom>
          <a:noFill/>
        </p:spPr>
        <p:txBody>
          <a:bodyPr wrap="square">
            <a:spAutoFit/>
          </a:bodyPr>
          <a:lstStyle/>
          <a:p>
            <a:pPr algn="l"/>
            <a:r>
              <a:rPr sz="1000" b="0" i="0">
                <a:solidFill>
                  <a:srgbClr val="A8D8A8"/>
                </a:solidFill>
                <a:latin typeface="Courier New"/>
              </a:rPr>
              <a:t>Actual rates in Exp 2 are scaled so total LLM payment
= 50% of positive gross sponsor-side platform surplus.
See Appendix S for calibration detail.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Platform WTP Calibration (Experiment 2)</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S</a:t>
            </a:r>
          </a:p>
        </p:txBody>
      </p:sp>
      <p:sp>
        <p:nvSpPr>
          <p:cNvPr id="10" name="TextBox 9"/>
          <p:cNvSpPr txBox="1"/>
          <p:nvPr/>
        </p:nvSpPr>
        <p:spPr>
          <a:xfrm>
            <a:off x="274320" y="1051560"/>
            <a:ext cx="11640312" cy="475488"/>
          </a:xfrm>
          <a:prstGeom prst="rect">
            <a:avLst/>
          </a:prstGeom>
          <a:noFill/>
        </p:spPr>
        <p:txBody>
          <a:bodyPr wrap="square">
            <a:spAutoFit/>
          </a:bodyPr>
          <a:lstStyle/>
          <a:p>
            <a:pPr algn="l"/>
            <a:r>
              <a:rPr sz="1200" b="0" i="0">
                <a:solidFill>
                  <a:srgbClr val="222233"/>
                </a:solidFill>
                <a:latin typeface="Calibri"/>
              </a:rPr>
              <a:t>Raw payment rates are arbitrary. To avoid overcharging platforms, Experiment 2 calibrates LLM payments to the value the routing regime actually creates for platforms.</a:t>
            </a:r>
          </a:p>
        </p:txBody>
      </p:sp>
      <p:sp>
        <p:nvSpPr>
          <p:cNvPr id="11" name="TextBox 10"/>
          <p:cNvSpPr txBox="1"/>
          <p:nvPr/>
        </p:nvSpPr>
        <p:spPr>
          <a:xfrm>
            <a:off x="274320" y="1627632"/>
            <a:ext cx="11640312" cy="292608"/>
          </a:xfrm>
          <a:prstGeom prst="rect">
            <a:avLst/>
          </a:prstGeom>
          <a:noFill/>
        </p:spPr>
        <p:txBody>
          <a:bodyPr wrap="square">
            <a:spAutoFit/>
          </a:bodyPr>
          <a:lstStyle/>
          <a:p>
            <a:pPr algn="l"/>
            <a:r>
              <a:rPr sz="1200" b="1" i="0">
                <a:solidFill>
                  <a:srgbClr val="1A2E4A"/>
                </a:solidFill>
                <a:latin typeface="Calibri"/>
              </a:rPr>
              <a:t>Calibration steps</a:t>
            </a:r>
          </a:p>
        </p:txBody>
      </p:sp>
      <p:sp>
        <p:nvSpPr>
          <p:cNvPr id="12" name="Rectangle 11"/>
          <p:cNvSpPr/>
          <p:nvPr/>
        </p:nvSpPr>
        <p:spPr>
          <a:xfrm>
            <a:off x="274320" y="1947672"/>
            <a:ext cx="11640312" cy="301752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2039112"/>
            <a:ext cx="11420856" cy="2834640"/>
          </a:xfrm>
          <a:prstGeom prst="rect">
            <a:avLst/>
          </a:prstGeom>
          <a:noFill/>
        </p:spPr>
        <p:txBody>
          <a:bodyPr wrap="square">
            <a:spAutoFit/>
          </a:bodyPr>
          <a:lstStyle/>
          <a:p>
            <a:pPr algn="l"/>
            <a:r>
              <a:rPr sz="1000" b="0" i="0">
                <a:solidFill>
                  <a:srgbClr val="A8D8A8"/>
                </a:solidFill>
                <a:latin typeface="Courier New"/>
              </a:rPr>
              <a:t>Step 1:  Run no-LLM baseline
         → record  platform_net_no_llm
Step 2:  For each paid regime, run LLM with routing bias ON but llm_payment = 0
         → record  platform_net_gross_paid
Step 3:  Gross platform surplus  =  platform_net_gross_paid  -  platform_net_no_llm
Step 4:  Payable surplus  =  max(0,  gross_platform_surplus)
         (only platforms with positive gross gains pay the LLM)
Step 5:  target_llm_payment  =  LLM_RATE  *  payable_surplus
         where  LLM_RATE  =  0.50
Step 6:  Scale raw payment rates so total LLM revenue = target_llm_payment</a:t>
            </a:r>
          </a:p>
        </p:txBody>
      </p:sp>
      <p:sp>
        <p:nvSpPr>
          <p:cNvPr id="14" name="TextBox 13"/>
          <p:cNvSpPr txBox="1"/>
          <p:nvPr/>
        </p:nvSpPr>
        <p:spPr>
          <a:xfrm>
            <a:off x="274320" y="5074920"/>
            <a:ext cx="11640312" cy="292608"/>
          </a:xfrm>
          <a:prstGeom prst="rect">
            <a:avLst/>
          </a:prstGeom>
          <a:noFill/>
        </p:spPr>
        <p:txBody>
          <a:bodyPr wrap="square">
            <a:spAutoFit/>
          </a:bodyPr>
          <a:lstStyle/>
          <a:p>
            <a:pPr algn="l"/>
            <a:r>
              <a:rPr sz="1200" b="1" i="0">
                <a:solidFill>
                  <a:srgbClr val="1A2E4A"/>
                </a:solidFill>
                <a:latin typeface="Calibri"/>
              </a:rPr>
              <a:t>Important caveat</a:t>
            </a:r>
          </a:p>
        </p:txBody>
      </p:sp>
      <p:sp>
        <p:nvSpPr>
          <p:cNvPr id="15" name="TextBox 14"/>
          <p:cNvSpPr txBox="1"/>
          <p:nvPr/>
        </p:nvSpPr>
        <p:spPr>
          <a:xfrm>
            <a:off x="274320" y="5394960"/>
            <a:ext cx="11640312" cy="594360"/>
          </a:xfrm>
          <a:prstGeom prst="rect">
            <a:avLst/>
          </a:prstGeom>
          <a:noFill/>
        </p:spPr>
        <p:txBody>
          <a:bodyPr wrap="square">
            <a:spAutoFit/>
          </a:bodyPr>
          <a:lstStyle/>
          <a:p>
            <a:pPr algn="l"/>
            <a:r>
              <a:rPr sz="1100" b="0" i="1">
                <a:solidFill>
                  <a:srgbClr val="888899"/>
                </a:solidFill>
                <a:latin typeface="Calibri"/>
              </a:rPr>
              <a:t>This is an aggregate sponsor-side ceiling. Lower-bid platforms (NomNom) may lose traffic as competitive externalities — they do not pay the LLM, but they are harmed by rival sponsorship.</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Aggregate Metrics Definitions</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T</a:t>
            </a:r>
          </a:p>
        </p:txBody>
      </p:sp>
      <p:sp>
        <p:nvSpPr>
          <p:cNvPr id="10" name="TextBox 9"/>
          <p:cNvSpPr txBox="1"/>
          <p:nvPr/>
        </p:nvSpPr>
        <p:spPr>
          <a:xfrm>
            <a:off x="274320" y="1051560"/>
            <a:ext cx="11640312" cy="292608"/>
          </a:xfrm>
          <a:prstGeom prst="rect">
            <a:avLst/>
          </a:prstGeom>
          <a:noFill/>
        </p:spPr>
        <p:txBody>
          <a:bodyPr wrap="square">
            <a:spAutoFit/>
          </a:bodyPr>
          <a:lstStyle/>
          <a:p>
            <a:pPr algn="l"/>
            <a:r>
              <a:rPr sz="1200" b="1" i="0">
                <a:solidFill>
                  <a:srgbClr val="1A2E4A"/>
                </a:solidFill>
                <a:latin typeface="Calibri"/>
              </a:rPr>
              <a:t>Consumer metrics</a:t>
            </a:r>
          </a:p>
        </p:txBody>
      </p:sp>
      <p:sp>
        <p:nvSpPr>
          <p:cNvPr id="11" name="Rectangle 10"/>
          <p:cNvSpPr/>
          <p:nvPr/>
        </p:nvSpPr>
        <p:spPr>
          <a:xfrm>
            <a:off x="274320" y="1371600"/>
            <a:ext cx="11640312" cy="10515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 y="1463040"/>
            <a:ext cx="11420856" cy="868680"/>
          </a:xfrm>
          <a:prstGeom prst="rect">
            <a:avLst/>
          </a:prstGeom>
          <a:noFill/>
        </p:spPr>
        <p:txBody>
          <a:bodyPr wrap="square">
            <a:spAutoFit/>
          </a:bodyPr>
          <a:lstStyle/>
          <a:p>
            <a:pPr algn="l"/>
            <a:r>
              <a:rPr sz="1000" b="0" i="0">
                <a:solidFill>
                  <a:srgbClr val="A8D8A8"/>
                </a:solidFill>
                <a:latin typeface="Courier New"/>
              </a:rPr>
              <a:t>conversion_rate       =  completed_orders  /  total_sessions
avg_intent_fulfilment =  mean( intent_fulfilment | purchase )
avg_utility           =  mean( consumer_utility  | all sessions )
avg_total_price       =  mean( total_price        | purchase )
avg_delivery_time     =  mean( delivery_time      | purchase )</a:t>
            </a:r>
          </a:p>
        </p:txBody>
      </p:sp>
      <p:sp>
        <p:nvSpPr>
          <p:cNvPr id="13" name="TextBox 12"/>
          <p:cNvSpPr txBox="1"/>
          <p:nvPr/>
        </p:nvSpPr>
        <p:spPr>
          <a:xfrm>
            <a:off x="274320" y="2532888"/>
            <a:ext cx="11640312" cy="292608"/>
          </a:xfrm>
          <a:prstGeom prst="rect">
            <a:avLst/>
          </a:prstGeom>
          <a:noFill/>
        </p:spPr>
        <p:txBody>
          <a:bodyPr wrap="square">
            <a:spAutoFit/>
          </a:bodyPr>
          <a:lstStyle/>
          <a:p>
            <a:pPr algn="l"/>
            <a:r>
              <a:rPr sz="1200" b="1" i="0">
                <a:solidFill>
                  <a:srgbClr val="1A2E4A"/>
                </a:solidFill>
                <a:latin typeface="Calibri"/>
              </a:rPr>
              <a:t>LLM metrics</a:t>
            </a:r>
          </a:p>
        </p:txBody>
      </p:sp>
      <p:sp>
        <p:nvSpPr>
          <p:cNvPr id="14" name="Rectangle 13"/>
          <p:cNvSpPr/>
          <p:nvPr/>
        </p:nvSpPr>
        <p:spPr>
          <a:xfrm>
            <a:off x="274320" y="2852928"/>
            <a:ext cx="11640312" cy="7772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2944368"/>
            <a:ext cx="11420856" cy="594360"/>
          </a:xfrm>
          <a:prstGeom prst="rect">
            <a:avLst/>
          </a:prstGeom>
          <a:noFill/>
        </p:spPr>
        <p:txBody>
          <a:bodyPr wrap="square">
            <a:spAutoFit/>
          </a:bodyPr>
          <a:lstStyle/>
          <a:p>
            <a:pPr algn="l"/>
            <a:r>
              <a:rPr sz="1000" b="0" i="0">
                <a:solidFill>
                  <a:srgbClr val="A8D8A8"/>
                </a:solidFill>
                <a:latin typeface="Courier New"/>
              </a:rPr>
              <a:t>click_through_rate     =  clicked_sessions  /  total_sessions
total_llm_revenue      =  sum( llm_payment )
avg_shortlist_relevance=  mean( semantic_match of shortlist offers )</a:t>
            </a:r>
          </a:p>
        </p:txBody>
      </p:sp>
      <p:sp>
        <p:nvSpPr>
          <p:cNvPr id="16" name="TextBox 15"/>
          <p:cNvSpPr txBox="1"/>
          <p:nvPr/>
        </p:nvSpPr>
        <p:spPr>
          <a:xfrm>
            <a:off x="274320" y="3739896"/>
            <a:ext cx="11640312" cy="292608"/>
          </a:xfrm>
          <a:prstGeom prst="rect">
            <a:avLst/>
          </a:prstGeom>
          <a:noFill/>
        </p:spPr>
        <p:txBody>
          <a:bodyPr wrap="square">
            <a:spAutoFit/>
          </a:bodyPr>
          <a:lstStyle/>
          <a:p>
            <a:pPr algn="l"/>
            <a:r>
              <a:rPr sz="1200" b="1" i="0">
                <a:solidFill>
                  <a:srgbClr val="1A2E4A"/>
                </a:solidFill>
                <a:latin typeface="Calibri"/>
              </a:rPr>
              <a:t>Platform metrics</a:t>
            </a:r>
          </a:p>
        </p:txBody>
      </p:sp>
      <p:sp>
        <p:nvSpPr>
          <p:cNvPr id="17" name="Rectangle 16"/>
          <p:cNvSpPr/>
          <p:nvPr/>
        </p:nvSpPr>
        <p:spPr>
          <a:xfrm>
            <a:off x="274320" y="4059936"/>
            <a:ext cx="11640312"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4151376"/>
            <a:ext cx="11420856" cy="457200"/>
          </a:xfrm>
          <a:prstGeom prst="rect">
            <a:avLst/>
          </a:prstGeom>
          <a:noFill/>
        </p:spPr>
        <p:txBody>
          <a:bodyPr wrap="square">
            <a:spAutoFit/>
          </a:bodyPr>
          <a:lstStyle/>
          <a:p>
            <a:pPr algn="l"/>
            <a:r>
              <a:rPr sz="1000" b="0" i="0">
                <a:solidFill>
                  <a:srgbClr val="A8D8A8"/>
                </a:solidFill>
                <a:latin typeface="Courier New"/>
              </a:rPr>
              <a:t>platform_net_revenue   =  sum( platform_net )  per platform
platform_order_share_i =  orders_on_platform_i  /  total_orders</a:t>
            </a:r>
          </a:p>
        </p:txBody>
      </p:sp>
      <p:sp>
        <p:nvSpPr>
          <p:cNvPr id="19" name="TextBox 18"/>
          <p:cNvSpPr txBox="1"/>
          <p:nvPr/>
        </p:nvSpPr>
        <p:spPr>
          <a:xfrm>
            <a:off x="274320" y="4809744"/>
            <a:ext cx="11640312" cy="292608"/>
          </a:xfrm>
          <a:prstGeom prst="rect">
            <a:avLst/>
          </a:prstGeom>
          <a:noFill/>
        </p:spPr>
        <p:txBody>
          <a:bodyPr wrap="square">
            <a:spAutoFit/>
          </a:bodyPr>
          <a:lstStyle/>
          <a:p>
            <a:pPr algn="l"/>
            <a:r>
              <a:rPr sz="1200" b="1" i="0">
                <a:solidFill>
                  <a:srgbClr val="1A2E4A"/>
                </a:solidFill>
                <a:latin typeface="Calibri"/>
              </a:rPr>
              <a:t>Restaurant metrics</a:t>
            </a:r>
          </a:p>
        </p:txBody>
      </p:sp>
      <p:sp>
        <p:nvSpPr>
          <p:cNvPr id="20" name="Rectangle 19"/>
          <p:cNvSpPr/>
          <p:nvPr/>
        </p:nvSpPr>
        <p:spPr>
          <a:xfrm>
            <a:off x="274320" y="5129784"/>
            <a:ext cx="11640312" cy="91440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5221224"/>
            <a:ext cx="11420856" cy="731520"/>
          </a:xfrm>
          <a:prstGeom prst="rect">
            <a:avLst/>
          </a:prstGeom>
          <a:noFill/>
        </p:spPr>
        <p:txBody>
          <a:bodyPr wrap="square">
            <a:spAutoFit/>
          </a:bodyPr>
          <a:lstStyle/>
          <a:p>
            <a:pPr algn="l"/>
            <a:r>
              <a:rPr sz="1000" b="0" i="0">
                <a:solidFill>
                  <a:srgbClr val="A8D8A8"/>
                </a:solidFill>
                <a:latin typeface="Courier New"/>
              </a:rPr>
              <a:t>avg_restaurant_profit  =  mean( restaurant_profit  | purchase )
exposure_gini          =  Gini( restaurant_exposure_counts )
order_gini             =  Gini( restaurant_order_counts )
exposure_HHI           =  sum( restaurant_exposure_share_i ^ 2 )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Experiment 1: No-LLM vs Neutral LLM</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U</a:t>
            </a:r>
          </a:p>
        </p:txBody>
      </p:sp>
      <p:sp>
        <p:nvSpPr>
          <p:cNvPr id="10" name="TextBox 9"/>
          <p:cNvSpPr txBox="1"/>
          <p:nvPr/>
        </p:nvSpPr>
        <p:spPr>
          <a:xfrm>
            <a:off x="274320" y="1051560"/>
            <a:ext cx="11640312" cy="411480"/>
          </a:xfrm>
          <a:prstGeom prst="rect">
            <a:avLst/>
          </a:prstGeom>
          <a:noFill/>
        </p:spPr>
        <p:txBody>
          <a:bodyPr wrap="square">
            <a:spAutoFit/>
          </a:bodyPr>
          <a:lstStyle/>
          <a:p>
            <a:pPr algn="l"/>
            <a:r>
              <a:rPr sz="1200" b="1" i="0">
                <a:solidFill>
                  <a:srgbClr val="1A2E4A"/>
                </a:solidFill>
                <a:latin typeface="Calibri"/>
              </a:rPr>
              <a:t>Question: Does LLM intermediation improve consumer matching relative to fragmented platform search?</a:t>
            </a:r>
          </a:p>
        </p:txBody>
      </p:sp>
      <p:sp>
        <p:nvSpPr>
          <p:cNvPr id="11" name="Rectangle 10"/>
          <p:cNvSpPr/>
          <p:nvPr/>
        </p:nvSpPr>
        <p:spPr>
          <a:xfrm>
            <a:off x="274320" y="1572768"/>
            <a:ext cx="5669280" cy="438912"/>
          </a:xfrm>
          <a:prstGeom prst="rect">
            <a:avLst/>
          </a:prstGeom>
          <a:solidFill>
            <a:srgbClr val="888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627632"/>
            <a:ext cx="5486400" cy="347472"/>
          </a:xfrm>
          <a:prstGeom prst="rect">
            <a:avLst/>
          </a:prstGeom>
          <a:noFill/>
        </p:spPr>
        <p:txBody>
          <a:bodyPr wrap="square">
            <a:spAutoFit/>
          </a:bodyPr>
          <a:lstStyle/>
          <a:p>
            <a:pPr algn="l"/>
            <a:r>
              <a:rPr sz="1400" b="1" i="0">
                <a:solidFill>
                  <a:srgbClr val="FFFFFF"/>
                </a:solidFill>
                <a:latin typeface="Calibri"/>
              </a:rPr>
              <a:t>Scenario 1 — No-LLM</a:t>
            </a:r>
          </a:p>
        </p:txBody>
      </p:sp>
      <p:sp>
        <p:nvSpPr>
          <p:cNvPr id="13" name="Rectangle 12"/>
          <p:cNvSpPr/>
          <p:nvPr/>
        </p:nvSpPr>
        <p:spPr>
          <a:xfrm>
            <a:off x="274320" y="2011680"/>
            <a:ext cx="5669280" cy="10058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4048" y="2103120"/>
            <a:ext cx="5449824" cy="822960"/>
          </a:xfrm>
          <a:prstGeom prst="rect">
            <a:avLst/>
          </a:prstGeom>
          <a:noFill/>
        </p:spPr>
        <p:txBody>
          <a:bodyPr wrap="square">
            <a:spAutoFit/>
          </a:bodyPr>
          <a:lstStyle/>
          <a:p>
            <a:pPr algn="l"/>
            <a:r>
              <a:rPr sz="1000" b="0" i="0">
                <a:solidFill>
                  <a:srgbClr val="A8D8A8"/>
                </a:solidFill>
                <a:latin typeface="Courier New"/>
              </a:rPr>
              <a:t>Consumers open 2 highest-loyalty platforms.
Cuisine filter applied within each platform.
Platform-internal ranking (quality, commission, promo, sponsored).
MNL choice from visible offers + outside option.</a:t>
            </a:r>
          </a:p>
        </p:txBody>
      </p:sp>
      <p:sp>
        <p:nvSpPr>
          <p:cNvPr id="15" name="Rectangle 14"/>
          <p:cNvSpPr/>
          <p:nvPr/>
        </p:nvSpPr>
        <p:spPr>
          <a:xfrm>
            <a:off x="6245352" y="1572768"/>
            <a:ext cx="5669280" cy="438912"/>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36792" y="1627632"/>
            <a:ext cx="5486400" cy="347472"/>
          </a:xfrm>
          <a:prstGeom prst="rect">
            <a:avLst/>
          </a:prstGeom>
          <a:noFill/>
        </p:spPr>
        <p:txBody>
          <a:bodyPr wrap="square">
            <a:spAutoFit/>
          </a:bodyPr>
          <a:lstStyle/>
          <a:p>
            <a:pPr algn="l"/>
            <a:r>
              <a:rPr sz="1400" b="1" i="0">
                <a:solidFill>
                  <a:srgbClr val="FFFFFF"/>
                </a:solidFill>
                <a:latin typeface="Calibri"/>
              </a:rPr>
              <a:t>Scenario 2 — LLM Neutral</a:t>
            </a:r>
          </a:p>
        </p:txBody>
      </p:sp>
      <p:sp>
        <p:nvSpPr>
          <p:cNvPr id="17" name="Rectangle 16"/>
          <p:cNvSpPr/>
          <p:nvPr/>
        </p:nvSpPr>
        <p:spPr>
          <a:xfrm>
            <a:off x="6245352" y="2011680"/>
            <a:ext cx="5669280" cy="100584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2103120"/>
            <a:ext cx="5449824" cy="822960"/>
          </a:xfrm>
          <a:prstGeom prst="rect">
            <a:avLst/>
          </a:prstGeom>
          <a:noFill/>
        </p:spPr>
        <p:txBody>
          <a:bodyPr wrap="square">
            <a:spAutoFit/>
          </a:bodyPr>
          <a:lstStyle/>
          <a:p>
            <a:pPr algn="l"/>
            <a:r>
              <a:rPr sz="1000" b="0" i="0">
                <a:solidFill>
                  <a:srgbClr val="A8D8A8"/>
                </a:solidFill>
                <a:latin typeface="Courier New"/>
              </a:rPr>
              <a:t>LLM receives consumer intent (cuisine, budget, time).
LLM scores all offers across all 3 platforms.
No sponsorship bias (bias_strength = 0).
Top-5 shortlist → MNL click → MNL purchase.</a:t>
            </a:r>
          </a:p>
        </p:txBody>
      </p:sp>
      <p:sp>
        <p:nvSpPr>
          <p:cNvPr id="19" name="TextBox 18"/>
          <p:cNvSpPr txBox="1"/>
          <p:nvPr/>
        </p:nvSpPr>
        <p:spPr>
          <a:xfrm>
            <a:off x="274320" y="3127248"/>
            <a:ext cx="11640312" cy="292608"/>
          </a:xfrm>
          <a:prstGeom prst="rect">
            <a:avLst/>
          </a:prstGeom>
          <a:noFill/>
        </p:spPr>
        <p:txBody>
          <a:bodyPr wrap="square">
            <a:spAutoFit/>
          </a:bodyPr>
          <a:lstStyle/>
          <a:p>
            <a:pPr algn="l"/>
            <a:r>
              <a:rPr sz="1200" b="1" i="0">
                <a:solidFill>
                  <a:srgbClr val="1A2E4A"/>
                </a:solidFill>
                <a:latin typeface="Calibri"/>
              </a:rPr>
              <a:t>Fixed parameters</a:t>
            </a:r>
          </a:p>
        </p:txBody>
      </p:sp>
      <p:sp>
        <p:nvSpPr>
          <p:cNvPr id="20" name="Rectangle 19"/>
          <p:cNvSpPr/>
          <p:nvPr/>
        </p:nvSpPr>
        <p:spPr>
          <a:xfrm>
            <a:off x="274320" y="3447288"/>
            <a:ext cx="11640312"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3538728"/>
            <a:ext cx="11420856" cy="182880"/>
          </a:xfrm>
          <a:prstGeom prst="rect">
            <a:avLst/>
          </a:prstGeom>
          <a:noFill/>
        </p:spPr>
        <p:txBody>
          <a:bodyPr wrap="square">
            <a:spAutoFit/>
          </a:bodyPr>
          <a:lstStyle/>
          <a:p>
            <a:pPr algn="l"/>
            <a:r>
              <a:rPr sz="1000" b="0" i="0">
                <a:solidFill>
                  <a:srgbClr val="A8D8A8"/>
                </a:solidFill>
                <a:latin typeface="Courier New"/>
              </a:rPr>
              <a:t>N_RUNS = 10     N_CONSUMERS = 1,000     bias_strength = 0.0</a:t>
            </a:r>
          </a:p>
        </p:txBody>
      </p:sp>
      <p:sp>
        <p:nvSpPr>
          <p:cNvPr id="22" name="TextBox 21"/>
          <p:cNvSpPr txBox="1"/>
          <p:nvPr/>
        </p:nvSpPr>
        <p:spPr>
          <a:xfrm>
            <a:off x="274320" y="3931920"/>
            <a:ext cx="11640312" cy="292608"/>
          </a:xfrm>
          <a:prstGeom prst="rect">
            <a:avLst/>
          </a:prstGeom>
          <a:noFill/>
        </p:spPr>
        <p:txBody>
          <a:bodyPr wrap="square">
            <a:spAutoFit/>
          </a:bodyPr>
          <a:lstStyle/>
          <a:p>
            <a:pPr algn="l"/>
            <a:r>
              <a:rPr sz="1200" b="1" i="0">
                <a:solidFill>
                  <a:srgbClr val="1A2E4A"/>
                </a:solidFill>
                <a:latin typeface="Calibri"/>
              </a:rPr>
              <a:t>Main comparisons</a:t>
            </a:r>
          </a:p>
        </p:txBody>
      </p:sp>
      <p:sp>
        <p:nvSpPr>
          <p:cNvPr id="23" name="Rectangle 22"/>
          <p:cNvSpPr/>
          <p:nvPr/>
        </p:nvSpPr>
        <p:spPr>
          <a:xfrm>
            <a:off x="274320" y="4251960"/>
            <a:ext cx="32004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9184" y="4288536"/>
            <a:ext cx="3090672" cy="292608"/>
          </a:xfrm>
          <a:prstGeom prst="rect">
            <a:avLst/>
          </a:prstGeom>
          <a:noFill/>
        </p:spPr>
        <p:txBody>
          <a:bodyPr wrap="square">
            <a:spAutoFit/>
          </a:bodyPr>
          <a:lstStyle/>
          <a:p>
            <a:pPr algn="ctr"/>
            <a:r>
              <a:rPr sz="1100" b="1" i="0">
                <a:solidFill>
                  <a:srgbClr val="FFFFFF"/>
                </a:solidFill>
                <a:latin typeface="Calibri"/>
              </a:rPr>
              <a:t>Metric</a:t>
            </a:r>
          </a:p>
        </p:txBody>
      </p:sp>
      <p:sp>
        <p:nvSpPr>
          <p:cNvPr id="25" name="Rectangle 24"/>
          <p:cNvSpPr/>
          <p:nvPr/>
        </p:nvSpPr>
        <p:spPr>
          <a:xfrm>
            <a:off x="3474720" y="4251960"/>
            <a:ext cx="22860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529584" y="4288536"/>
            <a:ext cx="2176272" cy="292608"/>
          </a:xfrm>
          <a:prstGeom prst="rect">
            <a:avLst/>
          </a:prstGeom>
          <a:noFill/>
        </p:spPr>
        <p:txBody>
          <a:bodyPr wrap="square">
            <a:spAutoFit/>
          </a:bodyPr>
          <a:lstStyle/>
          <a:p>
            <a:pPr algn="ctr"/>
            <a:r>
              <a:rPr sz="1100" b="1" i="0">
                <a:solidFill>
                  <a:srgbClr val="FFFFFF"/>
                </a:solidFill>
                <a:latin typeface="Calibri"/>
              </a:rPr>
              <a:t>No-LLM</a:t>
            </a:r>
          </a:p>
        </p:txBody>
      </p:sp>
      <p:sp>
        <p:nvSpPr>
          <p:cNvPr id="27" name="Rectangle 26"/>
          <p:cNvSpPr/>
          <p:nvPr/>
        </p:nvSpPr>
        <p:spPr>
          <a:xfrm>
            <a:off x="5760720" y="4251960"/>
            <a:ext cx="22860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15584" y="4288536"/>
            <a:ext cx="2176272" cy="292608"/>
          </a:xfrm>
          <a:prstGeom prst="rect">
            <a:avLst/>
          </a:prstGeom>
          <a:noFill/>
        </p:spPr>
        <p:txBody>
          <a:bodyPr wrap="square">
            <a:spAutoFit/>
          </a:bodyPr>
          <a:lstStyle/>
          <a:p>
            <a:pPr algn="ctr"/>
            <a:r>
              <a:rPr sz="1100" b="1" i="0">
                <a:solidFill>
                  <a:srgbClr val="FFFFFF"/>
                </a:solidFill>
                <a:latin typeface="Calibri"/>
              </a:rPr>
              <a:t>LLM Neutral</a:t>
            </a:r>
          </a:p>
        </p:txBody>
      </p:sp>
      <p:sp>
        <p:nvSpPr>
          <p:cNvPr id="29" name="Rectangle 28"/>
          <p:cNvSpPr/>
          <p:nvPr/>
        </p:nvSpPr>
        <p:spPr>
          <a:xfrm>
            <a:off x="8046720" y="4251960"/>
            <a:ext cx="13716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01584" y="4288536"/>
            <a:ext cx="1261872" cy="292608"/>
          </a:xfrm>
          <a:prstGeom prst="rect">
            <a:avLst/>
          </a:prstGeom>
          <a:noFill/>
        </p:spPr>
        <p:txBody>
          <a:bodyPr wrap="square">
            <a:spAutoFit/>
          </a:bodyPr>
          <a:lstStyle/>
          <a:p>
            <a:pPr algn="ctr"/>
            <a:r>
              <a:rPr sz="1100" b="1" i="0">
                <a:solidFill>
                  <a:srgbClr val="FFFFFF"/>
                </a:solidFill>
                <a:latin typeface="Calibri"/>
              </a:rPr>
              <a:t>Change</a:t>
            </a:r>
          </a:p>
        </p:txBody>
      </p:sp>
      <p:sp>
        <p:nvSpPr>
          <p:cNvPr id="31" name="Rectangle 30"/>
          <p:cNvSpPr/>
          <p:nvPr/>
        </p:nvSpPr>
        <p:spPr>
          <a:xfrm>
            <a:off x="9418320" y="4251960"/>
            <a:ext cx="2496312"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73184" y="4288536"/>
            <a:ext cx="2386584" cy="292608"/>
          </a:xfrm>
          <a:prstGeom prst="rect">
            <a:avLst/>
          </a:prstGeom>
          <a:noFill/>
        </p:spPr>
        <p:txBody>
          <a:bodyPr wrap="square">
            <a:spAutoFit/>
          </a:bodyPr>
          <a:lstStyle/>
          <a:p>
            <a:pPr algn="ctr"/>
            <a:r>
              <a:rPr sz="1100" b="1" i="0">
                <a:solidFill>
                  <a:srgbClr val="FFFFFF"/>
                </a:solidFill>
                <a:latin typeface="Calibri"/>
              </a:rPr>
              <a:t>Interpretation</a:t>
            </a:r>
          </a:p>
        </p:txBody>
      </p:sp>
      <p:sp>
        <p:nvSpPr>
          <p:cNvPr id="33" name="Rectangle 32"/>
          <p:cNvSpPr/>
          <p:nvPr/>
        </p:nvSpPr>
        <p:spPr>
          <a:xfrm>
            <a:off x="274320" y="4617720"/>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29184" y="4654296"/>
            <a:ext cx="3090672" cy="310896"/>
          </a:xfrm>
          <a:prstGeom prst="rect">
            <a:avLst/>
          </a:prstGeom>
          <a:noFill/>
        </p:spPr>
        <p:txBody>
          <a:bodyPr wrap="square">
            <a:spAutoFit/>
          </a:bodyPr>
          <a:lstStyle/>
          <a:p>
            <a:pPr algn="ctr"/>
            <a:r>
              <a:rPr sz="1000" b="0" i="0">
                <a:solidFill>
                  <a:srgbClr val="222233"/>
                </a:solidFill>
                <a:latin typeface="Calibri"/>
              </a:rPr>
              <a:t>Intent fulfilment</a:t>
            </a:r>
          </a:p>
        </p:txBody>
      </p:sp>
      <p:sp>
        <p:nvSpPr>
          <p:cNvPr id="35" name="Rectangle 34"/>
          <p:cNvSpPr/>
          <p:nvPr/>
        </p:nvSpPr>
        <p:spPr>
          <a:xfrm>
            <a:off x="3474720" y="4617720"/>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529584" y="4654296"/>
            <a:ext cx="2176272" cy="310896"/>
          </a:xfrm>
          <a:prstGeom prst="rect">
            <a:avLst/>
          </a:prstGeom>
          <a:noFill/>
        </p:spPr>
        <p:txBody>
          <a:bodyPr wrap="square">
            <a:spAutoFit/>
          </a:bodyPr>
          <a:lstStyle/>
          <a:p>
            <a:pPr algn="ctr"/>
            <a:r>
              <a:rPr sz="1000" b="0" i="0">
                <a:solidFill>
                  <a:srgbClr val="222233"/>
                </a:solidFill>
                <a:latin typeface="Calibri"/>
              </a:rPr>
              <a:t>0.683</a:t>
            </a:r>
          </a:p>
        </p:txBody>
      </p:sp>
      <p:sp>
        <p:nvSpPr>
          <p:cNvPr id="37" name="Rectangle 36"/>
          <p:cNvSpPr/>
          <p:nvPr/>
        </p:nvSpPr>
        <p:spPr>
          <a:xfrm>
            <a:off x="5760720" y="4617720"/>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815584" y="4654296"/>
            <a:ext cx="2176272" cy="310896"/>
          </a:xfrm>
          <a:prstGeom prst="rect">
            <a:avLst/>
          </a:prstGeom>
          <a:noFill/>
        </p:spPr>
        <p:txBody>
          <a:bodyPr wrap="square">
            <a:spAutoFit/>
          </a:bodyPr>
          <a:lstStyle/>
          <a:p>
            <a:pPr algn="ctr"/>
            <a:r>
              <a:rPr sz="1000" b="0" i="0">
                <a:solidFill>
                  <a:srgbClr val="222233"/>
                </a:solidFill>
                <a:latin typeface="Calibri"/>
              </a:rPr>
              <a:t>0.747</a:t>
            </a:r>
          </a:p>
        </p:txBody>
      </p:sp>
      <p:sp>
        <p:nvSpPr>
          <p:cNvPr id="39" name="Rectangle 38"/>
          <p:cNvSpPr/>
          <p:nvPr/>
        </p:nvSpPr>
        <p:spPr>
          <a:xfrm>
            <a:off x="8046720" y="4617720"/>
            <a:ext cx="13716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01584" y="4654296"/>
            <a:ext cx="1261872" cy="310896"/>
          </a:xfrm>
          <a:prstGeom prst="rect">
            <a:avLst/>
          </a:prstGeom>
          <a:noFill/>
        </p:spPr>
        <p:txBody>
          <a:bodyPr wrap="square">
            <a:spAutoFit/>
          </a:bodyPr>
          <a:lstStyle/>
          <a:p>
            <a:pPr algn="ctr"/>
            <a:r>
              <a:rPr sz="1000" b="0" i="0">
                <a:solidFill>
                  <a:srgbClr val="222233"/>
                </a:solidFill>
                <a:latin typeface="Calibri"/>
              </a:rPr>
              <a:t>+9.3%</a:t>
            </a:r>
          </a:p>
        </p:txBody>
      </p:sp>
      <p:sp>
        <p:nvSpPr>
          <p:cNvPr id="41" name="Rectangle 40"/>
          <p:cNvSpPr/>
          <p:nvPr/>
        </p:nvSpPr>
        <p:spPr>
          <a:xfrm>
            <a:off x="9418320" y="4617720"/>
            <a:ext cx="249631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473184" y="4654296"/>
            <a:ext cx="2386584" cy="310896"/>
          </a:xfrm>
          <a:prstGeom prst="rect">
            <a:avLst/>
          </a:prstGeom>
          <a:noFill/>
        </p:spPr>
        <p:txBody>
          <a:bodyPr wrap="square">
            <a:spAutoFit/>
          </a:bodyPr>
          <a:lstStyle/>
          <a:p>
            <a:pPr algn="ctr"/>
            <a:r>
              <a:rPr sz="1000" b="0" i="0">
                <a:solidFill>
                  <a:srgbClr val="222233"/>
                </a:solidFill>
                <a:latin typeface="Calibri"/>
              </a:rPr>
              <a:t>Match quality rises</a:t>
            </a:r>
          </a:p>
        </p:txBody>
      </p:sp>
      <p:sp>
        <p:nvSpPr>
          <p:cNvPr id="43" name="Rectangle 42"/>
          <p:cNvSpPr/>
          <p:nvPr/>
        </p:nvSpPr>
        <p:spPr>
          <a:xfrm>
            <a:off x="274320" y="5001768"/>
            <a:ext cx="32004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29184" y="5038344"/>
            <a:ext cx="3090672" cy="310896"/>
          </a:xfrm>
          <a:prstGeom prst="rect">
            <a:avLst/>
          </a:prstGeom>
          <a:noFill/>
        </p:spPr>
        <p:txBody>
          <a:bodyPr wrap="square">
            <a:spAutoFit/>
          </a:bodyPr>
          <a:lstStyle/>
          <a:p>
            <a:pPr algn="ctr"/>
            <a:r>
              <a:rPr sz="1000" b="0" i="0">
                <a:solidFill>
                  <a:srgbClr val="222233"/>
                </a:solidFill>
                <a:latin typeface="Calibri"/>
              </a:rPr>
              <a:t>Conversion rate</a:t>
            </a:r>
          </a:p>
        </p:txBody>
      </p:sp>
      <p:sp>
        <p:nvSpPr>
          <p:cNvPr id="45" name="Rectangle 44"/>
          <p:cNvSpPr/>
          <p:nvPr/>
        </p:nvSpPr>
        <p:spPr>
          <a:xfrm>
            <a:off x="3474720" y="5001768"/>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529584" y="5038344"/>
            <a:ext cx="2176272" cy="310896"/>
          </a:xfrm>
          <a:prstGeom prst="rect">
            <a:avLst/>
          </a:prstGeom>
          <a:noFill/>
        </p:spPr>
        <p:txBody>
          <a:bodyPr wrap="square">
            <a:spAutoFit/>
          </a:bodyPr>
          <a:lstStyle/>
          <a:p>
            <a:pPr algn="ctr"/>
            <a:r>
              <a:rPr sz="1000" b="0" i="0">
                <a:solidFill>
                  <a:srgbClr val="222233"/>
                </a:solidFill>
                <a:latin typeface="Calibri"/>
              </a:rPr>
              <a:t>80.4%</a:t>
            </a:r>
          </a:p>
        </p:txBody>
      </p:sp>
      <p:sp>
        <p:nvSpPr>
          <p:cNvPr id="47" name="Rectangle 46"/>
          <p:cNvSpPr/>
          <p:nvPr/>
        </p:nvSpPr>
        <p:spPr>
          <a:xfrm>
            <a:off x="5760720" y="5001768"/>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815584" y="5038344"/>
            <a:ext cx="2176272" cy="310896"/>
          </a:xfrm>
          <a:prstGeom prst="rect">
            <a:avLst/>
          </a:prstGeom>
          <a:noFill/>
        </p:spPr>
        <p:txBody>
          <a:bodyPr wrap="square">
            <a:spAutoFit/>
          </a:bodyPr>
          <a:lstStyle/>
          <a:p>
            <a:pPr algn="ctr"/>
            <a:r>
              <a:rPr sz="1000" b="0" i="0">
                <a:solidFill>
                  <a:srgbClr val="222233"/>
                </a:solidFill>
                <a:latin typeface="Calibri"/>
              </a:rPr>
              <a:t>81.6%</a:t>
            </a:r>
          </a:p>
        </p:txBody>
      </p:sp>
      <p:sp>
        <p:nvSpPr>
          <p:cNvPr id="49" name="Rectangle 48"/>
          <p:cNvSpPr/>
          <p:nvPr/>
        </p:nvSpPr>
        <p:spPr>
          <a:xfrm>
            <a:off x="8046720" y="5001768"/>
            <a:ext cx="13716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101584" y="5038344"/>
            <a:ext cx="1261872" cy="310896"/>
          </a:xfrm>
          <a:prstGeom prst="rect">
            <a:avLst/>
          </a:prstGeom>
          <a:noFill/>
        </p:spPr>
        <p:txBody>
          <a:bodyPr wrap="square">
            <a:spAutoFit/>
          </a:bodyPr>
          <a:lstStyle/>
          <a:p>
            <a:pPr algn="ctr"/>
            <a:r>
              <a:rPr sz="1000" b="0" i="0">
                <a:solidFill>
                  <a:srgbClr val="222233"/>
                </a:solidFill>
                <a:latin typeface="Calibri"/>
              </a:rPr>
              <a:t>+1.2pp</a:t>
            </a:r>
          </a:p>
        </p:txBody>
      </p:sp>
      <p:sp>
        <p:nvSpPr>
          <p:cNvPr id="51" name="Rectangle 50"/>
          <p:cNvSpPr/>
          <p:nvPr/>
        </p:nvSpPr>
        <p:spPr>
          <a:xfrm>
            <a:off x="9418320" y="5001768"/>
            <a:ext cx="249631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473184" y="5038344"/>
            <a:ext cx="2386584" cy="310896"/>
          </a:xfrm>
          <a:prstGeom prst="rect">
            <a:avLst/>
          </a:prstGeom>
          <a:noFill/>
        </p:spPr>
        <p:txBody>
          <a:bodyPr wrap="square">
            <a:spAutoFit/>
          </a:bodyPr>
          <a:lstStyle/>
          <a:p>
            <a:pPr algn="ctr"/>
            <a:r>
              <a:rPr sz="1000" b="0" i="0">
                <a:solidFill>
                  <a:srgbClr val="222233"/>
                </a:solidFill>
                <a:latin typeface="Calibri"/>
              </a:rPr>
              <a:t>More purchases</a:t>
            </a:r>
          </a:p>
        </p:txBody>
      </p:sp>
      <p:sp>
        <p:nvSpPr>
          <p:cNvPr id="53" name="Rectangle 52"/>
          <p:cNvSpPr/>
          <p:nvPr/>
        </p:nvSpPr>
        <p:spPr>
          <a:xfrm>
            <a:off x="274320" y="5385816"/>
            <a:ext cx="32004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29184" y="5422392"/>
            <a:ext cx="3090672" cy="310896"/>
          </a:xfrm>
          <a:prstGeom prst="rect">
            <a:avLst/>
          </a:prstGeom>
          <a:noFill/>
        </p:spPr>
        <p:txBody>
          <a:bodyPr wrap="square">
            <a:spAutoFit/>
          </a:bodyPr>
          <a:lstStyle/>
          <a:p>
            <a:pPr algn="ctr"/>
            <a:r>
              <a:rPr sz="1000" b="0" i="0">
                <a:solidFill>
                  <a:srgbClr val="222233"/>
                </a:solidFill>
                <a:latin typeface="Calibri"/>
              </a:rPr>
              <a:t>Avg price paid</a:t>
            </a:r>
          </a:p>
        </p:txBody>
      </p:sp>
      <p:sp>
        <p:nvSpPr>
          <p:cNvPr id="55" name="Rectangle 54"/>
          <p:cNvSpPr/>
          <p:nvPr/>
        </p:nvSpPr>
        <p:spPr>
          <a:xfrm>
            <a:off x="3474720" y="5385816"/>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529584" y="5422392"/>
            <a:ext cx="2176272" cy="310896"/>
          </a:xfrm>
          <a:prstGeom prst="rect">
            <a:avLst/>
          </a:prstGeom>
          <a:noFill/>
        </p:spPr>
        <p:txBody>
          <a:bodyPr wrap="square">
            <a:spAutoFit/>
          </a:bodyPr>
          <a:lstStyle/>
          <a:p>
            <a:pPr algn="ctr"/>
            <a:r>
              <a:rPr sz="1000" b="0" i="0">
                <a:solidFill>
                  <a:srgbClr val="222233"/>
                </a:solidFill>
                <a:latin typeface="Calibri"/>
              </a:rPr>
              <a:t>$34.19</a:t>
            </a:r>
          </a:p>
        </p:txBody>
      </p:sp>
      <p:sp>
        <p:nvSpPr>
          <p:cNvPr id="57" name="Rectangle 56"/>
          <p:cNvSpPr/>
          <p:nvPr/>
        </p:nvSpPr>
        <p:spPr>
          <a:xfrm>
            <a:off x="5760720" y="5385816"/>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815584" y="5422392"/>
            <a:ext cx="2176272" cy="310896"/>
          </a:xfrm>
          <a:prstGeom prst="rect">
            <a:avLst/>
          </a:prstGeom>
          <a:noFill/>
        </p:spPr>
        <p:txBody>
          <a:bodyPr wrap="square">
            <a:spAutoFit/>
          </a:bodyPr>
          <a:lstStyle/>
          <a:p>
            <a:pPr algn="ctr"/>
            <a:r>
              <a:rPr sz="1000" b="0" i="0">
                <a:solidFill>
                  <a:srgbClr val="222233"/>
                </a:solidFill>
                <a:latin typeface="Calibri"/>
              </a:rPr>
              <a:t>$32.48</a:t>
            </a:r>
          </a:p>
        </p:txBody>
      </p:sp>
      <p:sp>
        <p:nvSpPr>
          <p:cNvPr id="59" name="Rectangle 58"/>
          <p:cNvSpPr/>
          <p:nvPr/>
        </p:nvSpPr>
        <p:spPr>
          <a:xfrm>
            <a:off x="8046720" y="5385816"/>
            <a:ext cx="13716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8101584" y="5422392"/>
            <a:ext cx="1261872" cy="310896"/>
          </a:xfrm>
          <a:prstGeom prst="rect">
            <a:avLst/>
          </a:prstGeom>
          <a:noFill/>
        </p:spPr>
        <p:txBody>
          <a:bodyPr wrap="square">
            <a:spAutoFit/>
          </a:bodyPr>
          <a:lstStyle/>
          <a:p>
            <a:pPr algn="ctr"/>
            <a:r>
              <a:rPr sz="1000" b="0" i="0">
                <a:solidFill>
                  <a:srgbClr val="222233"/>
                </a:solidFill>
                <a:latin typeface="Calibri"/>
              </a:rPr>
              <a:t>-$1.71</a:t>
            </a:r>
          </a:p>
        </p:txBody>
      </p:sp>
      <p:sp>
        <p:nvSpPr>
          <p:cNvPr id="61" name="Rectangle 60"/>
          <p:cNvSpPr/>
          <p:nvPr/>
        </p:nvSpPr>
        <p:spPr>
          <a:xfrm>
            <a:off x="9418320" y="5385816"/>
            <a:ext cx="249631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9473184" y="5422392"/>
            <a:ext cx="2386584" cy="310896"/>
          </a:xfrm>
          <a:prstGeom prst="rect">
            <a:avLst/>
          </a:prstGeom>
          <a:noFill/>
        </p:spPr>
        <p:txBody>
          <a:bodyPr wrap="square">
            <a:spAutoFit/>
          </a:bodyPr>
          <a:lstStyle/>
          <a:p>
            <a:pPr algn="ctr"/>
            <a:r>
              <a:rPr sz="1000" b="0" i="0">
                <a:solidFill>
                  <a:srgbClr val="222233"/>
                </a:solidFill>
                <a:latin typeface="Calibri"/>
              </a:rPr>
              <a:t>Cheaper matches</a:t>
            </a:r>
          </a:p>
        </p:txBody>
      </p:sp>
      <p:sp>
        <p:nvSpPr>
          <p:cNvPr id="63" name="Rectangle 62"/>
          <p:cNvSpPr/>
          <p:nvPr/>
        </p:nvSpPr>
        <p:spPr>
          <a:xfrm>
            <a:off x="274320" y="5769864"/>
            <a:ext cx="32004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29184" y="5806440"/>
            <a:ext cx="3090672" cy="310896"/>
          </a:xfrm>
          <a:prstGeom prst="rect">
            <a:avLst/>
          </a:prstGeom>
          <a:noFill/>
        </p:spPr>
        <p:txBody>
          <a:bodyPr wrap="square">
            <a:spAutoFit/>
          </a:bodyPr>
          <a:lstStyle/>
          <a:p>
            <a:pPr algn="ctr"/>
            <a:r>
              <a:rPr sz="1000" b="0" i="0">
                <a:solidFill>
                  <a:srgbClr val="222233"/>
                </a:solidFill>
                <a:latin typeface="Calibri"/>
              </a:rPr>
              <a:t>Platform net rev.</a:t>
            </a:r>
          </a:p>
        </p:txBody>
      </p:sp>
      <p:sp>
        <p:nvSpPr>
          <p:cNvPr id="65" name="Rectangle 64"/>
          <p:cNvSpPr/>
          <p:nvPr/>
        </p:nvSpPr>
        <p:spPr>
          <a:xfrm>
            <a:off x="3474720" y="5769864"/>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529584" y="5806440"/>
            <a:ext cx="2176272" cy="310896"/>
          </a:xfrm>
          <a:prstGeom prst="rect">
            <a:avLst/>
          </a:prstGeom>
          <a:noFill/>
        </p:spPr>
        <p:txBody>
          <a:bodyPr wrap="square">
            <a:spAutoFit/>
          </a:bodyPr>
          <a:lstStyle/>
          <a:p>
            <a:pPr algn="ctr"/>
            <a:r>
              <a:rPr sz="1000" b="0" i="0">
                <a:solidFill>
                  <a:srgbClr val="222233"/>
                </a:solidFill>
                <a:latin typeface="Calibri"/>
              </a:rPr>
              <a:t>$69,366</a:t>
            </a:r>
          </a:p>
        </p:txBody>
      </p:sp>
      <p:sp>
        <p:nvSpPr>
          <p:cNvPr id="67" name="Rectangle 66"/>
          <p:cNvSpPr/>
          <p:nvPr/>
        </p:nvSpPr>
        <p:spPr>
          <a:xfrm>
            <a:off x="5760720" y="5769864"/>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815584" y="5806440"/>
            <a:ext cx="2176272" cy="310896"/>
          </a:xfrm>
          <a:prstGeom prst="rect">
            <a:avLst/>
          </a:prstGeom>
          <a:noFill/>
        </p:spPr>
        <p:txBody>
          <a:bodyPr wrap="square">
            <a:spAutoFit/>
          </a:bodyPr>
          <a:lstStyle/>
          <a:p>
            <a:pPr algn="ctr"/>
            <a:r>
              <a:rPr sz="1000" b="0" i="0">
                <a:solidFill>
                  <a:srgbClr val="222233"/>
                </a:solidFill>
                <a:latin typeface="Calibri"/>
              </a:rPr>
              <a:t>$67,884</a:t>
            </a:r>
          </a:p>
        </p:txBody>
      </p:sp>
      <p:sp>
        <p:nvSpPr>
          <p:cNvPr id="69" name="Rectangle 68"/>
          <p:cNvSpPr/>
          <p:nvPr/>
        </p:nvSpPr>
        <p:spPr>
          <a:xfrm>
            <a:off x="8046720" y="5769864"/>
            <a:ext cx="13716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101584" y="5806440"/>
            <a:ext cx="1261872" cy="310896"/>
          </a:xfrm>
          <a:prstGeom prst="rect">
            <a:avLst/>
          </a:prstGeom>
          <a:noFill/>
        </p:spPr>
        <p:txBody>
          <a:bodyPr wrap="square">
            <a:spAutoFit/>
          </a:bodyPr>
          <a:lstStyle/>
          <a:p>
            <a:pPr algn="ctr"/>
            <a:r>
              <a:rPr sz="1000" b="0" i="0">
                <a:solidFill>
                  <a:srgbClr val="222233"/>
                </a:solidFill>
                <a:latin typeface="Calibri"/>
              </a:rPr>
              <a:t>-2.1%</a:t>
            </a:r>
          </a:p>
        </p:txBody>
      </p:sp>
      <p:sp>
        <p:nvSpPr>
          <p:cNvPr id="71" name="Rectangle 70"/>
          <p:cNvSpPr/>
          <p:nvPr/>
        </p:nvSpPr>
        <p:spPr>
          <a:xfrm>
            <a:off x="9418320" y="5769864"/>
            <a:ext cx="249631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473184" y="5806440"/>
            <a:ext cx="2386584" cy="310896"/>
          </a:xfrm>
          <a:prstGeom prst="rect">
            <a:avLst/>
          </a:prstGeom>
          <a:noFill/>
        </p:spPr>
        <p:txBody>
          <a:bodyPr wrap="square">
            <a:spAutoFit/>
          </a:bodyPr>
          <a:lstStyle/>
          <a:p>
            <a:pPr algn="ctr"/>
            <a:r>
              <a:rPr sz="1000" b="0" i="0">
                <a:solidFill>
                  <a:srgbClr val="222233"/>
                </a:solidFill>
                <a:latin typeface="Calibri"/>
              </a:rPr>
              <a:t>Platform surplus falls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Experiment 2: Monetisation Mechanisms</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V</a:t>
            </a:r>
          </a:p>
        </p:txBody>
      </p:sp>
      <p:sp>
        <p:nvSpPr>
          <p:cNvPr id="10" name="TextBox 9"/>
          <p:cNvSpPr txBox="1"/>
          <p:nvPr/>
        </p:nvSpPr>
        <p:spPr>
          <a:xfrm>
            <a:off x="274320" y="1051560"/>
            <a:ext cx="11640312" cy="411480"/>
          </a:xfrm>
          <a:prstGeom prst="rect">
            <a:avLst/>
          </a:prstGeom>
          <a:noFill/>
        </p:spPr>
        <p:txBody>
          <a:bodyPr wrap="square">
            <a:spAutoFit/>
          </a:bodyPr>
          <a:lstStyle/>
          <a:p>
            <a:pPr algn="l"/>
            <a:r>
              <a:rPr sz="1200" b="1" i="0">
                <a:solidFill>
                  <a:srgbClr val="1A2E4A"/>
                </a:solidFill>
                <a:latin typeface="Calibri"/>
              </a:rPr>
              <a:t>Question: How do payment rules affect consumer welfare, platform revenue, and market concentration?</a:t>
            </a:r>
          </a:p>
        </p:txBody>
      </p:sp>
      <p:sp>
        <p:nvSpPr>
          <p:cNvPr id="11" name="Rectangle 10"/>
          <p:cNvSpPr/>
          <p:nvPr/>
        </p:nvSpPr>
        <p:spPr>
          <a:xfrm>
            <a:off x="274320" y="1572768"/>
            <a:ext cx="2834640" cy="438912"/>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38328" y="1627632"/>
            <a:ext cx="2706624" cy="347472"/>
          </a:xfrm>
          <a:prstGeom prst="rect">
            <a:avLst/>
          </a:prstGeom>
          <a:noFill/>
        </p:spPr>
        <p:txBody>
          <a:bodyPr wrap="square">
            <a:spAutoFit/>
          </a:bodyPr>
          <a:lstStyle/>
          <a:p>
            <a:pPr algn="l"/>
            <a:r>
              <a:rPr sz="1500" b="1" i="0">
                <a:solidFill>
                  <a:srgbClr val="FFFFFF"/>
                </a:solidFill>
                <a:latin typeface="Calibri"/>
              </a:rPr>
              <a:t>Neutral</a:t>
            </a:r>
          </a:p>
        </p:txBody>
      </p:sp>
      <p:sp>
        <p:nvSpPr>
          <p:cNvPr id="13" name="Rectangle 12"/>
          <p:cNvSpPr/>
          <p:nvPr/>
        </p:nvSpPr>
        <p:spPr>
          <a:xfrm>
            <a:off x="274320" y="2011680"/>
            <a:ext cx="2834640"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4048" y="2103120"/>
            <a:ext cx="2615184" cy="457200"/>
          </a:xfrm>
          <a:prstGeom prst="rect">
            <a:avLst/>
          </a:prstGeom>
          <a:noFill/>
        </p:spPr>
        <p:txBody>
          <a:bodyPr wrap="square">
            <a:spAutoFit/>
          </a:bodyPr>
          <a:lstStyle/>
          <a:p>
            <a:pPr algn="l"/>
            <a:r>
              <a:rPr sz="1000" b="0" i="0">
                <a:solidFill>
                  <a:srgbClr val="A8D8A8"/>
                </a:solidFill>
                <a:latin typeface="Courier New"/>
              </a:rPr>
              <a:t>Trigger:
N/A (baseline)</a:t>
            </a:r>
          </a:p>
        </p:txBody>
      </p:sp>
      <p:sp>
        <p:nvSpPr>
          <p:cNvPr id="15" name="TextBox 14"/>
          <p:cNvSpPr txBox="1"/>
          <p:nvPr/>
        </p:nvSpPr>
        <p:spPr>
          <a:xfrm>
            <a:off x="338328" y="2697480"/>
            <a:ext cx="2706624" cy="411480"/>
          </a:xfrm>
          <a:prstGeom prst="rect">
            <a:avLst/>
          </a:prstGeom>
          <a:noFill/>
        </p:spPr>
        <p:txBody>
          <a:bodyPr wrap="square">
            <a:spAutoFit/>
          </a:bodyPr>
          <a:lstStyle/>
          <a:p>
            <a:pPr algn="l"/>
            <a:r>
              <a:rPr sz="1100" b="0" i="0">
                <a:solidFill>
                  <a:srgbClr val="222233"/>
                </a:solidFill>
                <a:latin typeface="Calibri"/>
              </a:rPr>
              <a:t>No payment</a:t>
            </a:r>
          </a:p>
        </p:txBody>
      </p:sp>
      <p:sp>
        <p:nvSpPr>
          <p:cNvPr id="16" name="Rectangle 15"/>
          <p:cNvSpPr/>
          <p:nvPr/>
        </p:nvSpPr>
        <p:spPr>
          <a:xfrm>
            <a:off x="3246120" y="1572768"/>
            <a:ext cx="2834640" cy="438912"/>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10128" y="1627632"/>
            <a:ext cx="2706624" cy="347472"/>
          </a:xfrm>
          <a:prstGeom prst="rect">
            <a:avLst/>
          </a:prstGeom>
          <a:noFill/>
        </p:spPr>
        <p:txBody>
          <a:bodyPr wrap="square">
            <a:spAutoFit/>
          </a:bodyPr>
          <a:lstStyle/>
          <a:p>
            <a:pPr algn="l"/>
            <a:r>
              <a:rPr sz="1500" b="1" i="0">
                <a:solidFill>
                  <a:srgbClr val="FFFFFF"/>
                </a:solidFill>
                <a:latin typeface="Calibri"/>
              </a:rPr>
              <a:t>CPC</a:t>
            </a:r>
          </a:p>
        </p:txBody>
      </p:sp>
      <p:sp>
        <p:nvSpPr>
          <p:cNvPr id="18" name="Rectangle 17"/>
          <p:cNvSpPr/>
          <p:nvPr/>
        </p:nvSpPr>
        <p:spPr>
          <a:xfrm>
            <a:off x="3246120" y="2011680"/>
            <a:ext cx="2834640"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55848" y="2103120"/>
            <a:ext cx="2615184" cy="457200"/>
          </a:xfrm>
          <a:prstGeom prst="rect">
            <a:avLst/>
          </a:prstGeom>
          <a:noFill/>
        </p:spPr>
        <p:txBody>
          <a:bodyPr wrap="square">
            <a:spAutoFit/>
          </a:bodyPr>
          <a:lstStyle/>
          <a:p>
            <a:pPr algn="l"/>
            <a:r>
              <a:rPr sz="1000" b="0" i="0">
                <a:solidFill>
                  <a:srgbClr val="A8D8A8"/>
                </a:solidFill>
                <a:latin typeface="Courier New"/>
              </a:rPr>
              <a:t>Trigger:
Click on LLM recommendation</a:t>
            </a:r>
          </a:p>
        </p:txBody>
      </p:sp>
      <p:sp>
        <p:nvSpPr>
          <p:cNvPr id="20" name="TextBox 19"/>
          <p:cNvSpPr txBox="1"/>
          <p:nvPr/>
        </p:nvSpPr>
        <p:spPr>
          <a:xfrm>
            <a:off x="3310128" y="2697480"/>
            <a:ext cx="2706624" cy="411480"/>
          </a:xfrm>
          <a:prstGeom prst="rect">
            <a:avLst/>
          </a:prstGeom>
          <a:noFill/>
        </p:spPr>
        <p:txBody>
          <a:bodyPr wrap="square">
            <a:spAutoFit/>
          </a:bodyPr>
          <a:lstStyle/>
          <a:p>
            <a:pPr algn="l"/>
            <a:r>
              <a:rPr sz="1100" b="0" i="0">
                <a:solidFill>
                  <a:srgbClr val="222233"/>
                </a:solidFill>
                <a:latin typeface="Calibri"/>
              </a:rPr>
              <a:t>Cost per click</a:t>
            </a:r>
          </a:p>
        </p:txBody>
      </p:sp>
      <p:sp>
        <p:nvSpPr>
          <p:cNvPr id="21" name="Rectangle 20"/>
          <p:cNvSpPr/>
          <p:nvPr/>
        </p:nvSpPr>
        <p:spPr>
          <a:xfrm>
            <a:off x="6217920" y="1572768"/>
            <a:ext cx="2834640" cy="43891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81928" y="1627632"/>
            <a:ext cx="2706624" cy="347472"/>
          </a:xfrm>
          <a:prstGeom prst="rect">
            <a:avLst/>
          </a:prstGeom>
          <a:noFill/>
        </p:spPr>
        <p:txBody>
          <a:bodyPr wrap="square">
            <a:spAutoFit/>
          </a:bodyPr>
          <a:lstStyle/>
          <a:p>
            <a:pPr algn="l"/>
            <a:r>
              <a:rPr sz="1500" b="1" i="0">
                <a:solidFill>
                  <a:srgbClr val="FFFFFF"/>
                </a:solidFill>
                <a:latin typeface="Calibri"/>
              </a:rPr>
              <a:t>CPA</a:t>
            </a:r>
          </a:p>
        </p:txBody>
      </p:sp>
      <p:sp>
        <p:nvSpPr>
          <p:cNvPr id="23" name="Rectangle 22"/>
          <p:cNvSpPr/>
          <p:nvPr/>
        </p:nvSpPr>
        <p:spPr>
          <a:xfrm>
            <a:off x="6217920" y="2011680"/>
            <a:ext cx="2834640"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27648" y="2103120"/>
            <a:ext cx="2615184" cy="457200"/>
          </a:xfrm>
          <a:prstGeom prst="rect">
            <a:avLst/>
          </a:prstGeom>
          <a:noFill/>
        </p:spPr>
        <p:txBody>
          <a:bodyPr wrap="square">
            <a:spAutoFit/>
          </a:bodyPr>
          <a:lstStyle/>
          <a:p>
            <a:pPr algn="l"/>
            <a:r>
              <a:rPr sz="1000" b="0" i="0">
                <a:solidFill>
                  <a:srgbClr val="A8D8A8"/>
                </a:solidFill>
                <a:latin typeface="Courier New"/>
              </a:rPr>
              <a:t>Trigger:
Completed order</a:t>
            </a:r>
          </a:p>
        </p:txBody>
      </p:sp>
      <p:sp>
        <p:nvSpPr>
          <p:cNvPr id="25" name="TextBox 24"/>
          <p:cNvSpPr txBox="1"/>
          <p:nvPr/>
        </p:nvSpPr>
        <p:spPr>
          <a:xfrm>
            <a:off x="6281928" y="2697480"/>
            <a:ext cx="2706624" cy="411480"/>
          </a:xfrm>
          <a:prstGeom prst="rect">
            <a:avLst/>
          </a:prstGeom>
          <a:noFill/>
        </p:spPr>
        <p:txBody>
          <a:bodyPr wrap="square">
            <a:spAutoFit/>
          </a:bodyPr>
          <a:lstStyle/>
          <a:p>
            <a:pPr algn="l"/>
            <a:r>
              <a:rPr sz="1100" b="0" i="0">
                <a:solidFill>
                  <a:srgbClr val="222233"/>
                </a:solidFill>
                <a:latin typeface="Calibri"/>
              </a:rPr>
              <a:t>Cost per acquisition</a:t>
            </a:r>
          </a:p>
        </p:txBody>
      </p:sp>
      <p:sp>
        <p:nvSpPr>
          <p:cNvPr id="26" name="Rectangle 25"/>
          <p:cNvSpPr/>
          <p:nvPr/>
        </p:nvSpPr>
        <p:spPr>
          <a:xfrm>
            <a:off x="9189720" y="1572768"/>
            <a:ext cx="2834640" cy="438912"/>
          </a:xfrm>
          <a:prstGeom prst="rect">
            <a:avLst/>
          </a:prstGeom>
          <a:solidFill>
            <a:srgbClr val="2796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27632"/>
            <a:ext cx="2706624" cy="347472"/>
          </a:xfrm>
          <a:prstGeom prst="rect">
            <a:avLst/>
          </a:prstGeom>
          <a:noFill/>
        </p:spPr>
        <p:txBody>
          <a:bodyPr wrap="square">
            <a:spAutoFit/>
          </a:bodyPr>
          <a:lstStyle/>
          <a:p>
            <a:pPr algn="l"/>
            <a:r>
              <a:rPr sz="1500" b="1" i="0">
                <a:solidFill>
                  <a:srgbClr val="FFFFFF"/>
                </a:solidFill>
                <a:latin typeface="Calibri"/>
              </a:rPr>
              <a:t>CPFI</a:t>
            </a:r>
          </a:p>
        </p:txBody>
      </p:sp>
      <p:sp>
        <p:nvSpPr>
          <p:cNvPr id="28" name="Rectangle 27"/>
          <p:cNvSpPr/>
          <p:nvPr/>
        </p:nvSpPr>
        <p:spPr>
          <a:xfrm>
            <a:off x="9189720" y="2011680"/>
            <a:ext cx="2834640" cy="64008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99448" y="2103120"/>
            <a:ext cx="2615184" cy="457200"/>
          </a:xfrm>
          <a:prstGeom prst="rect">
            <a:avLst/>
          </a:prstGeom>
          <a:noFill/>
        </p:spPr>
        <p:txBody>
          <a:bodyPr wrap="square">
            <a:spAutoFit/>
          </a:bodyPr>
          <a:lstStyle/>
          <a:p>
            <a:pPr algn="l"/>
            <a:r>
              <a:rPr sz="1000" b="0" i="0">
                <a:solidFill>
                  <a:srgbClr val="A8D8A8"/>
                </a:solidFill>
                <a:latin typeface="Courier New"/>
              </a:rPr>
              <a:t>Trigger:
Completed order × intent_fulfilment</a:t>
            </a:r>
          </a:p>
        </p:txBody>
      </p:sp>
      <p:sp>
        <p:nvSpPr>
          <p:cNvPr id="30" name="TextBox 29"/>
          <p:cNvSpPr txBox="1"/>
          <p:nvPr/>
        </p:nvSpPr>
        <p:spPr>
          <a:xfrm>
            <a:off x="9253728" y="2697480"/>
            <a:ext cx="2706624" cy="411480"/>
          </a:xfrm>
          <a:prstGeom prst="rect">
            <a:avLst/>
          </a:prstGeom>
          <a:noFill/>
        </p:spPr>
        <p:txBody>
          <a:bodyPr wrap="square">
            <a:spAutoFit/>
          </a:bodyPr>
          <a:lstStyle/>
          <a:p>
            <a:pPr algn="l"/>
            <a:r>
              <a:rPr sz="1100" b="0" i="0">
                <a:solidFill>
                  <a:srgbClr val="222233"/>
                </a:solidFill>
                <a:latin typeface="Calibri"/>
              </a:rPr>
              <a:t>Cost per fulfilled intent</a:t>
            </a:r>
          </a:p>
        </p:txBody>
      </p:sp>
      <p:sp>
        <p:nvSpPr>
          <p:cNvPr id="31" name="TextBox 30"/>
          <p:cNvSpPr txBox="1"/>
          <p:nvPr/>
        </p:nvSpPr>
        <p:spPr>
          <a:xfrm>
            <a:off x="274320" y="3246120"/>
            <a:ext cx="11640312" cy="292608"/>
          </a:xfrm>
          <a:prstGeom prst="rect">
            <a:avLst/>
          </a:prstGeom>
          <a:noFill/>
        </p:spPr>
        <p:txBody>
          <a:bodyPr wrap="square">
            <a:spAutoFit/>
          </a:bodyPr>
          <a:lstStyle/>
          <a:p>
            <a:pPr algn="l"/>
            <a:r>
              <a:rPr sz="1200" b="1" i="0">
                <a:solidFill>
                  <a:srgbClr val="1A2E4A"/>
                </a:solidFill>
                <a:latin typeface="Calibri"/>
              </a:rPr>
              <a:t>Payment calibration</a:t>
            </a:r>
          </a:p>
        </p:txBody>
      </p:sp>
      <p:sp>
        <p:nvSpPr>
          <p:cNvPr id="32" name="Rectangle 31"/>
          <p:cNvSpPr/>
          <p:nvPr/>
        </p:nvSpPr>
        <p:spPr>
          <a:xfrm>
            <a:off x="274320" y="3566160"/>
            <a:ext cx="11640312" cy="65836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84048" y="3657600"/>
            <a:ext cx="11420856" cy="475488"/>
          </a:xfrm>
          <a:prstGeom prst="rect">
            <a:avLst/>
          </a:prstGeom>
          <a:noFill/>
        </p:spPr>
        <p:txBody>
          <a:bodyPr wrap="square">
            <a:spAutoFit/>
          </a:bodyPr>
          <a:lstStyle/>
          <a:p>
            <a:pPr algn="l"/>
            <a:r>
              <a:rPr sz="1000" b="0" i="0">
                <a:solidFill>
                  <a:srgbClr val="A8D8A8"/>
                </a:solidFill>
                <a:latin typeface="Courier New"/>
              </a:rPr>
              <a:t>LLM captures 50% of positive gross sponsor-side platform surplus.
Payments allocated only to platforms with positive gross gains.
See Appendix S for full calibration procedure.</a:t>
            </a:r>
          </a:p>
        </p:txBody>
      </p:sp>
      <p:sp>
        <p:nvSpPr>
          <p:cNvPr id="34" name="TextBox 33"/>
          <p:cNvSpPr txBox="1"/>
          <p:nvPr/>
        </p:nvSpPr>
        <p:spPr>
          <a:xfrm>
            <a:off x="274320" y="4334256"/>
            <a:ext cx="11640312" cy="292608"/>
          </a:xfrm>
          <a:prstGeom prst="rect">
            <a:avLst/>
          </a:prstGeom>
          <a:noFill/>
        </p:spPr>
        <p:txBody>
          <a:bodyPr wrap="square">
            <a:spAutoFit/>
          </a:bodyPr>
          <a:lstStyle/>
          <a:p>
            <a:pPr algn="l"/>
            <a:r>
              <a:rPr sz="1200" b="1" i="0">
                <a:solidFill>
                  <a:srgbClr val="1A2E4A"/>
                </a:solidFill>
                <a:latin typeface="Calibri"/>
              </a:rPr>
              <a:t>Key results summary</a:t>
            </a:r>
          </a:p>
        </p:txBody>
      </p:sp>
      <p:sp>
        <p:nvSpPr>
          <p:cNvPr id="35" name="Rectangle 34"/>
          <p:cNvSpPr/>
          <p:nvPr/>
        </p:nvSpPr>
        <p:spPr>
          <a:xfrm>
            <a:off x="274320" y="4654296"/>
            <a:ext cx="155448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9184" y="4690872"/>
            <a:ext cx="1444752" cy="292608"/>
          </a:xfrm>
          <a:prstGeom prst="rect">
            <a:avLst/>
          </a:prstGeom>
          <a:noFill/>
        </p:spPr>
        <p:txBody>
          <a:bodyPr wrap="square">
            <a:spAutoFit/>
          </a:bodyPr>
          <a:lstStyle/>
          <a:p>
            <a:pPr algn="ctr"/>
            <a:r>
              <a:rPr sz="1100" b="1" i="0">
                <a:solidFill>
                  <a:srgbClr val="FFFFFF"/>
                </a:solidFill>
                <a:latin typeface="Calibri"/>
              </a:rPr>
              <a:t>Regime</a:t>
            </a:r>
          </a:p>
        </p:txBody>
      </p:sp>
      <p:sp>
        <p:nvSpPr>
          <p:cNvPr id="37" name="Rectangle 36"/>
          <p:cNvSpPr/>
          <p:nvPr/>
        </p:nvSpPr>
        <p:spPr>
          <a:xfrm>
            <a:off x="1828800" y="4654296"/>
            <a:ext cx="18288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83664" y="4690872"/>
            <a:ext cx="1719072" cy="292608"/>
          </a:xfrm>
          <a:prstGeom prst="rect">
            <a:avLst/>
          </a:prstGeom>
          <a:noFill/>
        </p:spPr>
        <p:txBody>
          <a:bodyPr wrap="square">
            <a:spAutoFit/>
          </a:bodyPr>
          <a:lstStyle/>
          <a:p>
            <a:pPr algn="ctr"/>
            <a:r>
              <a:rPr sz="1100" b="1" i="0">
                <a:solidFill>
                  <a:srgbClr val="FFFFFF"/>
                </a:solidFill>
                <a:latin typeface="Calibri"/>
              </a:rPr>
              <a:t>Intent IF</a:t>
            </a:r>
          </a:p>
        </p:txBody>
      </p:sp>
      <p:sp>
        <p:nvSpPr>
          <p:cNvPr id="39" name="Rectangle 38"/>
          <p:cNvSpPr/>
          <p:nvPr/>
        </p:nvSpPr>
        <p:spPr>
          <a:xfrm>
            <a:off x="3657600" y="4654296"/>
            <a:ext cx="16459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712464" y="4690872"/>
            <a:ext cx="1536192" cy="292608"/>
          </a:xfrm>
          <a:prstGeom prst="rect">
            <a:avLst/>
          </a:prstGeom>
          <a:noFill/>
        </p:spPr>
        <p:txBody>
          <a:bodyPr wrap="square">
            <a:spAutoFit/>
          </a:bodyPr>
          <a:lstStyle/>
          <a:p>
            <a:pPr algn="ctr"/>
            <a:r>
              <a:rPr sz="1100" b="1" i="0">
                <a:solidFill>
                  <a:srgbClr val="FFFFFF"/>
                </a:solidFill>
                <a:latin typeface="Calibri"/>
              </a:rPr>
              <a:t>Shortlist rel.</a:t>
            </a:r>
          </a:p>
        </p:txBody>
      </p:sp>
      <p:sp>
        <p:nvSpPr>
          <p:cNvPr id="41" name="Rectangle 40"/>
          <p:cNvSpPr/>
          <p:nvPr/>
        </p:nvSpPr>
        <p:spPr>
          <a:xfrm>
            <a:off x="5303520" y="4654296"/>
            <a:ext cx="201168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358384" y="4690872"/>
            <a:ext cx="1901952" cy="292608"/>
          </a:xfrm>
          <a:prstGeom prst="rect">
            <a:avLst/>
          </a:prstGeom>
          <a:noFill/>
        </p:spPr>
        <p:txBody>
          <a:bodyPr wrap="square">
            <a:spAutoFit/>
          </a:bodyPr>
          <a:lstStyle/>
          <a:p>
            <a:pPr algn="ctr"/>
            <a:r>
              <a:rPr sz="1100" b="1" i="0">
                <a:solidFill>
                  <a:srgbClr val="FFFFFF"/>
                </a:solidFill>
                <a:latin typeface="Calibri"/>
              </a:rPr>
              <a:t>Platform net</a:t>
            </a:r>
          </a:p>
        </p:txBody>
      </p:sp>
      <p:sp>
        <p:nvSpPr>
          <p:cNvPr id="43" name="Rectangle 42"/>
          <p:cNvSpPr/>
          <p:nvPr/>
        </p:nvSpPr>
        <p:spPr>
          <a:xfrm>
            <a:off x="7315200" y="4654296"/>
            <a:ext cx="237744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70064" y="4690872"/>
            <a:ext cx="2267712" cy="292608"/>
          </a:xfrm>
          <a:prstGeom prst="rect">
            <a:avLst/>
          </a:prstGeom>
          <a:noFill/>
        </p:spPr>
        <p:txBody>
          <a:bodyPr wrap="square">
            <a:spAutoFit/>
          </a:bodyPr>
          <a:lstStyle/>
          <a:p>
            <a:pPr algn="ctr"/>
            <a:r>
              <a:rPr sz="1100" b="1" i="0">
                <a:solidFill>
                  <a:srgbClr val="FFFFFF"/>
                </a:solidFill>
                <a:latin typeface="Calibri"/>
              </a:rPr>
              <a:t>FoodRush share</a:t>
            </a:r>
          </a:p>
        </p:txBody>
      </p:sp>
      <p:sp>
        <p:nvSpPr>
          <p:cNvPr id="45" name="Rectangle 44"/>
          <p:cNvSpPr/>
          <p:nvPr/>
        </p:nvSpPr>
        <p:spPr>
          <a:xfrm>
            <a:off x="9692640" y="4654296"/>
            <a:ext cx="1764792"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747504" y="4690872"/>
            <a:ext cx="1655064" cy="292608"/>
          </a:xfrm>
          <a:prstGeom prst="rect">
            <a:avLst/>
          </a:prstGeom>
          <a:noFill/>
        </p:spPr>
        <p:txBody>
          <a:bodyPr wrap="square">
            <a:spAutoFit/>
          </a:bodyPr>
          <a:lstStyle/>
          <a:p>
            <a:pPr algn="ctr"/>
            <a:r>
              <a:rPr sz="1100" b="1" i="0">
                <a:solidFill>
                  <a:srgbClr val="FFFFFF"/>
                </a:solidFill>
                <a:latin typeface="Calibri"/>
              </a:rPr>
              <a:t>LLM rev.</a:t>
            </a:r>
          </a:p>
        </p:txBody>
      </p:sp>
      <p:sp>
        <p:nvSpPr>
          <p:cNvPr id="47" name="Rectangle 46"/>
          <p:cNvSpPr/>
          <p:nvPr/>
        </p:nvSpPr>
        <p:spPr>
          <a:xfrm>
            <a:off x="274320" y="5020056"/>
            <a:ext cx="15544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29184" y="5056632"/>
            <a:ext cx="1444752" cy="310896"/>
          </a:xfrm>
          <a:prstGeom prst="rect">
            <a:avLst/>
          </a:prstGeom>
          <a:noFill/>
        </p:spPr>
        <p:txBody>
          <a:bodyPr wrap="square">
            <a:spAutoFit/>
          </a:bodyPr>
          <a:lstStyle/>
          <a:p>
            <a:pPr algn="ctr"/>
            <a:r>
              <a:rPr sz="1000" b="0" i="0">
                <a:solidFill>
                  <a:srgbClr val="222233"/>
                </a:solidFill>
                <a:latin typeface="Calibri"/>
              </a:rPr>
              <a:t>Neutral</a:t>
            </a:r>
          </a:p>
        </p:txBody>
      </p:sp>
      <p:sp>
        <p:nvSpPr>
          <p:cNvPr id="49" name="Rectangle 48"/>
          <p:cNvSpPr/>
          <p:nvPr/>
        </p:nvSpPr>
        <p:spPr>
          <a:xfrm>
            <a:off x="1828800" y="5020056"/>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883664" y="5056632"/>
            <a:ext cx="1719072" cy="310896"/>
          </a:xfrm>
          <a:prstGeom prst="rect">
            <a:avLst/>
          </a:prstGeom>
          <a:noFill/>
        </p:spPr>
        <p:txBody>
          <a:bodyPr wrap="square">
            <a:spAutoFit/>
          </a:bodyPr>
          <a:lstStyle/>
          <a:p>
            <a:pPr algn="ctr"/>
            <a:r>
              <a:rPr sz="1000" b="0" i="0">
                <a:solidFill>
                  <a:srgbClr val="222233"/>
                </a:solidFill>
                <a:latin typeface="Calibri"/>
              </a:rPr>
              <a:t>0.747</a:t>
            </a:r>
          </a:p>
        </p:txBody>
      </p:sp>
      <p:sp>
        <p:nvSpPr>
          <p:cNvPr id="51" name="Rectangle 50"/>
          <p:cNvSpPr/>
          <p:nvPr/>
        </p:nvSpPr>
        <p:spPr>
          <a:xfrm>
            <a:off x="3657600" y="5020056"/>
            <a:ext cx="16459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712464" y="5056632"/>
            <a:ext cx="1536192" cy="310896"/>
          </a:xfrm>
          <a:prstGeom prst="rect">
            <a:avLst/>
          </a:prstGeom>
          <a:noFill/>
        </p:spPr>
        <p:txBody>
          <a:bodyPr wrap="square">
            <a:spAutoFit/>
          </a:bodyPr>
          <a:lstStyle/>
          <a:p>
            <a:pPr algn="ctr"/>
            <a:r>
              <a:rPr sz="1000" b="0" i="0">
                <a:solidFill>
                  <a:srgbClr val="222233"/>
                </a:solidFill>
                <a:latin typeface="Calibri"/>
              </a:rPr>
              <a:t>0.973</a:t>
            </a:r>
          </a:p>
        </p:txBody>
      </p:sp>
      <p:sp>
        <p:nvSpPr>
          <p:cNvPr id="53" name="Rectangle 52"/>
          <p:cNvSpPr/>
          <p:nvPr/>
        </p:nvSpPr>
        <p:spPr>
          <a:xfrm>
            <a:off x="5303520" y="5020056"/>
            <a:ext cx="20116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358384" y="5056632"/>
            <a:ext cx="1901952" cy="310896"/>
          </a:xfrm>
          <a:prstGeom prst="rect">
            <a:avLst/>
          </a:prstGeom>
          <a:noFill/>
        </p:spPr>
        <p:txBody>
          <a:bodyPr wrap="square">
            <a:spAutoFit/>
          </a:bodyPr>
          <a:lstStyle/>
          <a:p>
            <a:pPr algn="ctr"/>
            <a:r>
              <a:rPr sz="1000" b="0" i="0">
                <a:solidFill>
                  <a:srgbClr val="222233"/>
                </a:solidFill>
                <a:latin typeface="Calibri"/>
              </a:rPr>
              <a:t>$67,884</a:t>
            </a:r>
          </a:p>
        </p:txBody>
      </p:sp>
      <p:sp>
        <p:nvSpPr>
          <p:cNvPr id="55" name="Rectangle 54"/>
          <p:cNvSpPr/>
          <p:nvPr/>
        </p:nvSpPr>
        <p:spPr>
          <a:xfrm>
            <a:off x="7315200" y="5020056"/>
            <a:ext cx="237744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370064" y="5056632"/>
            <a:ext cx="2267712" cy="310896"/>
          </a:xfrm>
          <a:prstGeom prst="rect">
            <a:avLst/>
          </a:prstGeom>
          <a:noFill/>
        </p:spPr>
        <p:txBody>
          <a:bodyPr wrap="square">
            <a:spAutoFit/>
          </a:bodyPr>
          <a:lstStyle/>
          <a:p>
            <a:pPr algn="ctr"/>
            <a:r>
              <a:rPr sz="1000" b="0" i="0">
                <a:solidFill>
                  <a:srgbClr val="222233"/>
                </a:solidFill>
                <a:latin typeface="Calibri"/>
              </a:rPr>
              <a:t>32.6%</a:t>
            </a:r>
          </a:p>
        </p:txBody>
      </p:sp>
      <p:sp>
        <p:nvSpPr>
          <p:cNvPr id="57" name="Rectangle 56"/>
          <p:cNvSpPr/>
          <p:nvPr/>
        </p:nvSpPr>
        <p:spPr>
          <a:xfrm>
            <a:off x="9692640" y="5020056"/>
            <a:ext cx="176479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747504" y="5056632"/>
            <a:ext cx="1655064" cy="310896"/>
          </a:xfrm>
          <a:prstGeom prst="rect">
            <a:avLst/>
          </a:prstGeom>
          <a:noFill/>
        </p:spPr>
        <p:txBody>
          <a:bodyPr wrap="square">
            <a:spAutoFit/>
          </a:bodyPr>
          <a:lstStyle/>
          <a:p>
            <a:pPr algn="ctr"/>
            <a:r>
              <a:rPr sz="1000" b="0" i="0">
                <a:solidFill>
                  <a:srgbClr val="222233"/>
                </a:solidFill>
                <a:latin typeface="Calibri"/>
              </a:rPr>
              <a:t>$0</a:t>
            </a:r>
          </a:p>
        </p:txBody>
      </p:sp>
      <p:sp>
        <p:nvSpPr>
          <p:cNvPr id="59" name="Rectangle 58"/>
          <p:cNvSpPr/>
          <p:nvPr/>
        </p:nvSpPr>
        <p:spPr>
          <a:xfrm>
            <a:off x="274320" y="5404104"/>
            <a:ext cx="155448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29184" y="5440680"/>
            <a:ext cx="1444752" cy="310896"/>
          </a:xfrm>
          <a:prstGeom prst="rect">
            <a:avLst/>
          </a:prstGeom>
          <a:noFill/>
        </p:spPr>
        <p:txBody>
          <a:bodyPr wrap="square">
            <a:spAutoFit/>
          </a:bodyPr>
          <a:lstStyle/>
          <a:p>
            <a:pPr algn="ctr"/>
            <a:r>
              <a:rPr sz="1000" b="0" i="0">
                <a:solidFill>
                  <a:srgbClr val="222233"/>
                </a:solidFill>
                <a:latin typeface="Calibri"/>
              </a:rPr>
              <a:t>CPC</a:t>
            </a:r>
          </a:p>
        </p:txBody>
      </p:sp>
      <p:sp>
        <p:nvSpPr>
          <p:cNvPr id="61" name="Rectangle 60"/>
          <p:cNvSpPr/>
          <p:nvPr/>
        </p:nvSpPr>
        <p:spPr>
          <a:xfrm>
            <a:off x="1828800" y="5404104"/>
            <a:ext cx="18288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883664" y="5440680"/>
            <a:ext cx="1719072" cy="310896"/>
          </a:xfrm>
          <a:prstGeom prst="rect">
            <a:avLst/>
          </a:prstGeom>
          <a:noFill/>
        </p:spPr>
        <p:txBody>
          <a:bodyPr wrap="square">
            <a:spAutoFit/>
          </a:bodyPr>
          <a:lstStyle/>
          <a:p>
            <a:pPr algn="ctr"/>
            <a:r>
              <a:rPr sz="1000" b="0" i="0">
                <a:solidFill>
                  <a:srgbClr val="222233"/>
                </a:solidFill>
                <a:latin typeface="Calibri"/>
              </a:rPr>
              <a:t>0.716</a:t>
            </a:r>
          </a:p>
        </p:txBody>
      </p:sp>
      <p:sp>
        <p:nvSpPr>
          <p:cNvPr id="63" name="Rectangle 62"/>
          <p:cNvSpPr/>
          <p:nvPr/>
        </p:nvSpPr>
        <p:spPr>
          <a:xfrm>
            <a:off x="3657600" y="5404104"/>
            <a:ext cx="16459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712464" y="5440680"/>
            <a:ext cx="1536192" cy="310896"/>
          </a:xfrm>
          <a:prstGeom prst="rect">
            <a:avLst/>
          </a:prstGeom>
          <a:noFill/>
        </p:spPr>
        <p:txBody>
          <a:bodyPr wrap="square">
            <a:spAutoFit/>
          </a:bodyPr>
          <a:lstStyle/>
          <a:p>
            <a:pPr algn="ctr"/>
            <a:r>
              <a:rPr sz="1000" b="0" i="0">
                <a:solidFill>
                  <a:srgbClr val="222233"/>
                </a:solidFill>
                <a:latin typeface="Calibri"/>
              </a:rPr>
              <a:t>0.929</a:t>
            </a:r>
          </a:p>
        </p:txBody>
      </p:sp>
      <p:sp>
        <p:nvSpPr>
          <p:cNvPr id="65" name="Rectangle 64"/>
          <p:cNvSpPr/>
          <p:nvPr/>
        </p:nvSpPr>
        <p:spPr>
          <a:xfrm>
            <a:off x="5303520" y="5404104"/>
            <a:ext cx="201168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58384" y="5440680"/>
            <a:ext cx="1901952" cy="310896"/>
          </a:xfrm>
          <a:prstGeom prst="rect">
            <a:avLst/>
          </a:prstGeom>
          <a:noFill/>
        </p:spPr>
        <p:txBody>
          <a:bodyPr wrap="square">
            <a:spAutoFit/>
          </a:bodyPr>
          <a:lstStyle/>
          <a:p>
            <a:pPr algn="ctr"/>
            <a:r>
              <a:rPr sz="1000" b="0" i="0">
                <a:solidFill>
                  <a:srgbClr val="222233"/>
                </a:solidFill>
                <a:latin typeface="Calibri"/>
              </a:rPr>
              <a:t>$72,468</a:t>
            </a:r>
          </a:p>
        </p:txBody>
      </p:sp>
      <p:sp>
        <p:nvSpPr>
          <p:cNvPr id="67" name="Rectangle 66"/>
          <p:cNvSpPr/>
          <p:nvPr/>
        </p:nvSpPr>
        <p:spPr>
          <a:xfrm>
            <a:off x="7315200" y="5404104"/>
            <a:ext cx="237744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7370064" y="5440680"/>
            <a:ext cx="2267712" cy="310896"/>
          </a:xfrm>
          <a:prstGeom prst="rect">
            <a:avLst/>
          </a:prstGeom>
          <a:noFill/>
        </p:spPr>
        <p:txBody>
          <a:bodyPr wrap="square">
            <a:spAutoFit/>
          </a:bodyPr>
          <a:lstStyle/>
          <a:p>
            <a:pPr algn="ctr"/>
            <a:r>
              <a:rPr sz="1000" b="0" i="0">
                <a:solidFill>
                  <a:srgbClr val="222233"/>
                </a:solidFill>
                <a:latin typeface="Calibri"/>
              </a:rPr>
              <a:t>66.7%</a:t>
            </a:r>
          </a:p>
        </p:txBody>
      </p:sp>
      <p:sp>
        <p:nvSpPr>
          <p:cNvPr id="69" name="Rectangle 68"/>
          <p:cNvSpPr/>
          <p:nvPr/>
        </p:nvSpPr>
        <p:spPr>
          <a:xfrm>
            <a:off x="9692640" y="5404104"/>
            <a:ext cx="176479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9747504" y="5440680"/>
            <a:ext cx="1655064" cy="310896"/>
          </a:xfrm>
          <a:prstGeom prst="rect">
            <a:avLst/>
          </a:prstGeom>
          <a:noFill/>
        </p:spPr>
        <p:txBody>
          <a:bodyPr wrap="square">
            <a:spAutoFit/>
          </a:bodyPr>
          <a:lstStyle/>
          <a:p>
            <a:pPr algn="ctr"/>
            <a:r>
              <a:rPr sz="1000" b="0" i="0">
                <a:solidFill>
                  <a:srgbClr val="222233"/>
                </a:solidFill>
                <a:latin typeface="Calibri"/>
              </a:rPr>
              <a:t>$3,101</a:t>
            </a:r>
          </a:p>
        </p:txBody>
      </p:sp>
      <p:sp>
        <p:nvSpPr>
          <p:cNvPr id="71" name="Rectangle 70"/>
          <p:cNvSpPr/>
          <p:nvPr/>
        </p:nvSpPr>
        <p:spPr>
          <a:xfrm>
            <a:off x="274320" y="5788152"/>
            <a:ext cx="15544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329184" y="5824728"/>
            <a:ext cx="1444752" cy="310896"/>
          </a:xfrm>
          <a:prstGeom prst="rect">
            <a:avLst/>
          </a:prstGeom>
          <a:noFill/>
        </p:spPr>
        <p:txBody>
          <a:bodyPr wrap="square">
            <a:spAutoFit/>
          </a:bodyPr>
          <a:lstStyle/>
          <a:p>
            <a:pPr algn="ctr"/>
            <a:r>
              <a:rPr sz="1000" b="0" i="0">
                <a:solidFill>
                  <a:srgbClr val="222233"/>
                </a:solidFill>
                <a:latin typeface="Calibri"/>
              </a:rPr>
              <a:t>CPA</a:t>
            </a:r>
          </a:p>
        </p:txBody>
      </p:sp>
      <p:sp>
        <p:nvSpPr>
          <p:cNvPr id="73" name="Rectangle 72"/>
          <p:cNvSpPr/>
          <p:nvPr/>
        </p:nvSpPr>
        <p:spPr>
          <a:xfrm>
            <a:off x="1828800" y="5788152"/>
            <a:ext cx="18288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1883664" y="5824728"/>
            <a:ext cx="1719072" cy="310896"/>
          </a:xfrm>
          <a:prstGeom prst="rect">
            <a:avLst/>
          </a:prstGeom>
          <a:noFill/>
        </p:spPr>
        <p:txBody>
          <a:bodyPr wrap="square">
            <a:spAutoFit/>
          </a:bodyPr>
          <a:lstStyle/>
          <a:p>
            <a:pPr algn="ctr"/>
            <a:r>
              <a:rPr sz="1000" b="0" i="0">
                <a:solidFill>
                  <a:srgbClr val="222233"/>
                </a:solidFill>
                <a:latin typeface="Calibri"/>
              </a:rPr>
              <a:t>0.726</a:t>
            </a:r>
          </a:p>
        </p:txBody>
      </p:sp>
      <p:sp>
        <p:nvSpPr>
          <p:cNvPr id="75" name="Rectangle 74"/>
          <p:cNvSpPr/>
          <p:nvPr/>
        </p:nvSpPr>
        <p:spPr>
          <a:xfrm>
            <a:off x="3657600" y="5788152"/>
            <a:ext cx="16459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712464" y="5824728"/>
            <a:ext cx="1536192" cy="310896"/>
          </a:xfrm>
          <a:prstGeom prst="rect">
            <a:avLst/>
          </a:prstGeom>
          <a:noFill/>
        </p:spPr>
        <p:txBody>
          <a:bodyPr wrap="square">
            <a:spAutoFit/>
          </a:bodyPr>
          <a:lstStyle/>
          <a:p>
            <a:pPr algn="ctr"/>
            <a:r>
              <a:rPr sz="1000" b="0" i="0">
                <a:solidFill>
                  <a:srgbClr val="222233"/>
                </a:solidFill>
                <a:latin typeface="Calibri"/>
              </a:rPr>
              <a:t>0.946</a:t>
            </a:r>
          </a:p>
        </p:txBody>
      </p:sp>
      <p:sp>
        <p:nvSpPr>
          <p:cNvPr id="77" name="Rectangle 76"/>
          <p:cNvSpPr/>
          <p:nvPr/>
        </p:nvSpPr>
        <p:spPr>
          <a:xfrm>
            <a:off x="5303520" y="5788152"/>
            <a:ext cx="20116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358384" y="5824728"/>
            <a:ext cx="1901952" cy="310896"/>
          </a:xfrm>
          <a:prstGeom prst="rect">
            <a:avLst/>
          </a:prstGeom>
          <a:noFill/>
        </p:spPr>
        <p:txBody>
          <a:bodyPr wrap="square">
            <a:spAutoFit/>
          </a:bodyPr>
          <a:lstStyle/>
          <a:p>
            <a:pPr algn="ctr"/>
            <a:r>
              <a:rPr sz="1000" b="0" i="0">
                <a:solidFill>
                  <a:srgbClr val="222233"/>
                </a:solidFill>
                <a:latin typeface="Calibri"/>
              </a:rPr>
              <a:t>$72,239</a:t>
            </a:r>
          </a:p>
        </p:txBody>
      </p:sp>
      <p:sp>
        <p:nvSpPr>
          <p:cNvPr id="79" name="Rectangle 78"/>
          <p:cNvSpPr/>
          <p:nvPr/>
        </p:nvSpPr>
        <p:spPr>
          <a:xfrm>
            <a:off x="7315200" y="5788152"/>
            <a:ext cx="237744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370064" y="5824728"/>
            <a:ext cx="2267712" cy="310896"/>
          </a:xfrm>
          <a:prstGeom prst="rect">
            <a:avLst/>
          </a:prstGeom>
          <a:noFill/>
        </p:spPr>
        <p:txBody>
          <a:bodyPr wrap="square">
            <a:spAutoFit/>
          </a:bodyPr>
          <a:lstStyle/>
          <a:p>
            <a:pPr algn="ctr"/>
            <a:r>
              <a:rPr sz="1000" b="0" i="0">
                <a:solidFill>
                  <a:srgbClr val="222233"/>
                </a:solidFill>
                <a:latin typeface="Calibri"/>
              </a:rPr>
              <a:t>60.4%</a:t>
            </a:r>
          </a:p>
        </p:txBody>
      </p:sp>
      <p:sp>
        <p:nvSpPr>
          <p:cNvPr id="81" name="Rectangle 80"/>
          <p:cNvSpPr/>
          <p:nvPr/>
        </p:nvSpPr>
        <p:spPr>
          <a:xfrm>
            <a:off x="9692640" y="5788152"/>
            <a:ext cx="176479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747504" y="5824728"/>
            <a:ext cx="1655064" cy="310896"/>
          </a:xfrm>
          <a:prstGeom prst="rect">
            <a:avLst/>
          </a:prstGeom>
          <a:noFill/>
        </p:spPr>
        <p:txBody>
          <a:bodyPr wrap="square">
            <a:spAutoFit/>
          </a:bodyPr>
          <a:lstStyle/>
          <a:p>
            <a:pPr algn="ctr"/>
            <a:r>
              <a:rPr sz="1000" b="0" i="0">
                <a:solidFill>
                  <a:srgbClr val="222233"/>
                </a:solidFill>
                <a:latin typeface="Calibri"/>
              </a:rPr>
              <a:t>$2,873</a:t>
            </a:r>
          </a:p>
        </p:txBody>
      </p:sp>
      <p:sp>
        <p:nvSpPr>
          <p:cNvPr id="83" name="Rectangle 82"/>
          <p:cNvSpPr/>
          <p:nvPr/>
        </p:nvSpPr>
        <p:spPr>
          <a:xfrm>
            <a:off x="274320" y="6172200"/>
            <a:ext cx="155448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29184" y="6208776"/>
            <a:ext cx="1444752" cy="310896"/>
          </a:xfrm>
          <a:prstGeom prst="rect">
            <a:avLst/>
          </a:prstGeom>
          <a:noFill/>
        </p:spPr>
        <p:txBody>
          <a:bodyPr wrap="square">
            <a:spAutoFit/>
          </a:bodyPr>
          <a:lstStyle/>
          <a:p>
            <a:pPr algn="ctr"/>
            <a:r>
              <a:rPr sz="1000" b="0" i="0">
                <a:solidFill>
                  <a:srgbClr val="222233"/>
                </a:solidFill>
                <a:latin typeface="Calibri"/>
              </a:rPr>
              <a:t>CPFI</a:t>
            </a:r>
          </a:p>
        </p:txBody>
      </p:sp>
      <p:sp>
        <p:nvSpPr>
          <p:cNvPr id="85" name="Rectangle 84"/>
          <p:cNvSpPr/>
          <p:nvPr/>
        </p:nvSpPr>
        <p:spPr>
          <a:xfrm>
            <a:off x="1828800" y="6172200"/>
            <a:ext cx="18288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1883664" y="6208776"/>
            <a:ext cx="1719072" cy="310896"/>
          </a:xfrm>
          <a:prstGeom prst="rect">
            <a:avLst/>
          </a:prstGeom>
          <a:noFill/>
        </p:spPr>
        <p:txBody>
          <a:bodyPr wrap="square">
            <a:spAutoFit/>
          </a:bodyPr>
          <a:lstStyle/>
          <a:p>
            <a:pPr algn="ctr"/>
            <a:r>
              <a:rPr sz="1000" b="0" i="0">
                <a:solidFill>
                  <a:srgbClr val="222233"/>
                </a:solidFill>
                <a:latin typeface="Calibri"/>
              </a:rPr>
              <a:t>0.747</a:t>
            </a:r>
          </a:p>
        </p:txBody>
      </p:sp>
      <p:sp>
        <p:nvSpPr>
          <p:cNvPr id="87" name="Rectangle 86"/>
          <p:cNvSpPr/>
          <p:nvPr/>
        </p:nvSpPr>
        <p:spPr>
          <a:xfrm>
            <a:off x="3657600" y="6172200"/>
            <a:ext cx="16459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3712464" y="6208776"/>
            <a:ext cx="1536192" cy="310896"/>
          </a:xfrm>
          <a:prstGeom prst="rect">
            <a:avLst/>
          </a:prstGeom>
          <a:noFill/>
        </p:spPr>
        <p:txBody>
          <a:bodyPr wrap="square">
            <a:spAutoFit/>
          </a:bodyPr>
          <a:lstStyle/>
          <a:p>
            <a:pPr algn="ctr"/>
            <a:r>
              <a:rPr sz="1000" b="0" i="0">
                <a:solidFill>
                  <a:srgbClr val="222233"/>
                </a:solidFill>
                <a:latin typeface="Calibri"/>
              </a:rPr>
              <a:t>0.981</a:t>
            </a:r>
          </a:p>
        </p:txBody>
      </p:sp>
      <p:sp>
        <p:nvSpPr>
          <p:cNvPr id="89" name="Rectangle 88"/>
          <p:cNvSpPr/>
          <p:nvPr/>
        </p:nvSpPr>
        <p:spPr>
          <a:xfrm>
            <a:off x="5303520" y="6172200"/>
            <a:ext cx="201168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358384" y="6208776"/>
            <a:ext cx="1901952" cy="310896"/>
          </a:xfrm>
          <a:prstGeom prst="rect">
            <a:avLst/>
          </a:prstGeom>
          <a:noFill/>
        </p:spPr>
        <p:txBody>
          <a:bodyPr wrap="square">
            <a:spAutoFit/>
          </a:bodyPr>
          <a:lstStyle/>
          <a:p>
            <a:pPr algn="ctr"/>
            <a:r>
              <a:rPr sz="1000" b="0" i="0">
                <a:solidFill>
                  <a:srgbClr val="222233"/>
                </a:solidFill>
                <a:latin typeface="Calibri"/>
              </a:rPr>
              <a:t>$71,309</a:t>
            </a:r>
          </a:p>
        </p:txBody>
      </p:sp>
      <p:sp>
        <p:nvSpPr>
          <p:cNvPr id="91" name="Rectangle 90"/>
          <p:cNvSpPr/>
          <p:nvPr/>
        </p:nvSpPr>
        <p:spPr>
          <a:xfrm>
            <a:off x="7315200" y="6172200"/>
            <a:ext cx="237744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7370064" y="6208776"/>
            <a:ext cx="2267712" cy="310896"/>
          </a:xfrm>
          <a:prstGeom prst="rect">
            <a:avLst/>
          </a:prstGeom>
          <a:noFill/>
        </p:spPr>
        <p:txBody>
          <a:bodyPr wrap="square">
            <a:spAutoFit/>
          </a:bodyPr>
          <a:lstStyle/>
          <a:p>
            <a:pPr algn="ctr"/>
            <a:r>
              <a:rPr sz="1000" b="0" i="0">
                <a:solidFill>
                  <a:srgbClr val="222233"/>
                </a:solidFill>
                <a:latin typeface="Calibri"/>
              </a:rPr>
              <a:t>46.5%</a:t>
            </a:r>
          </a:p>
        </p:txBody>
      </p:sp>
      <p:sp>
        <p:nvSpPr>
          <p:cNvPr id="93" name="Rectangle 92"/>
          <p:cNvSpPr/>
          <p:nvPr/>
        </p:nvSpPr>
        <p:spPr>
          <a:xfrm>
            <a:off x="9692640" y="6172200"/>
            <a:ext cx="176479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747504" y="6208776"/>
            <a:ext cx="1655064" cy="310896"/>
          </a:xfrm>
          <a:prstGeom prst="rect">
            <a:avLst/>
          </a:prstGeom>
          <a:noFill/>
        </p:spPr>
        <p:txBody>
          <a:bodyPr wrap="square">
            <a:spAutoFit/>
          </a:bodyPr>
          <a:lstStyle/>
          <a:p>
            <a:pPr algn="ctr"/>
            <a:r>
              <a:rPr sz="1000" b="0" i="0">
                <a:solidFill>
                  <a:srgbClr val="222233"/>
                </a:solidFill>
                <a:latin typeface="Calibri"/>
              </a:rPr>
              <a:t>$1,942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Experiment 3: Sponsorship Bias Sweep</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W</a:t>
            </a:r>
          </a:p>
        </p:txBody>
      </p:sp>
      <p:sp>
        <p:nvSpPr>
          <p:cNvPr id="10" name="TextBox 9"/>
          <p:cNvSpPr txBox="1"/>
          <p:nvPr/>
        </p:nvSpPr>
        <p:spPr>
          <a:xfrm>
            <a:off x="274320" y="1051560"/>
            <a:ext cx="11640312" cy="411480"/>
          </a:xfrm>
          <a:prstGeom prst="rect">
            <a:avLst/>
          </a:prstGeom>
          <a:noFill/>
        </p:spPr>
        <p:txBody>
          <a:bodyPr wrap="square">
            <a:spAutoFit/>
          </a:bodyPr>
          <a:lstStyle/>
          <a:p>
            <a:pPr algn="l"/>
            <a:r>
              <a:rPr sz="1200" b="1" i="0">
                <a:solidFill>
                  <a:srgbClr val="1A2E4A"/>
                </a:solidFill>
                <a:latin typeface="Calibri"/>
              </a:rPr>
              <a:t>Question: How much paid bias is too much?  Regime: CPC.  Sweeps bias_strength from 0.0 to 1.0.</a:t>
            </a:r>
          </a:p>
        </p:txBody>
      </p:sp>
      <p:sp>
        <p:nvSpPr>
          <p:cNvPr id="11" name="TextBox 10"/>
          <p:cNvSpPr txBox="1"/>
          <p:nvPr/>
        </p:nvSpPr>
        <p:spPr>
          <a:xfrm>
            <a:off x="274320" y="1572768"/>
            <a:ext cx="11640312" cy="292608"/>
          </a:xfrm>
          <a:prstGeom prst="rect">
            <a:avLst/>
          </a:prstGeom>
          <a:noFill/>
        </p:spPr>
        <p:txBody>
          <a:bodyPr wrap="square">
            <a:spAutoFit/>
          </a:bodyPr>
          <a:lstStyle/>
          <a:p>
            <a:pPr algn="l"/>
            <a:r>
              <a:rPr sz="1200" b="1" i="0">
                <a:solidFill>
                  <a:srgbClr val="1A2E4A"/>
                </a:solidFill>
                <a:latin typeface="Calibri"/>
              </a:rPr>
              <a:t>Bias strength values tested</a:t>
            </a:r>
          </a:p>
        </p:txBody>
      </p:sp>
      <p:sp>
        <p:nvSpPr>
          <p:cNvPr id="12" name="Rectangle 11"/>
          <p:cNvSpPr/>
          <p:nvPr/>
        </p:nvSpPr>
        <p:spPr>
          <a:xfrm>
            <a:off x="274320" y="1892807"/>
            <a:ext cx="11640312" cy="3657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1984247"/>
            <a:ext cx="11420856" cy="182880"/>
          </a:xfrm>
          <a:prstGeom prst="rect">
            <a:avLst/>
          </a:prstGeom>
          <a:noFill/>
        </p:spPr>
        <p:txBody>
          <a:bodyPr wrap="square">
            <a:spAutoFit/>
          </a:bodyPr>
          <a:lstStyle/>
          <a:p>
            <a:pPr algn="l"/>
            <a:r>
              <a:rPr sz="1000" b="0" i="0">
                <a:solidFill>
                  <a:srgbClr val="A8D8A8"/>
                </a:solidFill>
                <a:latin typeface="Courier New"/>
              </a:rPr>
              <a:t>bias_strength  ∈  { 0.0,  0.1,  0.2,  0.3*,  0.5,  0.7,  1.0 }     (* default in Exp 2)</a:t>
            </a:r>
          </a:p>
        </p:txBody>
      </p:sp>
      <p:sp>
        <p:nvSpPr>
          <p:cNvPr id="14" name="TextBox 13"/>
          <p:cNvSpPr txBox="1"/>
          <p:nvPr/>
        </p:nvSpPr>
        <p:spPr>
          <a:xfrm>
            <a:off x="274320" y="2368296"/>
            <a:ext cx="11640312" cy="292608"/>
          </a:xfrm>
          <a:prstGeom prst="rect">
            <a:avLst/>
          </a:prstGeom>
          <a:noFill/>
        </p:spPr>
        <p:txBody>
          <a:bodyPr wrap="square">
            <a:spAutoFit/>
          </a:bodyPr>
          <a:lstStyle/>
          <a:p>
            <a:pPr algn="l"/>
            <a:r>
              <a:rPr sz="1200" b="1" i="0">
                <a:solidFill>
                  <a:srgbClr val="1A2E4A"/>
                </a:solidFill>
                <a:latin typeface="Calibri"/>
              </a:rPr>
              <a:t>Full results</a:t>
            </a:r>
          </a:p>
        </p:txBody>
      </p:sp>
      <p:sp>
        <p:nvSpPr>
          <p:cNvPr id="15" name="Rectangle 14"/>
          <p:cNvSpPr/>
          <p:nvPr/>
        </p:nvSpPr>
        <p:spPr>
          <a:xfrm>
            <a:off x="274320" y="2688336"/>
            <a:ext cx="201168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9184" y="2724912"/>
            <a:ext cx="1901952" cy="292608"/>
          </a:xfrm>
          <a:prstGeom prst="rect">
            <a:avLst/>
          </a:prstGeom>
          <a:noFill/>
        </p:spPr>
        <p:txBody>
          <a:bodyPr wrap="square">
            <a:spAutoFit/>
          </a:bodyPr>
          <a:lstStyle/>
          <a:p>
            <a:pPr algn="ctr"/>
            <a:r>
              <a:rPr sz="1100" b="1" i="0">
                <a:solidFill>
                  <a:srgbClr val="FFFFFF"/>
                </a:solidFill>
                <a:latin typeface="Calibri"/>
              </a:rPr>
              <a:t>Bias strength</a:t>
            </a:r>
          </a:p>
        </p:txBody>
      </p:sp>
      <p:sp>
        <p:nvSpPr>
          <p:cNvPr id="17" name="Rectangle 16"/>
          <p:cNvSpPr/>
          <p:nvPr/>
        </p:nvSpPr>
        <p:spPr>
          <a:xfrm>
            <a:off x="2286000" y="2688336"/>
            <a:ext cx="22860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40864" y="2724912"/>
            <a:ext cx="2176272" cy="292608"/>
          </a:xfrm>
          <a:prstGeom prst="rect">
            <a:avLst/>
          </a:prstGeom>
          <a:noFill/>
        </p:spPr>
        <p:txBody>
          <a:bodyPr wrap="square">
            <a:spAutoFit/>
          </a:bodyPr>
          <a:lstStyle/>
          <a:p>
            <a:pPr algn="ctr"/>
            <a:r>
              <a:rPr sz="1100" b="1" i="0">
                <a:solidFill>
                  <a:srgbClr val="FFFFFF"/>
                </a:solidFill>
                <a:latin typeface="Calibri"/>
              </a:rPr>
              <a:t>Shortlist rel.</a:t>
            </a:r>
          </a:p>
        </p:txBody>
      </p:sp>
      <p:sp>
        <p:nvSpPr>
          <p:cNvPr id="19" name="Rectangle 18"/>
          <p:cNvSpPr/>
          <p:nvPr/>
        </p:nvSpPr>
        <p:spPr>
          <a:xfrm>
            <a:off x="4572000" y="2688336"/>
            <a:ext cx="22860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26864" y="2724912"/>
            <a:ext cx="2176272" cy="292608"/>
          </a:xfrm>
          <a:prstGeom prst="rect">
            <a:avLst/>
          </a:prstGeom>
          <a:noFill/>
        </p:spPr>
        <p:txBody>
          <a:bodyPr wrap="square">
            <a:spAutoFit/>
          </a:bodyPr>
          <a:lstStyle/>
          <a:p>
            <a:pPr algn="ctr"/>
            <a:r>
              <a:rPr sz="1100" b="1" i="0">
                <a:solidFill>
                  <a:srgbClr val="FFFFFF"/>
                </a:solidFill>
                <a:latin typeface="Calibri"/>
              </a:rPr>
              <a:t>Intent fulfil.</a:t>
            </a:r>
          </a:p>
        </p:txBody>
      </p:sp>
      <p:sp>
        <p:nvSpPr>
          <p:cNvPr id="21" name="Rectangle 20"/>
          <p:cNvSpPr/>
          <p:nvPr/>
        </p:nvSpPr>
        <p:spPr>
          <a:xfrm>
            <a:off x="6858000" y="2688336"/>
            <a:ext cx="22860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12864" y="2724912"/>
            <a:ext cx="2176272" cy="292608"/>
          </a:xfrm>
          <a:prstGeom prst="rect">
            <a:avLst/>
          </a:prstGeom>
          <a:noFill/>
        </p:spPr>
        <p:txBody>
          <a:bodyPr wrap="square">
            <a:spAutoFit/>
          </a:bodyPr>
          <a:lstStyle/>
          <a:p>
            <a:pPr algn="ctr"/>
            <a:r>
              <a:rPr sz="1100" b="1" i="0">
                <a:solidFill>
                  <a:srgbClr val="FFFFFF"/>
                </a:solidFill>
                <a:latin typeface="Calibri"/>
              </a:rPr>
              <a:t>LLM revenue</a:t>
            </a:r>
          </a:p>
        </p:txBody>
      </p:sp>
      <p:sp>
        <p:nvSpPr>
          <p:cNvPr id="23" name="Rectangle 22"/>
          <p:cNvSpPr/>
          <p:nvPr/>
        </p:nvSpPr>
        <p:spPr>
          <a:xfrm>
            <a:off x="9144000" y="2688336"/>
            <a:ext cx="2770632"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98864" y="2724912"/>
            <a:ext cx="2660904" cy="292608"/>
          </a:xfrm>
          <a:prstGeom prst="rect">
            <a:avLst/>
          </a:prstGeom>
          <a:noFill/>
        </p:spPr>
        <p:txBody>
          <a:bodyPr wrap="square">
            <a:spAutoFit/>
          </a:bodyPr>
          <a:lstStyle/>
          <a:p>
            <a:pPr algn="ctr"/>
            <a:r>
              <a:rPr sz="1100" b="1" i="0">
                <a:solidFill>
                  <a:srgbClr val="FFFFFF"/>
                </a:solidFill>
                <a:latin typeface="Calibri"/>
              </a:rPr>
              <a:t>Platform net</a:t>
            </a:r>
          </a:p>
        </p:txBody>
      </p:sp>
      <p:sp>
        <p:nvSpPr>
          <p:cNvPr id="25" name="Rectangle 24"/>
          <p:cNvSpPr/>
          <p:nvPr/>
        </p:nvSpPr>
        <p:spPr>
          <a:xfrm>
            <a:off x="274320" y="3054096"/>
            <a:ext cx="20116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9184" y="3090672"/>
            <a:ext cx="1901952" cy="310896"/>
          </a:xfrm>
          <a:prstGeom prst="rect">
            <a:avLst/>
          </a:prstGeom>
          <a:noFill/>
        </p:spPr>
        <p:txBody>
          <a:bodyPr wrap="square">
            <a:spAutoFit/>
          </a:bodyPr>
          <a:lstStyle/>
          <a:p>
            <a:pPr algn="ctr"/>
            <a:r>
              <a:rPr sz="1000" b="0" i="0">
                <a:solidFill>
                  <a:srgbClr val="222233"/>
                </a:solidFill>
                <a:latin typeface="Calibri"/>
              </a:rPr>
              <a:t>0.0 (neutral CPC)</a:t>
            </a:r>
          </a:p>
        </p:txBody>
      </p:sp>
      <p:sp>
        <p:nvSpPr>
          <p:cNvPr id="27" name="Rectangle 26"/>
          <p:cNvSpPr/>
          <p:nvPr/>
        </p:nvSpPr>
        <p:spPr>
          <a:xfrm>
            <a:off x="2286000" y="3054096"/>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340864" y="3090672"/>
            <a:ext cx="2176272" cy="310896"/>
          </a:xfrm>
          <a:prstGeom prst="rect">
            <a:avLst/>
          </a:prstGeom>
          <a:noFill/>
        </p:spPr>
        <p:txBody>
          <a:bodyPr wrap="square">
            <a:spAutoFit/>
          </a:bodyPr>
          <a:lstStyle/>
          <a:p>
            <a:pPr algn="ctr"/>
            <a:r>
              <a:rPr sz="1000" b="0" i="0">
                <a:solidFill>
                  <a:srgbClr val="222233"/>
                </a:solidFill>
                <a:latin typeface="Calibri"/>
              </a:rPr>
              <a:t>0.973</a:t>
            </a:r>
          </a:p>
        </p:txBody>
      </p:sp>
      <p:sp>
        <p:nvSpPr>
          <p:cNvPr id="29" name="Rectangle 28"/>
          <p:cNvSpPr/>
          <p:nvPr/>
        </p:nvSpPr>
        <p:spPr>
          <a:xfrm>
            <a:off x="4572000" y="3054096"/>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626864" y="3090672"/>
            <a:ext cx="2176272" cy="310896"/>
          </a:xfrm>
          <a:prstGeom prst="rect">
            <a:avLst/>
          </a:prstGeom>
          <a:noFill/>
        </p:spPr>
        <p:txBody>
          <a:bodyPr wrap="square">
            <a:spAutoFit/>
          </a:bodyPr>
          <a:lstStyle/>
          <a:p>
            <a:pPr algn="ctr"/>
            <a:r>
              <a:rPr sz="1000" b="0" i="0">
                <a:solidFill>
                  <a:srgbClr val="222233"/>
                </a:solidFill>
                <a:latin typeface="Calibri"/>
              </a:rPr>
              <a:t>0.747</a:t>
            </a:r>
          </a:p>
        </p:txBody>
      </p:sp>
      <p:sp>
        <p:nvSpPr>
          <p:cNvPr id="31" name="Rectangle 30"/>
          <p:cNvSpPr/>
          <p:nvPr/>
        </p:nvSpPr>
        <p:spPr>
          <a:xfrm>
            <a:off x="6858000" y="3054096"/>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12864" y="3090672"/>
            <a:ext cx="2176272" cy="310896"/>
          </a:xfrm>
          <a:prstGeom prst="rect">
            <a:avLst/>
          </a:prstGeom>
          <a:noFill/>
        </p:spPr>
        <p:txBody>
          <a:bodyPr wrap="square">
            <a:spAutoFit/>
          </a:bodyPr>
          <a:lstStyle/>
          <a:p>
            <a:pPr algn="ctr"/>
            <a:r>
              <a:rPr sz="1000" b="0" i="0">
                <a:solidFill>
                  <a:srgbClr val="222233"/>
                </a:solidFill>
                <a:latin typeface="Calibri"/>
              </a:rPr>
              <a:t>$5,113</a:t>
            </a:r>
          </a:p>
        </p:txBody>
      </p:sp>
      <p:sp>
        <p:nvSpPr>
          <p:cNvPr id="33" name="Rectangle 32"/>
          <p:cNvSpPr/>
          <p:nvPr/>
        </p:nvSpPr>
        <p:spPr>
          <a:xfrm>
            <a:off x="9144000" y="3054096"/>
            <a:ext cx="277063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98864" y="3090672"/>
            <a:ext cx="2660904" cy="310896"/>
          </a:xfrm>
          <a:prstGeom prst="rect">
            <a:avLst/>
          </a:prstGeom>
          <a:noFill/>
        </p:spPr>
        <p:txBody>
          <a:bodyPr wrap="square">
            <a:spAutoFit/>
          </a:bodyPr>
          <a:lstStyle/>
          <a:p>
            <a:pPr algn="ctr"/>
            <a:r>
              <a:rPr sz="1000" b="0" i="0">
                <a:solidFill>
                  <a:srgbClr val="222233"/>
                </a:solidFill>
                <a:latin typeface="Calibri"/>
              </a:rPr>
              <a:t>$62,770</a:t>
            </a:r>
          </a:p>
        </p:txBody>
      </p:sp>
      <p:sp>
        <p:nvSpPr>
          <p:cNvPr id="35" name="Rectangle 34"/>
          <p:cNvSpPr/>
          <p:nvPr/>
        </p:nvSpPr>
        <p:spPr>
          <a:xfrm>
            <a:off x="274320" y="3438144"/>
            <a:ext cx="201168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29184" y="3474720"/>
            <a:ext cx="1901952" cy="310896"/>
          </a:xfrm>
          <a:prstGeom prst="rect">
            <a:avLst/>
          </a:prstGeom>
          <a:noFill/>
        </p:spPr>
        <p:txBody>
          <a:bodyPr wrap="square">
            <a:spAutoFit/>
          </a:bodyPr>
          <a:lstStyle/>
          <a:p>
            <a:pPr algn="ctr"/>
            <a:r>
              <a:rPr sz="1000" b="0" i="0">
                <a:solidFill>
                  <a:srgbClr val="222233"/>
                </a:solidFill>
                <a:latin typeface="Calibri"/>
              </a:rPr>
              <a:t>0.1</a:t>
            </a:r>
          </a:p>
        </p:txBody>
      </p:sp>
      <p:sp>
        <p:nvSpPr>
          <p:cNvPr id="37" name="Rectangle 36"/>
          <p:cNvSpPr/>
          <p:nvPr/>
        </p:nvSpPr>
        <p:spPr>
          <a:xfrm>
            <a:off x="2286000" y="3438144"/>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340864" y="3474720"/>
            <a:ext cx="2176272" cy="310896"/>
          </a:xfrm>
          <a:prstGeom prst="rect">
            <a:avLst/>
          </a:prstGeom>
          <a:noFill/>
        </p:spPr>
        <p:txBody>
          <a:bodyPr wrap="square">
            <a:spAutoFit/>
          </a:bodyPr>
          <a:lstStyle/>
          <a:p>
            <a:pPr algn="ctr"/>
            <a:r>
              <a:rPr sz="1000" b="0" i="0">
                <a:solidFill>
                  <a:srgbClr val="222233"/>
                </a:solidFill>
                <a:latin typeface="Calibri"/>
              </a:rPr>
              <a:t>0.969</a:t>
            </a:r>
          </a:p>
        </p:txBody>
      </p:sp>
      <p:sp>
        <p:nvSpPr>
          <p:cNvPr id="39" name="Rectangle 38"/>
          <p:cNvSpPr/>
          <p:nvPr/>
        </p:nvSpPr>
        <p:spPr>
          <a:xfrm>
            <a:off x="4572000" y="3438144"/>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26864" y="3474720"/>
            <a:ext cx="2176272" cy="310896"/>
          </a:xfrm>
          <a:prstGeom prst="rect">
            <a:avLst/>
          </a:prstGeom>
          <a:noFill/>
        </p:spPr>
        <p:txBody>
          <a:bodyPr wrap="square">
            <a:spAutoFit/>
          </a:bodyPr>
          <a:lstStyle/>
          <a:p>
            <a:pPr algn="ctr"/>
            <a:r>
              <a:rPr sz="1000" b="0" i="0">
                <a:solidFill>
                  <a:srgbClr val="222233"/>
                </a:solidFill>
                <a:latin typeface="Calibri"/>
              </a:rPr>
              <a:t>0.741</a:t>
            </a:r>
          </a:p>
        </p:txBody>
      </p:sp>
      <p:sp>
        <p:nvSpPr>
          <p:cNvPr id="41" name="Rectangle 40"/>
          <p:cNvSpPr/>
          <p:nvPr/>
        </p:nvSpPr>
        <p:spPr>
          <a:xfrm>
            <a:off x="6858000" y="3438144"/>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912864" y="3474720"/>
            <a:ext cx="2176272" cy="310896"/>
          </a:xfrm>
          <a:prstGeom prst="rect">
            <a:avLst/>
          </a:prstGeom>
          <a:noFill/>
        </p:spPr>
        <p:txBody>
          <a:bodyPr wrap="square">
            <a:spAutoFit/>
          </a:bodyPr>
          <a:lstStyle/>
          <a:p>
            <a:pPr algn="ctr"/>
            <a:r>
              <a:rPr sz="1000" b="0" i="0">
                <a:solidFill>
                  <a:srgbClr val="222233"/>
                </a:solidFill>
                <a:latin typeface="Calibri"/>
              </a:rPr>
              <a:t>$5,787</a:t>
            </a:r>
          </a:p>
        </p:txBody>
      </p:sp>
      <p:sp>
        <p:nvSpPr>
          <p:cNvPr id="43" name="Rectangle 42"/>
          <p:cNvSpPr/>
          <p:nvPr/>
        </p:nvSpPr>
        <p:spPr>
          <a:xfrm>
            <a:off x="9144000" y="3438144"/>
            <a:ext cx="277063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98864" y="3474720"/>
            <a:ext cx="2660904" cy="310896"/>
          </a:xfrm>
          <a:prstGeom prst="rect">
            <a:avLst/>
          </a:prstGeom>
          <a:noFill/>
        </p:spPr>
        <p:txBody>
          <a:bodyPr wrap="square">
            <a:spAutoFit/>
          </a:bodyPr>
          <a:lstStyle/>
          <a:p>
            <a:pPr algn="ctr"/>
            <a:r>
              <a:rPr sz="1000" b="0" i="0">
                <a:solidFill>
                  <a:srgbClr val="222233"/>
                </a:solidFill>
                <a:latin typeface="Calibri"/>
              </a:rPr>
              <a:t>$66,586</a:t>
            </a:r>
          </a:p>
        </p:txBody>
      </p:sp>
      <p:sp>
        <p:nvSpPr>
          <p:cNvPr id="45" name="Rectangle 44"/>
          <p:cNvSpPr/>
          <p:nvPr/>
        </p:nvSpPr>
        <p:spPr>
          <a:xfrm>
            <a:off x="274320" y="3822192"/>
            <a:ext cx="201168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29184" y="3858768"/>
            <a:ext cx="1901952" cy="310896"/>
          </a:xfrm>
          <a:prstGeom prst="rect">
            <a:avLst/>
          </a:prstGeom>
          <a:noFill/>
        </p:spPr>
        <p:txBody>
          <a:bodyPr wrap="square">
            <a:spAutoFit/>
          </a:bodyPr>
          <a:lstStyle/>
          <a:p>
            <a:pPr algn="ctr"/>
            <a:r>
              <a:rPr sz="1000" b="0" i="0">
                <a:solidFill>
                  <a:srgbClr val="222233"/>
                </a:solidFill>
                <a:latin typeface="Calibri"/>
              </a:rPr>
              <a:t>0.2</a:t>
            </a:r>
          </a:p>
        </p:txBody>
      </p:sp>
      <p:sp>
        <p:nvSpPr>
          <p:cNvPr id="47" name="Rectangle 46"/>
          <p:cNvSpPr/>
          <p:nvPr/>
        </p:nvSpPr>
        <p:spPr>
          <a:xfrm>
            <a:off x="2286000" y="3822192"/>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40864" y="3858768"/>
            <a:ext cx="2176272" cy="310896"/>
          </a:xfrm>
          <a:prstGeom prst="rect">
            <a:avLst/>
          </a:prstGeom>
          <a:noFill/>
        </p:spPr>
        <p:txBody>
          <a:bodyPr wrap="square">
            <a:spAutoFit/>
          </a:bodyPr>
          <a:lstStyle/>
          <a:p>
            <a:pPr algn="ctr"/>
            <a:r>
              <a:rPr sz="1000" b="0" i="0">
                <a:solidFill>
                  <a:srgbClr val="222233"/>
                </a:solidFill>
                <a:latin typeface="Calibri"/>
              </a:rPr>
              <a:t>0.954</a:t>
            </a:r>
          </a:p>
        </p:txBody>
      </p:sp>
      <p:sp>
        <p:nvSpPr>
          <p:cNvPr id="49" name="Rectangle 48"/>
          <p:cNvSpPr/>
          <p:nvPr/>
        </p:nvSpPr>
        <p:spPr>
          <a:xfrm>
            <a:off x="4572000" y="3822192"/>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626864" y="3858768"/>
            <a:ext cx="2176272" cy="310896"/>
          </a:xfrm>
          <a:prstGeom prst="rect">
            <a:avLst/>
          </a:prstGeom>
          <a:noFill/>
        </p:spPr>
        <p:txBody>
          <a:bodyPr wrap="square">
            <a:spAutoFit/>
          </a:bodyPr>
          <a:lstStyle/>
          <a:p>
            <a:pPr algn="ctr"/>
            <a:r>
              <a:rPr sz="1000" b="0" i="0">
                <a:solidFill>
                  <a:srgbClr val="222233"/>
                </a:solidFill>
                <a:latin typeface="Calibri"/>
              </a:rPr>
              <a:t>0.731</a:t>
            </a:r>
          </a:p>
        </p:txBody>
      </p:sp>
      <p:sp>
        <p:nvSpPr>
          <p:cNvPr id="51" name="Rectangle 50"/>
          <p:cNvSpPr/>
          <p:nvPr/>
        </p:nvSpPr>
        <p:spPr>
          <a:xfrm>
            <a:off x="6858000" y="3822192"/>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912864" y="3858768"/>
            <a:ext cx="2176272" cy="310896"/>
          </a:xfrm>
          <a:prstGeom prst="rect">
            <a:avLst/>
          </a:prstGeom>
          <a:noFill/>
        </p:spPr>
        <p:txBody>
          <a:bodyPr wrap="square">
            <a:spAutoFit/>
          </a:bodyPr>
          <a:lstStyle/>
          <a:p>
            <a:pPr algn="ctr"/>
            <a:r>
              <a:rPr sz="1000" b="0" i="0">
                <a:solidFill>
                  <a:srgbClr val="222233"/>
                </a:solidFill>
                <a:latin typeface="Calibri"/>
              </a:rPr>
              <a:t>$6,177</a:t>
            </a:r>
          </a:p>
        </p:txBody>
      </p:sp>
      <p:sp>
        <p:nvSpPr>
          <p:cNvPr id="53" name="Rectangle 52"/>
          <p:cNvSpPr/>
          <p:nvPr/>
        </p:nvSpPr>
        <p:spPr>
          <a:xfrm>
            <a:off x="9144000" y="3822192"/>
            <a:ext cx="277063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198864" y="3858768"/>
            <a:ext cx="2660904" cy="310896"/>
          </a:xfrm>
          <a:prstGeom prst="rect">
            <a:avLst/>
          </a:prstGeom>
          <a:noFill/>
        </p:spPr>
        <p:txBody>
          <a:bodyPr wrap="square">
            <a:spAutoFit/>
          </a:bodyPr>
          <a:lstStyle/>
          <a:p>
            <a:pPr algn="ctr"/>
            <a:r>
              <a:rPr sz="1000" b="0" i="0">
                <a:solidFill>
                  <a:srgbClr val="222233"/>
                </a:solidFill>
                <a:latin typeface="Calibri"/>
              </a:rPr>
              <a:t>$67,984</a:t>
            </a:r>
          </a:p>
        </p:txBody>
      </p:sp>
      <p:sp>
        <p:nvSpPr>
          <p:cNvPr id="55" name="Rectangle 54"/>
          <p:cNvSpPr/>
          <p:nvPr/>
        </p:nvSpPr>
        <p:spPr>
          <a:xfrm>
            <a:off x="274320" y="4206240"/>
            <a:ext cx="201168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9184" y="4242816"/>
            <a:ext cx="1901952" cy="310896"/>
          </a:xfrm>
          <a:prstGeom prst="rect">
            <a:avLst/>
          </a:prstGeom>
          <a:noFill/>
        </p:spPr>
        <p:txBody>
          <a:bodyPr wrap="square">
            <a:spAutoFit/>
          </a:bodyPr>
          <a:lstStyle/>
          <a:p>
            <a:pPr algn="ctr"/>
            <a:r>
              <a:rPr sz="1000" b="0" i="0">
                <a:solidFill>
                  <a:srgbClr val="222233"/>
                </a:solidFill>
                <a:latin typeface="Calibri"/>
              </a:rPr>
              <a:t>0.3  (default)</a:t>
            </a:r>
          </a:p>
        </p:txBody>
      </p:sp>
      <p:sp>
        <p:nvSpPr>
          <p:cNvPr id="57" name="Rectangle 56"/>
          <p:cNvSpPr/>
          <p:nvPr/>
        </p:nvSpPr>
        <p:spPr>
          <a:xfrm>
            <a:off x="2286000" y="4206240"/>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340864" y="4242816"/>
            <a:ext cx="2176272" cy="310896"/>
          </a:xfrm>
          <a:prstGeom prst="rect">
            <a:avLst/>
          </a:prstGeom>
          <a:noFill/>
        </p:spPr>
        <p:txBody>
          <a:bodyPr wrap="square">
            <a:spAutoFit/>
          </a:bodyPr>
          <a:lstStyle/>
          <a:p>
            <a:pPr algn="ctr"/>
            <a:r>
              <a:rPr sz="1000" b="0" i="0">
                <a:solidFill>
                  <a:srgbClr val="222233"/>
                </a:solidFill>
                <a:latin typeface="Calibri"/>
              </a:rPr>
              <a:t>0.929</a:t>
            </a:r>
          </a:p>
        </p:txBody>
      </p:sp>
      <p:sp>
        <p:nvSpPr>
          <p:cNvPr id="59" name="Rectangle 58"/>
          <p:cNvSpPr/>
          <p:nvPr/>
        </p:nvSpPr>
        <p:spPr>
          <a:xfrm>
            <a:off x="4572000" y="4206240"/>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626864" y="4242816"/>
            <a:ext cx="2176272" cy="310896"/>
          </a:xfrm>
          <a:prstGeom prst="rect">
            <a:avLst/>
          </a:prstGeom>
          <a:noFill/>
        </p:spPr>
        <p:txBody>
          <a:bodyPr wrap="square">
            <a:spAutoFit/>
          </a:bodyPr>
          <a:lstStyle/>
          <a:p>
            <a:pPr algn="ctr"/>
            <a:r>
              <a:rPr sz="1000" b="0" i="0">
                <a:solidFill>
                  <a:srgbClr val="222233"/>
                </a:solidFill>
                <a:latin typeface="Calibri"/>
              </a:rPr>
              <a:t>0.716</a:t>
            </a:r>
          </a:p>
        </p:txBody>
      </p:sp>
      <p:sp>
        <p:nvSpPr>
          <p:cNvPr id="61" name="Rectangle 60"/>
          <p:cNvSpPr/>
          <p:nvPr/>
        </p:nvSpPr>
        <p:spPr>
          <a:xfrm>
            <a:off x="6858000" y="4206240"/>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912864" y="4242816"/>
            <a:ext cx="2176272" cy="310896"/>
          </a:xfrm>
          <a:prstGeom prst="rect">
            <a:avLst/>
          </a:prstGeom>
          <a:noFill/>
        </p:spPr>
        <p:txBody>
          <a:bodyPr wrap="square">
            <a:spAutoFit/>
          </a:bodyPr>
          <a:lstStyle/>
          <a:p>
            <a:pPr algn="ctr"/>
            <a:r>
              <a:rPr sz="1000" b="0" i="0">
                <a:solidFill>
                  <a:srgbClr val="222233"/>
                </a:solidFill>
                <a:latin typeface="Calibri"/>
              </a:rPr>
              <a:t>$6,492</a:t>
            </a:r>
          </a:p>
        </p:txBody>
      </p:sp>
      <p:sp>
        <p:nvSpPr>
          <p:cNvPr id="63" name="Rectangle 62"/>
          <p:cNvSpPr/>
          <p:nvPr/>
        </p:nvSpPr>
        <p:spPr>
          <a:xfrm>
            <a:off x="9144000" y="4206240"/>
            <a:ext cx="277063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198864" y="4242816"/>
            <a:ext cx="2660904" cy="310896"/>
          </a:xfrm>
          <a:prstGeom prst="rect">
            <a:avLst/>
          </a:prstGeom>
          <a:noFill/>
        </p:spPr>
        <p:txBody>
          <a:bodyPr wrap="square">
            <a:spAutoFit/>
          </a:bodyPr>
          <a:lstStyle/>
          <a:p>
            <a:pPr algn="ctr"/>
            <a:r>
              <a:rPr sz="1000" b="0" i="0">
                <a:solidFill>
                  <a:srgbClr val="222233"/>
                </a:solidFill>
                <a:latin typeface="Calibri"/>
              </a:rPr>
              <a:t>$69,077</a:t>
            </a:r>
          </a:p>
        </p:txBody>
      </p:sp>
      <p:sp>
        <p:nvSpPr>
          <p:cNvPr id="65" name="Rectangle 64"/>
          <p:cNvSpPr/>
          <p:nvPr/>
        </p:nvSpPr>
        <p:spPr>
          <a:xfrm>
            <a:off x="274320" y="4590288"/>
            <a:ext cx="201168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29184" y="4626864"/>
            <a:ext cx="1901952" cy="310896"/>
          </a:xfrm>
          <a:prstGeom prst="rect">
            <a:avLst/>
          </a:prstGeom>
          <a:noFill/>
        </p:spPr>
        <p:txBody>
          <a:bodyPr wrap="square">
            <a:spAutoFit/>
          </a:bodyPr>
          <a:lstStyle/>
          <a:p>
            <a:pPr algn="ctr"/>
            <a:r>
              <a:rPr sz="1000" b="0" i="0">
                <a:solidFill>
                  <a:srgbClr val="222233"/>
                </a:solidFill>
                <a:latin typeface="Calibri"/>
              </a:rPr>
              <a:t>0.5</a:t>
            </a:r>
          </a:p>
        </p:txBody>
      </p:sp>
      <p:sp>
        <p:nvSpPr>
          <p:cNvPr id="67" name="Rectangle 66"/>
          <p:cNvSpPr/>
          <p:nvPr/>
        </p:nvSpPr>
        <p:spPr>
          <a:xfrm>
            <a:off x="2286000" y="4590288"/>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340864" y="4626864"/>
            <a:ext cx="2176272" cy="310896"/>
          </a:xfrm>
          <a:prstGeom prst="rect">
            <a:avLst/>
          </a:prstGeom>
          <a:noFill/>
        </p:spPr>
        <p:txBody>
          <a:bodyPr wrap="square">
            <a:spAutoFit/>
          </a:bodyPr>
          <a:lstStyle/>
          <a:p>
            <a:pPr algn="ctr"/>
            <a:r>
              <a:rPr sz="1000" b="0" i="0">
                <a:solidFill>
                  <a:srgbClr val="222233"/>
                </a:solidFill>
                <a:latin typeface="Calibri"/>
              </a:rPr>
              <a:t>0.865</a:t>
            </a:r>
          </a:p>
        </p:txBody>
      </p:sp>
      <p:sp>
        <p:nvSpPr>
          <p:cNvPr id="69" name="Rectangle 68"/>
          <p:cNvSpPr/>
          <p:nvPr/>
        </p:nvSpPr>
        <p:spPr>
          <a:xfrm>
            <a:off x="4572000" y="4590288"/>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4626864" y="4626864"/>
            <a:ext cx="2176272" cy="310896"/>
          </a:xfrm>
          <a:prstGeom prst="rect">
            <a:avLst/>
          </a:prstGeom>
          <a:noFill/>
        </p:spPr>
        <p:txBody>
          <a:bodyPr wrap="square">
            <a:spAutoFit/>
          </a:bodyPr>
          <a:lstStyle/>
          <a:p>
            <a:pPr algn="ctr"/>
            <a:r>
              <a:rPr sz="1000" b="0" i="0">
                <a:solidFill>
                  <a:srgbClr val="222233"/>
                </a:solidFill>
                <a:latin typeface="Calibri"/>
              </a:rPr>
              <a:t>0.689</a:t>
            </a:r>
          </a:p>
        </p:txBody>
      </p:sp>
      <p:sp>
        <p:nvSpPr>
          <p:cNvPr id="71" name="Rectangle 70"/>
          <p:cNvSpPr/>
          <p:nvPr/>
        </p:nvSpPr>
        <p:spPr>
          <a:xfrm>
            <a:off x="6858000" y="4590288"/>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12864" y="4626864"/>
            <a:ext cx="2176272" cy="310896"/>
          </a:xfrm>
          <a:prstGeom prst="rect">
            <a:avLst/>
          </a:prstGeom>
          <a:noFill/>
        </p:spPr>
        <p:txBody>
          <a:bodyPr wrap="square">
            <a:spAutoFit/>
          </a:bodyPr>
          <a:lstStyle/>
          <a:p>
            <a:pPr algn="ctr"/>
            <a:r>
              <a:rPr sz="1000" b="0" i="0">
                <a:solidFill>
                  <a:srgbClr val="222233"/>
                </a:solidFill>
                <a:latin typeface="Calibri"/>
              </a:rPr>
              <a:t>$6,901</a:t>
            </a:r>
          </a:p>
        </p:txBody>
      </p:sp>
      <p:sp>
        <p:nvSpPr>
          <p:cNvPr id="73" name="Rectangle 72"/>
          <p:cNvSpPr/>
          <p:nvPr/>
        </p:nvSpPr>
        <p:spPr>
          <a:xfrm>
            <a:off x="9144000" y="4590288"/>
            <a:ext cx="2770632"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9198864" y="4626864"/>
            <a:ext cx="2660904" cy="310896"/>
          </a:xfrm>
          <a:prstGeom prst="rect">
            <a:avLst/>
          </a:prstGeom>
          <a:noFill/>
        </p:spPr>
        <p:txBody>
          <a:bodyPr wrap="square">
            <a:spAutoFit/>
          </a:bodyPr>
          <a:lstStyle/>
          <a:p>
            <a:pPr algn="ctr"/>
            <a:r>
              <a:rPr sz="1000" b="0" i="0">
                <a:solidFill>
                  <a:srgbClr val="222233"/>
                </a:solidFill>
                <a:latin typeface="Calibri"/>
              </a:rPr>
              <a:t>$69,444</a:t>
            </a:r>
          </a:p>
        </p:txBody>
      </p:sp>
      <p:sp>
        <p:nvSpPr>
          <p:cNvPr id="75" name="Rectangle 74"/>
          <p:cNvSpPr/>
          <p:nvPr/>
        </p:nvSpPr>
        <p:spPr>
          <a:xfrm>
            <a:off x="274320" y="4974336"/>
            <a:ext cx="201168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329184" y="5010912"/>
            <a:ext cx="1901952" cy="310896"/>
          </a:xfrm>
          <a:prstGeom prst="rect">
            <a:avLst/>
          </a:prstGeom>
          <a:noFill/>
        </p:spPr>
        <p:txBody>
          <a:bodyPr wrap="square">
            <a:spAutoFit/>
          </a:bodyPr>
          <a:lstStyle/>
          <a:p>
            <a:pPr algn="ctr"/>
            <a:r>
              <a:rPr sz="1000" b="0" i="0">
                <a:solidFill>
                  <a:srgbClr val="222233"/>
                </a:solidFill>
                <a:latin typeface="Calibri"/>
              </a:rPr>
              <a:t>0.7</a:t>
            </a:r>
          </a:p>
        </p:txBody>
      </p:sp>
      <p:sp>
        <p:nvSpPr>
          <p:cNvPr id="77" name="Rectangle 76"/>
          <p:cNvSpPr/>
          <p:nvPr/>
        </p:nvSpPr>
        <p:spPr>
          <a:xfrm>
            <a:off x="2286000" y="4974336"/>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2340864" y="5010912"/>
            <a:ext cx="2176272" cy="310896"/>
          </a:xfrm>
          <a:prstGeom prst="rect">
            <a:avLst/>
          </a:prstGeom>
          <a:noFill/>
        </p:spPr>
        <p:txBody>
          <a:bodyPr wrap="square">
            <a:spAutoFit/>
          </a:bodyPr>
          <a:lstStyle/>
          <a:p>
            <a:pPr algn="ctr"/>
            <a:r>
              <a:rPr sz="1000" b="0" i="0">
                <a:solidFill>
                  <a:srgbClr val="222233"/>
                </a:solidFill>
                <a:latin typeface="Calibri"/>
              </a:rPr>
              <a:t>0.816</a:t>
            </a:r>
          </a:p>
        </p:txBody>
      </p:sp>
      <p:sp>
        <p:nvSpPr>
          <p:cNvPr id="79" name="Rectangle 78"/>
          <p:cNvSpPr/>
          <p:nvPr/>
        </p:nvSpPr>
        <p:spPr>
          <a:xfrm>
            <a:off x="4572000" y="4974336"/>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4626864" y="5010912"/>
            <a:ext cx="2176272" cy="310896"/>
          </a:xfrm>
          <a:prstGeom prst="rect">
            <a:avLst/>
          </a:prstGeom>
          <a:noFill/>
        </p:spPr>
        <p:txBody>
          <a:bodyPr wrap="square">
            <a:spAutoFit/>
          </a:bodyPr>
          <a:lstStyle/>
          <a:p>
            <a:pPr algn="ctr"/>
            <a:r>
              <a:rPr sz="1000" b="0" i="0">
                <a:solidFill>
                  <a:srgbClr val="222233"/>
                </a:solidFill>
                <a:latin typeface="Calibri"/>
              </a:rPr>
              <a:t>0.663</a:t>
            </a:r>
          </a:p>
        </p:txBody>
      </p:sp>
      <p:sp>
        <p:nvSpPr>
          <p:cNvPr id="81" name="Rectangle 80"/>
          <p:cNvSpPr/>
          <p:nvPr/>
        </p:nvSpPr>
        <p:spPr>
          <a:xfrm>
            <a:off x="6858000" y="4974336"/>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6912864" y="5010912"/>
            <a:ext cx="2176272" cy="310896"/>
          </a:xfrm>
          <a:prstGeom prst="rect">
            <a:avLst/>
          </a:prstGeom>
          <a:noFill/>
        </p:spPr>
        <p:txBody>
          <a:bodyPr wrap="square">
            <a:spAutoFit/>
          </a:bodyPr>
          <a:lstStyle/>
          <a:p>
            <a:pPr algn="ctr"/>
            <a:r>
              <a:rPr sz="1000" b="0" i="0">
                <a:solidFill>
                  <a:srgbClr val="222233"/>
                </a:solidFill>
                <a:latin typeface="Calibri"/>
              </a:rPr>
              <a:t>$7,174</a:t>
            </a:r>
          </a:p>
        </p:txBody>
      </p:sp>
      <p:sp>
        <p:nvSpPr>
          <p:cNvPr id="83" name="Rectangle 82"/>
          <p:cNvSpPr/>
          <p:nvPr/>
        </p:nvSpPr>
        <p:spPr>
          <a:xfrm>
            <a:off x="9144000" y="4974336"/>
            <a:ext cx="2770632"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8864" y="5010912"/>
            <a:ext cx="2660904" cy="310896"/>
          </a:xfrm>
          <a:prstGeom prst="rect">
            <a:avLst/>
          </a:prstGeom>
          <a:noFill/>
        </p:spPr>
        <p:txBody>
          <a:bodyPr wrap="square">
            <a:spAutoFit/>
          </a:bodyPr>
          <a:lstStyle/>
          <a:p>
            <a:pPr algn="ctr"/>
            <a:r>
              <a:rPr sz="1000" b="0" i="0">
                <a:solidFill>
                  <a:srgbClr val="222233"/>
                </a:solidFill>
                <a:latin typeface="Calibri"/>
              </a:rPr>
              <a:t>$70,195</a:t>
            </a:r>
          </a:p>
        </p:txBody>
      </p:sp>
      <p:sp>
        <p:nvSpPr>
          <p:cNvPr id="85" name="Rectangle 84"/>
          <p:cNvSpPr/>
          <p:nvPr/>
        </p:nvSpPr>
        <p:spPr>
          <a:xfrm>
            <a:off x="274320" y="5358384"/>
            <a:ext cx="201168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329184" y="5394960"/>
            <a:ext cx="1901952" cy="310896"/>
          </a:xfrm>
          <a:prstGeom prst="rect">
            <a:avLst/>
          </a:prstGeom>
          <a:noFill/>
        </p:spPr>
        <p:txBody>
          <a:bodyPr wrap="square">
            <a:spAutoFit/>
          </a:bodyPr>
          <a:lstStyle/>
          <a:p>
            <a:pPr algn="ctr"/>
            <a:r>
              <a:rPr sz="1000" b="0" i="0">
                <a:solidFill>
                  <a:srgbClr val="222233"/>
                </a:solidFill>
                <a:latin typeface="Calibri"/>
              </a:rPr>
              <a:t>1.0</a:t>
            </a:r>
          </a:p>
        </p:txBody>
      </p:sp>
      <p:sp>
        <p:nvSpPr>
          <p:cNvPr id="87" name="Rectangle 86"/>
          <p:cNvSpPr/>
          <p:nvPr/>
        </p:nvSpPr>
        <p:spPr>
          <a:xfrm>
            <a:off x="2286000" y="5358384"/>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2340864" y="5394960"/>
            <a:ext cx="2176272" cy="310896"/>
          </a:xfrm>
          <a:prstGeom prst="rect">
            <a:avLst/>
          </a:prstGeom>
          <a:noFill/>
        </p:spPr>
        <p:txBody>
          <a:bodyPr wrap="square">
            <a:spAutoFit/>
          </a:bodyPr>
          <a:lstStyle/>
          <a:p>
            <a:pPr algn="ctr"/>
            <a:r>
              <a:rPr sz="1000" b="0" i="0">
                <a:solidFill>
                  <a:srgbClr val="222233"/>
                </a:solidFill>
                <a:latin typeface="Calibri"/>
              </a:rPr>
              <a:t>0.801</a:t>
            </a:r>
          </a:p>
        </p:txBody>
      </p:sp>
      <p:sp>
        <p:nvSpPr>
          <p:cNvPr id="89" name="Rectangle 88"/>
          <p:cNvSpPr/>
          <p:nvPr/>
        </p:nvSpPr>
        <p:spPr>
          <a:xfrm>
            <a:off x="4572000" y="5358384"/>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626864" y="5394960"/>
            <a:ext cx="2176272" cy="310896"/>
          </a:xfrm>
          <a:prstGeom prst="rect">
            <a:avLst/>
          </a:prstGeom>
          <a:noFill/>
        </p:spPr>
        <p:txBody>
          <a:bodyPr wrap="square">
            <a:spAutoFit/>
          </a:bodyPr>
          <a:lstStyle/>
          <a:p>
            <a:pPr algn="ctr"/>
            <a:r>
              <a:rPr sz="1000" b="0" i="0">
                <a:solidFill>
                  <a:srgbClr val="222233"/>
                </a:solidFill>
                <a:latin typeface="Calibri"/>
              </a:rPr>
              <a:t>0.649</a:t>
            </a:r>
          </a:p>
        </p:txBody>
      </p:sp>
      <p:sp>
        <p:nvSpPr>
          <p:cNvPr id="91" name="Rectangle 90"/>
          <p:cNvSpPr/>
          <p:nvPr/>
        </p:nvSpPr>
        <p:spPr>
          <a:xfrm>
            <a:off x="6858000" y="5358384"/>
            <a:ext cx="2286000"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6912864" y="5394960"/>
            <a:ext cx="2176272" cy="310896"/>
          </a:xfrm>
          <a:prstGeom prst="rect">
            <a:avLst/>
          </a:prstGeom>
          <a:noFill/>
        </p:spPr>
        <p:txBody>
          <a:bodyPr wrap="square">
            <a:spAutoFit/>
          </a:bodyPr>
          <a:lstStyle/>
          <a:p>
            <a:pPr algn="ctr"/>
            <a:r>
              <a:rPr sz="1000" b="0" i="0">
                <a:solidFill>
                  <a:srgbClr val="222233"/>
                </a:solidFill>
                <a:latin typeface="Calibri"/>
              </a:rPr>
              <a:t>$7,259</a:t>
            </a:r>
          </a:p>
        </p:txBody>
      </p:sp>
      <p:sp>
        <p:nvSpPr>
          <p:cNvPr id="93" name="Rectangle 92"/>
          <p:cNvSpPr/>
          <p:nvPr/>
        </p:nvSpPr>
        <p:spPr>
          <a:xfrm>
            <a:off x="9144000" y="5358384"/>
            <a:ext cx="2770632" cy="384048"/>
          </a:xfrm>
          <a:prstGeom prst="rect">
            <a:avLst/>
          </a:prstGeom>
          <a:solidFill>
            <a:srgbClr val="FFF0F0"/>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9198864" y="5394960"/>
            <a:ext cx="2660904" cy="310896"/>
          </a:xfrm>
          <a:prstGeom prst="rect">
            <a:avLst/>
          </a:prstGeom>
          <a:noFill/>
        </p:spPr>
        <p:txBody>
          <a:bodyPr wrap="square">
            <a:spAutoFit/>
          </a:bodyPr>
          <a:lstStyle/>
          <a:p>
            <a:pPr algn="ctr"/>
            <a:r>
              <a:rPr sz="1000" b="0" i="0">
                <a:solidFill>
                  <a:srgbClr val="222233"/>
                </a:solidFill>
                <a:latin typeface="Calibri"/>
              </a:rPr>
              <a:t>$70,076</a:t>
            </a:r>
          </a:p>
        </p:txBody>
      </p:sp>
      <p:sp>
        <p:nvSpPr>
          <p:cNvPr id="95" name="TextBox 94"/>
          <p:cNvSpPr txBox="1"/>
          <p:nvPr/>
        </p:nvSpPr>
        <p:spPr>
          <a:xfrm>
            <a:off x="274320" y="5870448"/>
            <a:ext cx="11640312" cy="384048"/>
          </a:xfrm>
          <a:prstGeom prst="rect">
            <a:avLst/>
          </a:prstGeom>
          <a:noFill/>
        </p:spPr>
        <p:txBody>
          <a:bodyPr wrap="square">
            <a:spAutoFit/>
          </a:bodyPr>
          <a:lstStyle/>
          <a:p>
            <a:pPr algn="l"/>
            <a:r>
              <a:rPr sz="1100" b="1" i="1">
                <a:solidFill>
                  <a:srgbClr val="C0392B"/>
                </a:solidFill>
                <a:latin typeface="Calibri"/>
              </a:rPr>
              <a:t>No-LLM baseline: intent fulfilment = 0.683. At bias 1.0, LLM score 0.649 falls below the no-LLM baseline.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Experiment 4: Consumer Trust Sweep</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X</a:t>
            </a:r>
          </a:p>
        </p:txBody>
      </p:sp>
      <p:sp>
        <p:nvSpPr>
          <p:cNvPr id="10" name="TextBox 9"/>
          <p:cNvSpPr txBox="1"/>
          <p:nvPr/>
        </p:nvSpPr>
        <p:spPr>
          <a:xfrm>
            <a:off x="274320" y="1051560"/>
            <a:ext cx="11640312" cy="411480"/>
          </a:xfrm>
          <a:prstGeom prst="rect">
            <a:avLst/>
          </a:prstGeom>
          <a:noFill/>
        </p:spPr>
        <p:txBody>
          <a:bodyPr wrap="square">
            <a:spAutoFit/>
          </a:bodyPr>
          <a:lstStyle/>
          <a:p>
            <a:pPr algn="l"/>
            <a:r>
              <a:rPr sz="1200" b="1" i="0">
                <a:solidFill>
                  <a:srgbClr val="1A2E4A"/>
                </a:solidFill>
                <a:latin typeface="Calibri"/>
              </a:rPr>
              <a:t>Question: Does consumer trust change LLM market outcomes?  Regime: LLM Neutral vs No-LLM.</a:t>
            </a:r>
          </a:p>
        </p:txBody>
      </p:sp>
      <p:sp>
        <p:nvSpPr>
          <p:cNvPr id="11" name="TextBox 10"/>
          <p:cNvSpPr txBox="1"/>
          <p:nvPr/>
        </p:nvSpPr>
        <p:spPr>
          <a:xfrm>
            <a:off x="274320" y="1572768"/>
            <a:ext cx="11640312" cy="292608"/>
          </a:xfrm>
          <a:prstGeom prst="rect">
            <a:avLst/>
          </a:prstGeom>
          <a:noFill/>
        </p:spPr>
        <p:txBody>
          <a:bodyPr wrap="square">
            <a:spAutoFit/>
          </a:bodyPr>
          <a:lstStyle/>
          <a:p>
            <a:pPr algn="l"/>
            <a:r>
              <a:rPr sz="1200" b="1" i="0">
                <a:solidFill>
                  <a:srgbClr val="1A2E4A"/>
                </a:solidFill>
                <a:latin typeface="Calibri"/>
              </a:rPr>
              <a:t>Trust bands and results</a:t>
            </a:r>
          </a:p>
        </p:txBody>
      </p:sp>
      <p:sp>
        <p:nvSpPr>
          <p:cNvPr id="12" name="Rectangle 11"/>
          <p:cNvSpPr/>
          <p:nvPr/>
        </p:nvSpPr>
        <p:spPr>
          <a:xfrm>
            <a:off x="274320" y="1892807"/>
            <a:ext cx="228600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9184" y="1929383"/>
            <a:ext cx="2176272" cy="292608"/>
          </a:xfrm>
          <a:prstGeom prst="rect">
            <a:avLst/>
          </a:prstGeom>
          <a:noFill/>
        </p:spPr>
        <p:txBody>
          <a:bodyPr wrap="square">
            <a:spAutoFit/>
          </a:bodyPr>
          <a:lstStyle/>
          <a:p>
            <a:pPr algn="ctr"/>
            <a:r>
              <a:rPr sz="1100" b="1" i="0">
                <a:solidFill>
                  <a:srgbClr val="FFFFFF"/>
                </a:solidFill>
                <a:latin typeface="Calibri"/>
              </a:rPr>
              <a:t>Trust band</a:t>
            </a:r>
          </a:p>
        </p:txBody>
      </p:sp>
      <p:sp>
        <p:nvSpPr>
          <p:cNvPr id="14" name="Rectangle 13"/>
          <p:cNvSpPr/>
          <p:nvPr/>
        </p:nvSpPr>
        <p:spPr>
          <a:xfrm>
            <a:off x="2560320" y="1892807"/>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15184" y="1929383"/>
            <a:ext cx="1993392" cy="292608"/>
          </a:xfrm>
          <a:prstGeom prst="rect">
            <a:avLst/>
          </a:prstGeom>
          <a:noFill/>
        </p:spPr>
        <p:txBody>
          <a:bodyPr wrap="square">
            <a:spAutoFit/>
          </a:bodyPr>
          <a:lstStyle/>
          <a:p>
            <a:pPr algn="ctr"/>
            <a:r>
              <a:rPr sz="1100" b="1" i="0">
                <a:solidFill>
                  <a:srgbClr val="FFFFFF"/>
                </a:solidFill>
                <a:latin typeface="Calibri"/>
              </a:rPr>
              <a:t>LLM conv.</a:t>
            </a:r>
          </a:p>
        </p:txBody>
      </p:sp>
      <p:sp>
        <p:nvSpPr>
          <p:cNvPr id="16" name="Rectangle 15"/>
          <p:cNvSpPr/>
          <p:nvPr/>
        </p:nvSpPr>
        <p:spPr>
          <a:xfrm>
            <a:off x="4663440" y="1892807"/>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18304" y="1929383"/>
            <a:ext cx="1993392" cy="292608"/>
          </a:xfrm>
          <a:prstGeom prst="rect">
            <a:avLst/>
          </a:prstGeom>
          <a:noFill/>
        </p:spPr>
        <p:txBody>
          <a:bodyPr wrap="square">
            <a:spAutoFit/>
          </a:bodyPr>
          <a:lstStyle/>
          <a:p>
            <a:pPr algn="ctr"/>
            <a:r>
              <a:rPr sz="1100" b="1" i="0">
                <a:solidFill>
                  <a:srgbClr val="FFFFFF"/>
                </a:solidFill>
                <a:latin typeface="Calibri"/>
              </a:rPr>
              <a:t>No-LLM conv.</a:t>
            </a:r>
          </a:p>
        </p:txBody>
      </p:sp>
      <p:sp>
        <p:nvSpPr>
          <p:cNvPr id="18" name="Rectangle 17"/>
          <p:cNvSpPr/>
          <p:nvPr/>
        </p:nvSpPr>
        <p:spPr>
          <a:xfrm>
            <a:off x="6766560" y="1892807"/>
            <a:ext cx="2103120"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21424" y="1929383"/>
            <a:ext cx="1993392" cy="292608"/>
          </a:xfrm>
          <a:prstGeom prst="rect">
            <a:avLst/>
          </a:prstGeom>
          <a:noFill/>
        </p:spPr>
        <p:txBody>
          <a:bodyPr wrap="square">
            <a:spAutoFit/>
          </a:bodyPr>
          <a:lstStyle/>
          <a:p>
            <a:pPr algn="ctr"/>
            <a:r>
              <a:rPr sz="1100" b="1" i="0">
                <a:solidFill>
                  <a:srgbClr val="FFFFFF"/>
                </a:solidFill>
                <a:latin typeface="Calibri"/>
              </a:rPr>
              <a:t>Intent fulfil.</a:t>
            </a:r>
          </a:p>
        </p:txBody>
      </p:sp>
      <p:sp>
        <p:nvSpPr>
          <p:cNvPr id="20" name="Rectangle 19"/>
          <p:cNvSpPr/>
          <p:nvPr/>
        </p:nvSpPr>
        <p:spPr>
          <a:xfrm>
            <a:off x="8869680" y="1892807"/>
            <a:ext cx="3044952" cy="36576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24544" y="1929383"/>
            <a:ext cx="2935224" cy="292608"/>
          </a:xfrm>
          <a:prstGeom prst="rect">
            <a:avLst/>
          </a:prstGeom>
          <a:noFill/>
        </p:spPr>
        <p:txBody>
          <a:bodyPr wrap="square">
            <a:spAutoFit/>
          </a:bodyPr>
          <a:lstStyle/>
          <a:p>
            <a:pPr algn="ctr"/>
            <a:r>
              <a:rPr sz="1100" b="1" i="0">
                <a:solidFill>
                  <a:srgbClr val="FFFFFF"/>
                </a:solidFill>
                <a:latin typeface="Calibri"/>
              </a:rPr>
              <a:t>HHI (LLM)</a:t>
            </a:r>
          </a:p>
        </p:txBody>
      </p:sp>
      <p:sp>
        <p:nvSpPr>
          <p:cNvPr id="22" name="Rectangle 21"/>
          <p:cNvSpPr/>
          <p:nvPr/>
        </p:nvSpPr>
        <p:spPr>
          <a:xfrm>
            <a:off x="274320" y="2258568"/>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 y="2295144"/>
            <a:ext cx="2176272" cy="310896"/>
          </a:xfrm>
          <a:prstGeom prst="rect">
            <a:avLst/>
          </a:prstGeom>
          <a:noFill/>
        </p:spPr>
        <p:txBody>
          <a:bodyPr wrap="square">
            <a:spAutoFit/>
          </a:bodyPr>
          <a:lstStyle/>
          <a:p>
            <a:pPr algn="l"/>
            <a:r>
              <a:rPr sz="1000" b="0" i="0">
                <a:solidFill>
                  <a:srgbClr val="222233"/>
                </a:solidFill>
                <a:latin typeface="Calibri"/>
              </a:rPr>
              <a:t>Very Low  (0.0–0.2)</a:t>
            </a:r>
          </a:p>
        </p:txBody>
      </p:sp>
      <p:sp>
        <p:nvSpPr>
          <p:cNvPr id="24" name="Rectangle 23"/>
          <p:cNvSpPr/>
          <p:nvPr/>
        </p:nvSpPr>
        <p:spPr>
          <a:xfrm>
            <a:off x="2560320" y="2258568"/>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615184" y="2295144"/>
            <a:ext cx="1993392" cy="310896"/>
          </a:xfrm>
          <a:prstGeom prst="rect">
            <a:avLst/>
          </a:prstGeom>
          <a:noFill/>
        </p:spPr>
        <p:txBody>
          <a:bodyPr wrap="square">
            <a:spAutoFit/>
          </a:bodyPr>
          <a:lstStyle/>
          <a:p>
            <a:pPr algn="ctr"/>
            <a:r>
              <a:rPr sz="1000" b="0" i="0">
                <a:solidFill>
                  <a:srgbClr val="222233"/>
                </a:solidFill>
                <a:latin typeface="Calibri"/>
              </a:rPr>
              <a:t>78.6%</a:t>
            </a:r>
          </a:p>
        </p:txBody>
      </p:sp>
      <p:sp>
        <p:nvSpPr>
          <p:cNvPr id="26" name="Rectangle 25"/>
          <p:cNvSpPr/>
          <p:nvPr/>
        </p:nvSpPr>
        <p:spPr>
          <a:xfrm>
            <a:off x="4663440" y="2258568"/>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18304" y="2295144"/>
            <a:ext cx="1993392" cy="310896"/>
          </a:xfrm>
          <a:prstGeom prst="rect">
            <a:avLst/>
          </a:prstGeom>
          <a:noFill/>
        </p:spPr>
        <p:txBody>
          <a:bodyPr wrap="square">
            <a:spAutoFit/>
          </a:bodyPr>
          <a:lstStyle/>
          <a:p>
            <a:pPr algn="ctr"/>
            <a:r>
              <a:rPr sz="1000" b="0" i="0">
                <a:solidFill>
                  <a:srgbClr val="222233"/>
                </a:solidFill>
                <a:latin typeface="Calibri"/>
              </a:rPr>
              <a:t>80.4%</a:t>
            </a:r>
          </a:p>
        </p:txBody>
      </p:sp>
      <p:sp>
        <p:nvSpPr>
          <p:cNvPr id="28" name="Rectangle 27"/>
          <p:cNvSpPr/>
          <p:nvPr/>
        </p:nvSpPr>
        <p:spPr>
          <a:xfrm>
            <a:off x="6766560" y="2258568"/>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21424" y="2295144"/>
            <a:ext cx="1993392" cy="310896"/>
          </a:xfrm>
          <a:prstGeom prst="rect">
            <a:avLst/>
          </a:prstGeom>
          <a:noFill/>
        </p:spPr>
        <p:txBody>
          <a:bodyPr wrap="square">
            <a:spAutoFit/>
          </a:bodyPr>
          <a:lstStyle/>
          <a:p>
            <a:pPr algn="ctr"/>
            <a:r>
              <a:rPr sz="1000" b="0" i="0">
                <a:solidFill>
                  <a:srgbClr val="222233"/>
                </a:solidFill>
                <a:latin typeface="Calibri"/>
              </a:rPr>
              <a:t>0.748</a:t>
            </a:r>
          </a:p>
        </p:txBody>
      </p:sp>
      <p:sp>
        <p:nvSpPr>
          <p:cNvPr id="30" name="Rectangle 29"/>
          <p:cNvSpPr/>
          <p:nvPr/>
        </p:nvSpPr>
        <p:spPr>
          <a:xfrm>
            <a:off x="8869680" y="2258568"/>
            <a:ext cx="304495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924544" y="2295144"/>
            <a:ext cx="2935224" cy="310896"/>
          </a:xfrm>
          <a:prstGeom prst="rect">
            <a:avLst/>
          </a:prstGeom>
          <a:noFill/>
        </p:spPr>
        <p:txBody>
          <a:bodyPr wrap="square">
            <a:spAutoFit/>
          </a:bodyPr>
          <a:lstStyle/>
          <a:p>
            <a:pPr algn="ctr"/>
            <a:r>
              <a:rPr sz="1000" b="0" i="0">
                <a:solidFill>
                  <a:srgbClr val="222233"/>
                </a:solidFill>
                <a:latin typeface="Calibri"/>
              </a:rPr>
              <a:t>0.0216</a:t>
            </a:r>
          </a:p>
        </p:txBody>
      </p:sp>
      <p:sp>
        <p:nvSpPr>
          <p:cNvPr id="32" name="Rectangle 31"/>
          <p:cNvSpPr/>
          <p:nvPr/>
        </p:nvSpPr>
        <p:spPr>
          <a:xfrm>
            <a:off x="274320" y="2642616"/>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9184" y="2679192"/>
            <a:ext cx="2176272" cy="310896"/>
          </a:xfrm>
          <a:prstGeom prst="rect">
            <a:avLst/>
          </a:prstGeom>
          <a:noFill/>
        </p:spPr>
        <p:txBody>
          <a:bodyPr wrap="square">
            <a:spAutoFit/>
          </a:bodyPr>
          <a:lstStyle/>
          <a:p>
            <a:pPr algn="l"/>
            <a:r>
              <a:rPr sz="1000" b="0" i="0">
                <a:solidFill>
                  <a:srgbClr val="222233"/>
                </a:solidFill>
                <a:latin typeface="Calibri"/>
              </a:rPr>
              <a:t>Low       (0.2–0.4)</a:t>
            </a:r>
          </a:p>
        </p:txBody>
      </p:sp>
      <p:sp>
        <p:nvSpPr>
          <p:cNvPr id="34" name="Rectangle 33"/>
          <p:cNvSpPr/>
          <p:nvPr/>
        </p:nvSpPr>
        <p:spPr>
          <a:xfrm>
            <a:off x="2560320" y="2642616"/>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615184" y="2679192"/>
            <a:ext cx="1993392" cy="310896"/>
          </a:xfrm>
          <a:prstGeom prst="rect">
            <a:avLst/>
          </a:prstGeom>
          <a:noFill/>
        </p:spPr>
        <p:txBody>
          <a:bodyPr wrap="square">
            <a:spAutoFit/>
          </a:bodyPr>
          <a:lstStyle/>
          <a:p>
            <a:pPr algn="ctr"/>
            <a:r>
              <a:rPr sz="1000" b="0" i="0">
                <a:solidFill>
                  <a:srgbClr val="222233"/>
                </a:solidFill>
                <a:latin typeface="Calibri"/>
              </a:rPr>
              <a:t>80.2%</a:t>
            </a:r>
          </a:p>
        </p:txBody>
      </p:sp>
      <p:sp>
        <p:nvSpPr>
          <p:cNvPr id="36" name="Rectangle 35"/>
          <p:cNvSpPr/>
          <p:nvPr/>
        </p:nvSpPr>
        <p:spPr>
          <a:xfrm>
            <a:off x="4663440" y="2642616"/>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718304" y="2679192"/>
            <a:ext cx="1993392" cy="310896"/>
          </a:xfrm>
          <a:prstGeom prst="rect">
            <a:avLst/>
          </a:prstGeom>
          <a:noFill/>
        </p:spPr>
        <p:txBody>
          <a:bodyPr wrap="square">
            <a:spAutoFit/>
          </a:bodyPr>
          <a:lstStyle/>
          <a:p>
            <a:pPr algn="ctr"/>
            <a:r>
              <a:rPr sz="1000" b="0" i="0">
                <a:solidFill>
                  <a:srgbClr val="222233"/>
                </a:solidFill>
                <a:latin typeface="Calibri"/>
              </a:rPr>
              <a:t>80.4%</a:t>
            </a:r>
          </a:p>
        </p:txBody>
      </p:sp>
      <p:sp>
        <p:nvSpPr>
          <p:cNvPr id="38" name="Rectangle 37"/>
          <p:cNvSpPr/>
          <p:nvPr/>
        </p:nvSpPr>
        <p:spPr>
          <a:xfrm>
            <a:off x="6766560" y="2642616"/>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821424" y="2679192"/>
            <a:ext cx="1993392" cy="310896"/>
          </a:xfrm>
          <a:prstGeom prst="rect">
            <a:avLst/>
          </a:prstGeom>
          <a:noFill/>
        </p:spPr>
        <p:txBody>
          <a:bodyPr wrap="square">
            <a:spAutoFit/>
          </a:bodyPr>
          <a:lstStyle/>
          <a:p>
            <a:pPr algn="ctr"/>
            <a:r>
              <a:rPr sz="1000" b="0" i="0">
                <a:solidFill>
                  <a:srgbClr val="222233"/>
                </a:solidFill>
                <a:latin typeface="Calibri"/>
              </a:rPr>
              <a:t>0.747</a:t>
            </a:r>
          </a:p>
        </p:txBody>
      </p:sp>
      <p:sp>
        <p:nvSpPr>
          <p:cNvPr id="40" name="Rectangle 39"/>
          <p:cNvSpPr/>
          <p:nvPr/>
        </p:nvSpPr>
        <p:spPr>
          <a:xfrm>
            <a:off x="8869680" y="2642616"/>
            <a:ext cx="304495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924544" y="2679192"/>
            <a:ext cx="2935224" cy="310896"/>
          </a:xfrm>
          <a:prstGeom prst="rect">
            <a:avLst/>
          </a:prstGeom>
          <a:noFill/>
        </p:spPr>
        <p:txBody>
          <a:bodyPr wrap="square">
            <a:spAutoFit/>
          </a:bodyPr>
          <a:lstStyle/>
          <a:p>
            <a:pPr algn="ctr"/>
            <a:r>
              <a:rPr sz="1000" b="0" i="0">
                <a:solidFill>
                  <a:srgbClr val="222233"/>
                </a:solidFill>
                <a:latin typeface="Calibri"/>
              </a:rPr>
              <a:t>0.0216</a:t>
            </a:r>
          </a:p>
        </p:txBody>
      </p:sp>
      <p:sp>
        <p:nvSpPr>
          <p:cNvPr id="42" name="Rectangle 41"/>
          <p:cNvSpPr/>
          <p:nvPr/>
        </p:nvSpPr>
        <p:spPr>
          <a:xfrm>
            <a:off x="274320" y="3026664"/>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29184" y="3063240"/>
            <a:ext cx="2176272" cy="310896"/>
          </a:xfrm>
          <a:prstGeom prst="rect">
            <a:avLst/>
          </a:prstGeom>
          <a:noFill/>
        </p:spPr>
        <p:txBody>
          <a:bodyPr wrap="square">
            <a:spAutoFit/>
          </a:bodyPr>
          <a:lstStyle/>
          <a:p>
            <a:pPr algn="l"/>
            <a:r>
              <a:rPr sz="1000" b="0" i="0">
                <a:solidFill>
                  <a:srgbClr val="222233"/>
                </a:solidFill>
                <a:latin typeface="Calibri"/>
              </a:rPr>
              <a:t>Medium    (0.4–0.6)</a:t>
            </a:r>
          </a:p>
        </p:txBody>
      </p:sp>
      <p:sp>
        <p:nvSpPr>
          <p:cNvPr id="44" name="Rectangle 43"/>
          <p:cNvSpPr/>
          <p:nvPr/>
        </p:nvSpPr>
        <p:spPr>
          <a:xfrm>
            <a:off x="2560320" y="3026664"/>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615184" y="3063240"/>
            <a:ext cx="1993392" cy="310896"/>
          </a:xfrm>
          <a:prstGeom prst="rect">
            <a:avLst/>
          </a:prstGeom>
          <a:noFill/>
        </p:spPr>
        <p:txBody>
          <a:bodyPr wrap="square">
            <a:spAutoFit/>
          </a:bodyPr>
          <a:lstStyle/>
          <a:p>
            <a:pPr algn="ctr"/>
            <a:r>
              <a:rPr sz="1000" b="0" i="0">
                <a:solidFill>
                  <a:srgbClr val="222233"/>
                </a:solidFill>
                <a:latin typeface="Calibri"/>
              </a:rPr>
              <a:t>82.0%</a:t>
            </a:r>
          </a:p>
        </p:txBody>
      </p:sp>
      <p:sp>
        <p:nvSpPr>
          <p:cNvPr id="46" name="Rectangle 45"/>
          <p:cNvSpPr/>
          <p:nvPr/>
        </p:nvSpPr>
        <p:spPr>
          <a:xfrm>
            <a:off x="4663440" y="3026664"/>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18304" y="3063240"/>
            <a:ext cx="1993392" cy="310896"/>
          </a:xfrm>
          <a:prstGeom prst="rect">
            <a:avLst/>
          </a:prstGeom>
          <a:noFill/>
        </p:spPr>
        <p:txBody>
          <a:bodyPr wrap="square">
            <a:spAutoFit/>
          </a:bodyPr>
          <a:lstStyle/>
          <a:p>
            <a:pPr algn="ctr"/>
            <a:r>
              <a:rPr sz="1000" b="0" i="0">
                <a:solidFill>
                  <a:srgbClr val="222233"/>
                </a:solidFill>
                <a:latin typeface="Calibri"/>
              </a:rPr>
              <a:t>80.4%</a:t>
            </a:r>
          </a:p>
        </p:txBody>
      </p:sp>
      <p:sp>
        <p:nvSpPr>
          <p:cNvPr id="48" name="Rectangle 47"/>
          <p:cNvSpPr/>
          <p:nvPr/>
        </p:nvSpPr>
        <p:spPr>
          <a:xfrm>
            <a:off x="6766560" y="3026664"/>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21424" y="3063240"/>
            <a:ext cx="1993392" cy="310896"/>
          </a:xfrm>
          <a:prstGeom prst="rect">
            <a:avLst/>
          </a:prstGeom>
          <a:noFill/>
        </p:spPr>
        <p:txBody>
          <a:bodyPr wrap="square">
            <a:spAutoFit/>
          </a:bodyPr>
          <a:lstStyle/>
          <a:p>
            <a:pPr algn="ctr"/>
            <a:r>
              <a:rPr sz="1000" b="0" i="0">
                <a:solidFill>
                  <a:srgbClr val="222233"/>
                </a:solidFill>
                <a:latin typeface="Calibri"/>
              </a:rPr>
              <a:t>0.747</a:t>
            </a:r>
          </a:p>
        </p:txBody>
      </p:sp>
      <p:sp>
        <p:nvSpPr>
          <p:cNvPr id="50" name="Rectangle 49"/>
          <p:cNvSpPr/>
          <p:nvPr/>
        </p:nvSpPr>
        <p:spPr>
          <a:xfrm>
            <a:off x="8869680" y="3026664"/>
            <a:ext cx="304495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924544" y="3063240"/>
            <a:ext cx="2935224" cy="310896"/>
          </a:xfrm>
          <a:prstGeom prst="rect">
            <a:avLst/>
          </a:prstGeom>
          <a:noFill/>
        </p:spPr>
        <p:txBody>
          <a:bodyPr wrap="square">
            <a:spAutoFit/>
          </a:bodyPr>
          <a:lstStyle/>
          <a:p>
            <a:pPr algn="ctr"/>
            <a:r>
              <a:rPr sz="1000" b="0" i="0">
                <a:solidFill>
                  <a:srgbClr val="222233"/>
                </a:solidFill>
                <a:latin typeface="Calibri"/>
              </a:rPr>
              <a:t>0.0216</a:t>
            </a:r>
          </a:p>
        </p:txBody>
      </p:sp>
      <p:sp>
        <p:nvSpPr>
          <p:cNvPr id="52" name="Rectangle 51"/>
          <p:cNvSpPr/>
          <p:nvPr/>
        </p:nvSpPr>
        <p:spPr>
          <a:xfrm>
            <a:off x="274320" y="3410712"/>
            <a:ext cx="228600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29184" y="3447288"/>
            <a:ext cx="2176272" cy="310896"/>
          </a:xfrm>
          <a:prstGeom prst="rect">
            <a:avLst/>
          </a:prstGeom>
          <a:noFill/>
        </p:spPr>
        <p:txBody>
          <a:bodyPr wrap="square">
            <a:spAutoFit/>
          </a:bodyPr>
          <a:lstStyle/>
          <a:p>
            <a:pPr algn="l"/>
            <a:r>
              <a:rPr sz="1000" b="0" i="0">
                <a:solidFill>
                  <a:srgbClr val="222233"/>
                </a:solidFill>
                <a:latin typeface="Calibri"/>
              </a:rPr>
              <a:t>High      (0.6–0.8)</a:t>
            </a:r>
          </a:p>
        </p:txBody>
      </p:sp>
      <p:sp>
        <p:nvSpPr>
          <p:cNvPr id="54" name="Rectangle 53"/>
          <p:cNvSpPr/>
          <p:nvPr/>
        </p:nvSpPr>
        <p:spPr>
          <a:xfrm>
            <a:off x="2560320" y="3410712"/>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615184" y="3447288"/>
            <a:ext cx="1993392" cy="310896"/>
          </a:xfrm>
          <a:prstGeom prst="rect">
            <a:avLst/>
          </a:prstGeom>
          <a:noFill/>
        </p:spPr>
        <p:txBody>
          <a:bodyPr wrap="square">
            <a:spAutoFit/>
          </a:bodyPr>
          <a:lstStyle/>
          <a:p>
            <a:pPr algn="ctr"/>
            <a:r>
              <a:rPr sz="1000" b="0" i="0">
                <a:solidFill>
                  <a:srgbClr val="222233"/>
                </a:solidFill>
                <a:latin typeface="Calibri"/>
              </a:rPr>
              <a:t>83.7%</a:t>
            </a:r>
          </a:p>
        </p:txBody>
      </p:sp>
      <p:sp>
        <p:nvSpPr>
          <p:cNvPr id="56" name="Rectangle 55"/>
          <p:cNvSpPr/>
          <p:nvPr/>
        </p:nvSpPr>
        <p:spPr>
          <a:xfrm>
            <a:off x="4663440" y="3410712"/>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718304" y="3447288"/>
            <a:ext cx="1993392" cy="310896"/>
          </a:xfrm>
          <a:prstGeom prst="rect">
            <a:avLst/>
          </a:prstGeom>
          <a:noFill/>
        </p:spPr>
        <p:txBody>
          <a:bodyPr wrap="square">
            <a:spAutoFit/>
          </a:bodyPr>
          <a:lstStyle/>
          <a:p>
            <a:pPr algn="ctr"/>
            <a:r>
              <a:rPr sz="1000" b="0" i="0">
                <a:solidFill>
                  <a:srgbClr val="222233"/>
                </a:solidFill>
                <a:latin typeface="Calibri"/>
              </a:rPr>
              <a:t>80.4%</a:t>
            </a:r>
          </a:p>
        </p:txBody>
      </p:sp>
      <p:sp>
        <p:nvSpPr>
          <p:cNvPr id="58" name="Rectangle 57"/>
          <p:cNvSpPr/>
          <p:nvPr/>
        </p:nvSpPr>
        <p:spPr>
          <a:xfrm>
            <a:off x="6766560" y="3410712"/>
            <a:ext cx="2103120"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21424" y="3447288"/>
            <a:ext cx="1993392" cy="310896"/>
          </a:xfrm>
          <a:prstGeom prst="rect">
            <a:avLst/>
          </a:prstGeom>
          <a:noFill/>
        </p:spPr>
        <p:txBody>
          <a:bodyPr wrap="square">
            <a:spAutoFit/>
          </a:bodyPr>
          <a:lstStyle/>
          <a:p>
            <a:pPr algn="ctr"/>
            <a:r>
              <a:rPr sz="1000" b="0" i="0">
                <a:solidFill>
                  <a:srgbClr val="222233"/>
                </a:solidFill>
                <a:latin typeface="Calibri"/>
              </a:rPr>
              <a:t>0.748</a:t>
            </a:r>
          </a:p>
        </p:txBody>
      </p:sp>
      <p:sp>
        <p:nvSpPr>
          <p:cNvPr id="60" name="Rectangle 59"/>
          <p:cNvSpPr/>
          <p:nvPr/>
        </p:nvSpPr>
        <p:spPr>
          <a:xfrm>
            <a:off x="8869680" y="3410712"/>
            <a:ext cx="3044952" cy="384048"/>
          </a:xfrm>
          <a:prstGeom prst="rect">
            <a:avLst/>
          </a:prstGeom>
          <a:solidFill>
            <a:srgbClr val="F0F4F8"/>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924544" y="3447288"/>
            <a:ext cx="2935224" cy="310896"/>
          </a:xfrm>
          <a:prstGeom prst="rect">
            <a:avLst/>
          </a:prstGeom>
          <a:noFill/>
        </p:spPr>
        <p:txBody>
          <a:bodyPr wrap="square">
            <a:spAutoFit/>
          </a:bodyPr>
          <a:lstStyle/>
          <a:p>
            <a:pPr algn="ctr"/>
            <a:r>
              <a:rPr sz="1000" b="0" i="0">
                <a:solidFill>
                  <a:srgbClr val="222233"/>
                </a:solidFill>
                <a:latin typeface="Calibri"/>
              </a:rPr>
              <a:t>0.0215</a:t>
            </a:r>
          </a:p>
        </p:txBody>
      </p:sp>
      <p:sp>
        <p:nvSpPr>
          <p:cNvPr id="62" name="Rectangle 61"/>
          <p:cNvSpPr/>
          <p:nvPr/>
        </p:nvSpPr>
        <p:spPr>
          <a:xfrm>
            <a:off x="274320" y="3794760"/>
            <a:ext cx="228600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29184" y="3831336"/>
            <a:ext cx="2176272" cy="310896"/>
          </a:xfrm>
          <a:prstGeom prst="rect">
            <a:avLst/>
          </a:prstGeom>
          <a:noFill/>
        </p:spPr>
        <p:txBody>
          <a:bodyPr wrap="square">
            <a:spAutoFit/>
          </a:bodyPr>
          <a:lstStyle/>
          <a:p>
            <a:pPr algn="l"/>
            <a:r>
              <a:rPr sz="1000" b="0" i="0">
                <a:solidFill>
                  <a:srgbClr val="222233"/>
                </a:solidFill>
                <a:latin typeface="Calibri"/>
              </a:rPr>
              <a:t>Very High (0.8–1.0)</a:t>
            </a:r>
          </a:p>
        </p:txBody>
      </p:sp>
      <p:sp>
        <p:nvSpPr>
          <p:cNvPr id="64" name="Rectangle 63"/>
          <p:cNvSpPr/>
          <p:nvPr/>
        </p:nvSpPr>
        <p:spPr>
          <a:xfrm>
            <a:off x="2560320" y="3794760"/>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615184" y="3831336"/>
            <a:ext cx="1993392" cy="310896"/>
          </a:xfrm>
          <a:prstGeom prst="rect">
            <a:avLst/>
          </a:prstGeom>
          <a:noFill/>
        </p:spPr>
        <p:txBody>
          <a:bodyPr wrap="square">
            <a:spAutoFit/>
          </a:bodyPr>
          <a:lstStyle/>
          <a:p>
            <a:pPr algn="ctr"/>
            <a:r>
              <a:rPr sz="1000" b="0" i="0">
                <a:solidFill>
                  <a:srgbClr val="222233"/>
                </a:solidFill>
                <a:latin typeface="Calibri"/>
              </a:rPr>
              <a:t>85.2%</a:t>
            </a:r>
          </a:p>
        </p:txBody>
      </p:sp>
      <p:sp>
        <p:nvSpPr>
          <p:cNvPr id="66" name="Rectangle 65"/>
          <p:cNvSpPr/>
          <p:nvPr/>
        </p:nvSpPr>
        <p:spPr>
          <a:xfrm>
            <a:off x="4663440" y="3794760"/>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718304" y="3831336"/>
            <a:ext cx="1993392" cy="310896"/>
          </a:xfrm>
          <a:prstGeom prst="rect">
            <a:avLst/>
          </a:prstGeom>
          <a:noFill/>
        </p:spPr>
        <p:txBody>
          <a:bodyPr wrap="square">
            <a:spAutoFit/>
          </a:bodyPr>
          <a:lstStyle/>
          <a:p>
            <a:pPr algn="ctr"/>
            <a:r>
              <a:rPr sz="1000" b="0" i="0">
                <a:solidFill>
                  <a:srgbClr val="222233"/>
                </a:solidFill>
                <a:latin typeface="Calibri"/>
              </a:rPr>
              <a:t>80.4%</a:t>
            </a:r>
          </a:p>
        </p:txBody>
      </p:sp>
      <p:sp>
        <p:nvSpPr>
          <p:cNvPr id="68" name="Rectangle 67"/>
          <p:cNvSpPr/>
          <p:nvPr/>
        </p:nvSpPr>
        <p:spPr>
          <a:xfrm>
            <a:off x="6766560" y="3794760"/>
            <a:ext cx="2103120"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821424" y="3831336"/>
            <a:ext cx="1993392" cy="310896"/>
          </a:xfrm>
          <a:prstGeom prst="rect">
            <a:avLst/>
          </a:prstGeom>
          <a:noFill/>
        </p:spPr>
        <p:txBody>
          <a:bodyPr wrap="square">
            <a:spAutoFit/>
          </a:bodyPr>
          <a:lstStyle/>
          <a:p>
            <a:pPr algn="ctr"/>
            <a:r>
              <a:rPr sz="1000" b="0" i="0">
                <a:solidFill>
                  <a:srgbClr val="222233"/>
                </a:solidFill>
                <a:latin typeface="Calibri"/>
              </a:rPr>
              <a:t>0.749</a:t>
            </a:r>
          </a:p>
        </p:txBody>
      </p:sp>
      <p:sp>
        <p:nvSpPr>
          <p:cNvPr id="70" name="Rectangle 69"/>
          <p:cNvSpPr/>
          <p:nvPr/>
        </p:nvSpPr>
        <p:spPr>
          <a:xfrm>
            <a:off x="8869680" y="3794760"/>
            <a:ext cx="3044952" cy="384048"/>
          </a:xfrm>
          <a:prstGeom prst="rect">
            <a:avLst/>
          </a:prstGeom>
          <a:solidFill>
            <a:srgbClr val="FFFFFF"/>
          </a:solidFill>
          <a:ln w="6350">
            <a:solidFill>
              <a:srgbClr val="888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924544" y="3831336"/>
            <a:ext cx="2935224" cy="310896"/>
          </a:xfrm>
          <a:prstGeom prst="rect">
            <a:avLst/>
          </a:prstGeom>
          <a:noFill/>
        </p:spPr>
        <p:txBody>
          <a:bodyPr wrap="square">
            <a:spAutoFit/>
          </a:bodyPr>
          <a:lstStyle/>
          <a:p>
            <a:pPr algn="ctr"/>
            <a:r>
              <a:rPr sz="1000" b="0" i="0">
                <a:solidFill>
                  <a:srgbClr val="222233"/>
                </a:solidFill>
                <a:latin typeface="Calibri"/>
              </a:rPr>
              <a:t>0.0216</a:t>
            </a:r>
          </a:p>
        </p:txBody>
      </p:sp>
      <p:sp>
        <p:nvSpPr>
          <p:cNvPr id="72" name="TextBox 71"/>
          <p:cNvSpPr txBox="1"/>
          <p:nvPr/>
        </p:nvSpPr>
        <p:spPr>
          <a:xfrm>
            <a:off x="274320" y="4407408"/>
            <a:ext cx="11640312" cy="292608"/>
          </a:xfrm>
          <a:prstGeom prst="rect">
            <a:avLst/>
          </a:prstGeom>
          <a:noFill/>
        </p:spPr>
        <p:txBody>
          <a:bodyPr wrap="square">
            <a:spAutoFit/>
          </a:bodyPr>
          <a:lstStyle/>
          <a:p>
            <a:pPr algn="l"/>
            <a:r>
              <a:rPr sz="1200" b="1" i="0">
                <a:solidFill>
                  <a:srgbClr val="1A2E4A"/>
                </a:solidFill>
                <a:latin typeface="Calibri"/>
              </a:rPr>
              <a:t>Two distinct effects</a:t>
            </a:r>
          </a:p>
        </p:txBody>
      </p:sp>
      <p:sp>
        <p:nvSpPr>
          <p:cNvPr id="73" name="Rectangle 72"/>
          <p:cNvSpPr/>
          <p:nvPr/>
        </p:nvSpPr>
        <p:spPr>
          <a:xfrm>
            <a:off x="274320" y="4754880"/>
            <a:ext cx="11640312" cy="621792"/>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411480" y="4800600"/>
            <a:ext cx="11247120" cy="530352"/>
          </a:xfrm>
          <a:prstGeom prst="rect">
            <a:avLst/>
          </a:prstGeom>
          <a:noFill/>
        </p:spPr>
        <p:txBody>
          <a:bodyPr wrap="square">
            <a:spAutoFit/>
          </a:bodyPr>
          <a:lstStyle/>
          <a:p>
            <a:pPr algn="l"/>
            <a:r>
              <a:rPr sz="1200" b="0" i="0">
                <a:solidFill>
                  <a:srgbClr val="FFFFFF"/>
                </a:solidFill>
                <a:latin typeface="Calibri"/>
              </a:rPr>
              <a:t>Demand effect (strong):  Conversion rises from 78.6% to 85.2% (+6.6pp). Consumers who trust the AI follow recommendations more often.</a:t>
            </a:r>
          </a:p>
        </p:txBody>
      </p:sp>
      <p:sp>
        <p:nvSpPr>
          <p:cNvPr id="75" name="Rectangle 74"/>
          <p:cNvSpPr/>
          <p:nvPr/>
        </p:nvSpPr>
        <p:spPr>
          <a:xfrm>
            <a:off x="274320" y="5468112"/>
            <a:ext cx="11640312" cy="621792"/>
          </a:xfrm>
          <a:prstGeom prst="rect">
            <a:avLst/>
          </a:prstGeom>
          <a:solidFill>
            <a:srgbClr val="008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11480" y="5513832"/>
            <a:ext cx="11247120" cy="530352"/>
          </a:xfrm>
          <a:prstGeom prst="rect">
            <a:avLst/>
          </a:prstGeom>
          <a:noFill/>
        </p:spPr>
        <p:txBody>
          <a:bodyPr wrap="square">
            <a:spAutoFit/>
          </a:bodyPr>
          <a:lstStyle/>
          <a:p>
            <a:pPr algn="l"/>
            <a:r>
              <a:rPr sz="1200" b="0" i="0">
                <a:solidFill>
                  <a:srgbClr val="FFFFFF"/>
                </a:solidFill>
                <a:latin typeface="Calibri"/>
              </a:rPr>
              <a:t>Quality effect (flat):  Intent fulfilment stays 0.747–0.749 across all trust bands. Match quality is determined by the algorithm, not by adoption.</a:t>
            </a:r>
          </a:p>
        </p:txBody>
      </p:sp>
      <p:sp>
        <p:nvSpPr>
          <p:cNvPr id="77" name="TextBox 76"/>
          <p:cNvSpPr txBox="1"/>
          <p:nvPr/>
        </p:nvSpPr>
        <p:spPr>
          <a:xfrm>
            <a:off x="274320" y="6217920"/>
            <a:ext cx="11640312" cy="347472"/>
          </a:xfrm>
          <a:prstGeom prst="rect">
            <a:avLst/>
          </a:prstGeom>
          <a:noFill/>
        </p:spPr>
        <p:txBody>
          <a:bodyPr wrap="square">
            <a:spAutoFit/>
          </a:bodyPr>
          <a:lstStyle/>
          <a:p>
            <a:pPr algn="l"/>
            <a:r>
              <a:rPr sz="1100" b="0" i="1">
                <a:solidFill>
                  <a:srgbClr val="888899"/>
                </a:solidFill>
                <a:latin typeface="Calibri"/>
              </a:rPr>
              <a:t>Policy implication: even at low LLM adoption, the match quality produced for adopters is equally good.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Limitations (Extended)</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Y</a:t>
            </a:r>
          </a:p>
        </p:txBody>
      </p:sp>
      <p:sp>
        <p:nvSpPr>
          <p:cNvPr id="10" name="Rectangle 9"/>
          <p:cNvSpPr/>
          <p:nvPr/>
        </p:nvSpPr>
        <p:spPr>
          <a:xfrm>
            <a:off x="274320" y="1051560"/>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 y="1143000"/>
            <a:ext cx="5449824" cy="320040"/>
          </a:xfrm>
          <a:prstGeom prst="rect">
            <a:avLst/>
          </a:prstGeom>
          <a:noFill/>
        </p:spPr>
        <p:txBody>
          <a:bodyPr wrap="square">
            <a:spAutoFit/>
          </a:bodyPr>
          <a:lstStyle/>
          <a:p>
            <a:pPr algn="l"/>
            <a:r>
              <a:rPr sz="1200" b="1" i="0">
                <a:solidFill>
                  <a:srgbClr val="F0AB00"/>
                </a:solidFill>
                <a:latin typeface="Calibri"/>
              </a:rPr>
              <a:t>Static one-shot model</a:t>
            </a:r>
          </a:p>
        </p:txBody>
      </p:sp>
      <p:sp>
        <p:nvSpPr>
          <p:cNvPr id="12" name="TextBox 11"/>
          <p:cNvSpPr txBox="1"/>
          <p:nvPr/>
        </p:nvSpPr>
        <p:spPr>
          <a:xfrm>
            <a:off x="384048" y="1463040"/>
            <a:ext cx="5449824" cy="749808"/>
          </a:xfrm>
          <a:prstGeom prst="rect">
            <a:avLst/>
          </a:prstGeom>
          <a:noFill/>
        </p:spPr>
        <p:txBody>
          <a:bodyPr wrap="square">
            <a:spAutoFit/>
          </a:bodyPr>
          <a:lstStyle/>
          <a:p>
            <a:pPr algn="l"/>
            <a:r>
              <a:rPr sz="1000" b="0" i="0">
                <a:solidFill>
                  <a:srgbClr val="D6E4F0"/>
                </a:solidFill>
                <a:latin typeface="Calibri"/>
              </a:rPr>
              <a:t>No repeated strategic adaptation. Platforms and restaurants do not update strategy over time. Dynamic models would likely show stronger concentration effects as high-bid platforms build cumulative advantages.</a:t>
            </a:r>
          </a:p>
        </p:txBody>
      </p:sp>
      <p:sp>
        <p:nvSpPr>
          <p:cNvPr id="13" name="Rectangle 12"/>
          <p:cNvSpPr/>
          <p:nvPr/>
        </p:nvSpPr>
        <p:spPr>
          <a:xfrm>
            <a:off x="6245352" y="1051560"/>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143000"/>
            <a:ext cx="5449824" cy="320040"/>
          </a:xfrm>
          <a:prstGeom prst="rect">
            <a:avLst/>
          </a:prstGeom>
          <a:noFill/>
        </p:spPr>
        <p:txBody>
          <a:bodyPr wrap="square">
            <a:spAutoFit/>
          </a:bodyPr>
          <a:lstStyle/>
          <a:p>
            <a:pPr algn="l"/>
            <a:r>
              <a:rPr sz="1200" b="1" i="0">
                <a:solidFill>
                  <a:srgbClr val="F0AB00"/>
                </a:solidFill>
                <a:latin typeface="Calibri"/>
              </a:rPr>
              <a:t>No platform opt-out</a:t>
            </a:r>
          </a:p>
        </p:txBody>
      </p:sp>
      <p:sp>
        <p:nvSpPr>
          <p:cNvPr id="15" name="TextBox 14"/>
          <p:cNvSpPr txBox="1"/>
          <p:nvPr/>
        </p:nvSpPr>
        <p:spPr>
          <a:xfrm>
            <a:off x="6355080" y="1463040"/>
            <a:ext cx="5449824" cy="749808"/>
          </a:xfrm>
          <a:prstGeom prst="rect">
            <a:avLst/>
          </a:prstGeom>
          <a:noFill/>
        </p:spPr>
        <p:txBody>
          <a:bodyPr wrap="square">
            <a:spAutoFit/>
          </a:bodyPr>
          <a:lstStyle/>
          <a:p>
            <a:pPr algn="l"/>
            <a:r>
              <a:rPr sz="1000" b="0" i="0">
                <a:solidFill>
                  <a:srgbClr val="D6E4F0"/>
                </a:solidFill>
                <a:latin typeface="Calibri"/>
              </a:rPr>
              <a:t>All offers remain visible to the LLM. Future work could model API access gates, participation constraints, or platform negotiation over inventory visibility.</a:t>
            </a:r>
          </a:p>
        </p:txBody>
      </p:sp>
      <p:sp>
        <p:nvSpPr>
          <p:cNvPr id="16" name="Rectangle 15"/>
          <p:cNvSpPr/>
          <p:nvPr/>
        </p:nvSpPr>
        <p:spPr>
          <a:xfrm>
            <a:off x="274320" y="2350008"/>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4048" y="2441448"/>
            <a:ext cx="5449824" cy="320040"/>
          </a:xfrm>
          <a:prstGeom prst="rect">
            <a:avLst/>
          </a:prstGeom>
          <a:noFill/>
        </p:spPr>
        <p:txBody>
          <a:bodyPr wrap="square">
            <a:spAutoFit/>
          </a:bodyPr>
          <a:lstStyle/>
          <a:p>
            <a:pPr algn="l"/>
            <a:r>
              <a:rPr sz="1200" b="1" i="0">
                <a:solidFill>
                  <a:srgbClr val="F0AB00"/>
                </a:solidFill>
                <a:latin typeface="Calibri"/>
              </a:rPr>
              <a:t>Sponsored boost ≠ explicit ad payment</a:t>
            </a:r>
          </a:p>
        </p:txBody>
      </p:sp>
      <p:sp>
        <p:nvSpPr>
          <p:cNvPr id="18" name="TextBox 17"/>
          <p:cNvSpPr txBox="1"/>
          <p:nvPr/>
        </p:nvSpPr>
        <p:spPr>
          <a:xfrm>
            <a:off x="384048" y="2761488"/>
            <a:ext cx="5449824" cy="749808"/>
          </a:xfrm>
          <a:prstGeom prst="rect">
            <a:avLst/>
          </a:prstGeom>
          <a:noFill/>
        </p:spPr>
        <p:txBody>
          <a:bodyPr wrap="square">
            <a:spAutoFit/>
          </a:bodyPr>
          <a:lstStyle/>
          <a:p>
            <a:pPr algn="l"/>
            <a:r>
              <a:rPr sz="1000" b="0" i="0">
                <a:solidFill>
                  <a:srgbClr val="D6E4F0"/>
                </a:solidFill>
                <a:latin typeface="Calibri"/>
              </a:rPr>
              <a:t>Platform-internal sponsored boost affects ranking but is not separately tracked as restaurant-to-platform ad cash flow. Restaurant profits exclude ad spend.</a:t>
            </a:r>
          </a:p>
        </p:txBody>
      </p:sp>
      <p:sp>
        <p:nvSpPr>
          <p:cNvPr id="19" name="Rectangle 18"/>
          <p:cNvSpPr/>
          <p:nvPr/>
        </p:nvSpPr>
        <p:spPr>
          <a:xfrm>
            <a:off x="6245352" y="2350008"/>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55080" y="2441448"/>
            <a:ext cx="5449824" cy="320040"/>
          </a:xfrm>
          <a:prstGeom prst="rect">
            <a:avLst/>
          </a:prstGeom>
          <a:noFill/>
        </p:spPr>
        <p:txBody>
          <a:bodyPr wrap="square">
            <a:spAutoFit/>
          </a:bodyPr>
          <a:lstStyle/>
          <a:p>
            <a:pPr algn="l"/>
            <a:r>
              <a:rPr sz="1200" b="1" i="0">
                <a:solidFill>
                  <a:srgbClr val="F0AB00"/>
                </a:solidFill>
                <a:latin typeface="Calibri"/>
              </a:rPr>
              <a:t>Passive restaurants</a:t>
            </a:r>
          </a:p>
        </p:txBody>
      </p:sp>
      <p:sp>
        <p:nvSpPr>
          <p:cNvPr id="21" name="TextBox 20"/>
          <p:cNvSpPr txBox="1"/>
          <p:nvPr/>
        </p:nvSpPr>
        <p:spPr>
          <a:xfrm>
            <a:off x="6355080" y="2761488"/>
            <a:ext cx="5449824" cy="749808"/>
          </a:xfrm>
          <a:prstGeom prst="rect">
            <a:avLst/>
          </a:prstGeom>
          <a:noFill/>
        </p:spPr>
        <p:txBody>
          <a:bodyPr wrap="square">
            <a:spAutoFit/>
          </a:bodyPr>
          <a:lstStyle/>
          <a:p>
            <a:pPr algn="l"/>
            <a:r>
              <a:rPr sz="1000" b="0" i="0">
                <a:solidFill>
                  <a:srgbClr val="D6E4F0"/>
                </a:solidFill>
                <a:latin typeface="Calibri"/>
              </a:rPr>
              <a:t>Restaurants do not adjust menu prices, promo budgets, or platform participation in response to LLM routing. In practice they would optimize toward high-LLM-score attributes.</a:t>
            </a:r>
          </a:p>
        </p:txBody>
      </p:sp>
      <p:sp>
        <p:nvSpPr>
          <p:cNvPr id="22" name="Rectangle 21"/>
          <p:cNvSpPr/>
          <p:nvPr/>
        </p:nvSpPr>
        <p:spPr>
          <a:xfrm>
            <a:off x="274320" y="3648456"/>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84048" y="3739896"/>
            <a:ext cx="5449824" cy="320040"/>
          </a:xfrm>
          <a:prstGeom prst="rect">
            <a:avLst/>
          </a:prstGeom>
          <a:noFill/>
        </p:spPr>
        <p:txBody>
          <a:bodyPr wrap="square">
            <a:spAutoFit/>
          </a:bodyPr>
          <a:lstStyle/>
          <a:p>
            <a:pPr algn="l"/>
            <a:r>
              <a:rPr sz="1200" b="1" i="0">
                <a:solidFill>
                  <a:srgbClr val="F0AB00"/>
                </a:solidFill>
                <a:latin typeface="Calibri"/>
              </a:rPr>
              <a:t>Hand-coded cuisine similarity</a:t>
            </a:r>
          </a:p>
        </p:txBody>
      </p:sp>
      <p:sp>
        <p:nvSpPr>
          <p:cNvPr id="24" name="TextBox 23"/>
          <p:cNvSpPr txBox="1"/>
          <p:nvPr/>
        </p:nvSpPr>
        <p:spPr>
          <a:xfrm>
            <a:off x="384048" y="4059936"/>
            <a:ext cx="5449824" cy="749808"/>
          </a:xfrm>
          <a:prstGeom prst="rect">
            <a:avLst/>
          </a:prstGeom>
          <a:noFill/>
        </p:spPr>
        <p:txBody>
          <a:bodyPr wrap="square">
            <a:spAutoFit/>
          </a:bodyPr>
          <a:lstStyle/>
          <a:p>
            <a:pPr algn="l"/>
            <a:r>
              <a:rPr sz="1000" b="0" i="0">
                <a:solidFill>
                  <a:srgbClr val="D6E4F0"/>
                </a:solidFill>
                <a:latin typeface="Calibri"/>
              </a:rPr>
              <a:t>Cuisine distance uses a transparent hand-coded matrix. Future work could use sentence embedding similarity for richer semantic matching.</a:t>
            </a:r>
          </a:p>
        </p:txBody>
      </p:sp>
      <p:sp>
        <p:nvSpPr>
          <p:cNvPr id="25" name="Rectangle 24"/>
          <p:cNvSpPr/>
          <p:nvPr/>
        </p:nvSpPr>
        <p:spPr>
          <a:xfrm>
            <a:off x="6245352" y="3648456"/>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3739896"/>
            <a:ext cx="5449824" cy="320040"/>
          </a:xfrm>
          <a:prstGeom prst="rect">
            <a:avLst/>
          </a:prstGeom>
          <a:noFill/>
        </p:spPr>
        <p:txBody>
          <a:bodyPr wrap="square">
            <a:spAutoFit/>
          </a:bodyPr>
          <a:lstStyle/>
          <a:p>
            <a:pPr algn="l"/>
            <a:r>
              <a:rPr sz="1200" b="1" i="0">
                <a:solidFill>
                  <a:srgbClr val="F0AB00"/>
                </a:solidFill>
                <a:latin typeface="Calibri"/>
              </a:rPr>
              <a:t>Single LLM</a:t>
            </a:r>
          </a:p>
        </p:txBody>
      </p:sp>
      <p:sp>
        <p:nvSpPr>
          <p:cNvPr id="27" name="TextBox 26"/>
          <p:cNvSpPr txBox="1"/>
          <p:nvPr/>
        </p:nvSpPr>
        <p:spPr>
          <a:xfrm>
            <a:off x="6355080" y="4059936"/>
            <a:ext cx="5449824" cy="749808"/>
          </a:xfrm>
          <a:prstGeom prst="rect">
            <a:avLst/>
          </a:prstGeom>
          <a:noFill/>
        </p:spPr>
        <p:txBody>
          <a:bodyPr wrap="square">
            <a:spAutoFit/>
          </a:bodyPr>
          <a:lstStyle/>
          <a:p>
            <a:pPr algn="l"/>
            <a:r>
              <a:rPr sz="1000" b="0" i="0">
                <a:solidFill>
                  <a:srgbClr val="D6E4F0"/>
                </a:solidFill>
                <a:latin typeface="Calibri"/>
              </a:rPr>
              <a:t>No competition among AI assistants. Multi-LLM competition would shift platform bargaining power and change equilibrium payment rates.</a:t>
            </a:r>
          </a:p>
        </p:txBody>
      </p:sp>
      <p:sp>
        <p:nvSpPr>
          <p:cNvPr id="28" name="Rectangle 27"/>
          <p:cNvSpPr/>
          <p:nvPr/>
        </p:nvSpPr>
        <p:spPr>
          <a:xfrm>
            <a:off x="274320" y="4946904"/>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5038344"/>
            <a:ext cx="5449824" cy="320040"/>
          </a:xfrm>
          <a:prstGeom prst="rect">
            <a:avLst/>
          </a:prstGeom>
          <a:noFill/>
        </p:spPr>
        <p:txBody>
          <a:bodyPr wrap="square">
            <a:spAutoFit/>
          </a:bodyPr>
          <a:lstStyle/>
          <a:p>
            <a:pPr algn="l"/>
            <a:r>
              <a:rPr sz="1200" b="1" i="0">
                <a:solidFill>
                  <a:srgbClr val="F0AB00"/>
                </a:solidFill>
                <a:latin typeface="Calibri"/>
              </a:rPr>
              <a:t>No courier capacity constraints</a:t>
            </a:r>
          </a:p>
        </p:txBody>
      </p:sp>
      <p:sp>
        <p:nvSpPr>
          <p:cNvPr id="30" name="TextBox 29"/>
          <p:cNvSpPr txBox="1"/>
          <p:nvPr/>
        </p:nvSpPr>
        <p:spPr>
          <a:xfrm>
            <a:off x="384048" y="5358384"/>
            <a:ext cx="5449824" cy="749808"/>
          </a:xfrm>
          <a:prstGeom prst="rect">
            <a:avLst/>
          </a:prstGeom>
          <a:noFill/>
        </p:spPr>
        <p:txBody>
          <a:bodyPr wrap="square">
            <a:spAutoFit/>
          </a:bodyPr>
          <a:lstStyle/>
          <a:p>
            <a:pPr algn="l"/>
            <a:r>
              <a:rPr sz="1000" b="0" i="0">
                <a:solidFill>
                  <a:srgbClr val="D6E4F0"/>
                </a:solidFill>
                <a:latin typeface="Calibri"/>
              </a:rPr>
              <a:t>Delivery times are drawn from platform logistics distributions without dynamic congestion or driver assignment modeling.</a:t>
            </a:r>
          </a:p>
        </p:txBody>
      </p:sp>
      <p:sp>
        <p:nvSpPr>
          <p:cNvPr id="31" name="Rectangle 30"/>
          <p:cNvSpPr/>
          <p:nvPr/>
        </p:nvSpPr>
        <p:spPr>
          <a:xfrm>
            <a:off x="6245352" y="4946904"/>
            <a:ext cx="5669280" cy="1207008"/>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5038344"/>
            <a:ext cx="5449824" cy="320040"/>
          </a:xfrm>
          <a:prstGeom prst="rect">
            <a:avLst/>
          </a:prstGeom>
          <a:noFill/>
        </p:spPr>
        <p:txBody>
          <a:bodyPr wrap="square">
            <a:spAutoFit/>
          </a:bodyPr>
          <a:lstStyle/>
          <a:p>
            <a:pPr algn="l"/>
            <a:r>
              <a:rPr sz="1200" b="1" i="0">
                <a:solidFill>
                  <a:srgbClr val="F0AB00"/>
                </a:solidFill>
                <a:latin typeface="Calibri"/>
              </a:rPr>
              <a:t>No consumer learning</a:t>
            </a:r>
          </a:p>
        </p:txBody>
      </p:sp>
      <p:sp>
        <p:nvSpPr>
          <p:cNvPr id="33" name="TextBox 32"/>
          <p:cNvSpPr txBox="1"/>
          <p:nvPr/>
        </p:nvSpPr>
        <p:spPr>
          <a:xfrm>
            <a:off x="6355080" y="5358384"/>
            <a:ext cx="5449824" cy="749808"/>
          </a:xfrm>
          <a:prstGeom prst="rect">
            <a:avLst/>
          </a:prstGeom>
          <a:noFill/>
        </p:spPr>
        <p:txBody>
          <a:bodyPr wrap="square">
            <a:spAutoFit/>
          </a:bodyPr>
          <a:lstStyle/>
          <a:p>
            <a:pPr algn="l"/>
            <a:r>
              <a:rPr sz="1000" b="0" i="0">
                <a:solidFill>
                  <a:srgbClr val="D6E4F0"/>
                </a:solidFill>
                <a:latin typeface="Calibri"/>
              </a:rPr>
              <a:t>LLM trust is fixed within a simulation. Consumers do not update trust based on recommendation outcomes — no reinforcement learning or reputation dynamics.</a:t>
            </a:r>
          </a:p>
        </p:txBody>
      </p:sp>
      <p:sp>
        <p:nvSpPr>
          <p:cNvPr id="34" name="TextBox 33"/>
          <p:cNvSpPr txBox="1"/>
          <p:nvPr/>
        </p:nvSpPr>
        <p:spPr>
          <a:xfrm>
            <a:off x="274320" y="6217920"/>
            <a:ext cx="11640312" cy="347472"/>
          </a:xfrm>
          <a:prstGeom prst="rect">
            <a:avLst/>
          </a:prstGeom>
          <a:noFill/>
        </p:spPr>
        <p:txBody>
          <a:bodyPr wrap="square">
            <a:spAutoFit/>
          </a:bodyPr>
          <a:lstStyle/>
          <a:p>
            <a:pPr algn="l"/>
            <a:r>
              <a:rPr sz="1100" b="0" i="1">
                <a:solidFill>
                  <a:srgbClr val="888899"/>
                </a:solidFill>
                <a:latin typeface="Calibri"/>
              </a:rPr>
              <a:t>These are extensions for future work, not fatal flaws. The core mechanism — payment design determining welfare outcomes — is robust to these simplifications.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629400"/>
            <a:ext cx="12188952" cy="22860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6647688"/>
            <a:ext cx="11612880" cy="201168"/>
          </a:xfrm>
          <a:prstGeom prst="rect">
            <a:avLst/>
          </a:prstGeom>
          <a:noFill/>
        </p:spPr>
        <p:txBody>
          <a:bodyPr wrap="square">
            <a:spAutoFit/>
          </a:bodyPr>
          <a:lstStyle/>
          <a:p>
            <a:pPr algn="l"/>
            <a:r>
              <a:rPr sz="900" b="0" i="0">
                <a:solidFill>
                  <a:srgbClr val="7FA7CC"/>
                </a:solidFill>
                <a:latin typeface="Calibri"/>
              </a:rPr>
              <a:t>Columbia University  ·  Digital Marketplaces  ·  Spring 2026</a:t>
            </a:r>
          </a:p>
        </p:txBody>
      </p:sp>
      <p:sp>
        <p:nvSpPr>
          <p:cNvPr id="5" name="Rectangle 4"/>
          <p:cNvSpPr/>
          <p:nvPr/>
        </p:nvSpPr>
        <p:spPr>
          <a:xfrm>
            <a:off x="0" y="0"/>
            <a:ext cx="12188952" cy="868680"/>
          </a:xfrm>
          <a:prstGeom prst="rect">
            <a:avLst/>
          </a:prstGeom>
          <a:solidFill>
            <a:srgbClr val="1A2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868680"/>
            <a:ext cx="12188952" cy="5080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91440"/>
            <a:ext cx="11430000" cy="731520"/>
          </a:xfrm>
          <a:prstGeom prst="rect">
            <a:avLst/>
          </a:prstGeom>
          <a:noFill/>
        </p:spPr>
        <p:txBody>
          <a:bodyPr wrap="square">
            <a:spAutoFit/>
          </a:bodyPr>
          <a:lstStyle/>
          <a:p>
            <a:pPr algn="l"/>
            <a:r>
              <a:rPr sz="2600" b="1" i="0">
                <a:solidFill>
                  <a:srgbClr val="FFFFFF"/>
                </a:solidFill>
                <a:latin typeface="Calibri"/>
              </a:rPr>
              <a:t>Interpretation and Participation Nuance</a:t>
            </a:r>
          </a:p>
        </p:txBody>
      </p:sp>
      <p:sp>
        <p:nvSpPr>
          <p:cNvPr id="8" name="Rectangle 7"/>
          <p:cNvSpPr/>
          <p:nvPr/>
        </p:nvSpPr>
        <p:spPr>
          <a:xfrm>
            <a:off x="10634472" y="91440"/>
            <a:ext cx="1371600" cy="658368"/>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80192" y="182880"/>
            <a:ext cx="1280160" cy="457200"/>
          </a:xfrm>
          <a:prstGeom prst="rect">
            <a:avLst/>
          </a:prstGeom>
          <a:noFill/>
        </p:spPr>
        <p:txBody>
          <a:bodyPr wrap="square">
            <a:spAutoFit/>
          </a:bodyPr>
          <a:lstStyle/>
          <a:p>
            <a:pPr algn="ctr"/>
            <a:r>
              <a:rPr sz="1300" b="1" i="0">
                <a:solidFill>
                  <a:srgbClr val="1A2E4A"/>
                </a:solidFill>
                <a:latin typeface="Calibri"/>
              </a:rPr>
              <a:t>Appx Z</a:t>
            </a:r>
          </a:p>
        </p:txBody>
      </p:sp>
      <p:sp>
        <p:nvSpPr>
          <p:cNvPr id="10" name="TextBox 9"/>
          <p:cNvSpPr txBox="1"/>
          <p:nvPr/>
        </p:nvSpPr>
        <p:spPr>
          <a:xfrm>
            <a:off x="274320" y="1051560"/>
            <a:ext cx="11640312" cy="475488"/>
          </a:xfrm>
          <a:prstGeom prst="rect">
            <a:avLst/>
          </a:prstGeom>
          <a:noFill/>
        </p:spPr>
        <p:txBody>
          <a:bodyPr wrap="square">
            <a:spAutoFit/>
          </a:bodyPr>
          <a:lstStyle/>
          <a:p>
            <a:pPr algn="l"/>
            <a:r>
              <a:rPr sz="1300" b="1" i="0">
                <a:solidFill>
                  <a:srgbClr val="1A2E4A"/>
                </a:solidFill>
                <a:latin typeface="Calibri"/>
              </a:rPr>
              <a:t>Paid LLM regimes should be interpreted as a competitive sponsored-discovery game, not a cooperative agreement among all platforms.</a:t>
            </a:r>
          </a:p>
        </p:txBody>
      </p:sp>
      <p:sp>
        <p:nvSpPr>
          <p:cNvPr id="11" name="TextBox 10"/>
          <p:cNvSpPr txBox="1"/>
          <p:nvPr/>
        </p:nvSpPr>
        <p:spPr>
          <a:xfrm>
            <a:off x="274320" y="1636776"/>
            <a:ext cx="11640312" cy="292608"/>
          </a:xfrm>
          <a:prstGeom prst="rect">
            <a:avLst/>
          </a:prstGeom>
          <a:noFill/>
        </p:spPr>
        <p:txBody>
          <a:bodyPr wrap="square">
            <a:spAutoFit/>
          </a:bodyPr>
          <a:lstStyle/>
          <a:p>
            <a:pPr algn="l"/>
            <a:r>
              <a:rPr sz="1200" b="1" i="0">
                <a:solidFill>
                  <a:srgbClr val="1A2E4A"/>
                </a:solidFill>
                <a:latin typeface="Calibri"/>
              </a:rPr>
              <a:t>What the aggregate numbers mean</a:t>
            </a:r>
          </a:p>
        </p:txBody>
      </p:sp>
      <p:sp>
        <p:nvSpPr>
          <p:cNvPr id="12" name="Rectangle 11"/>
          <p:cNvSpPr/>
          <p:nvPr/>
        </p:nvSpPr>
        <p:spPr>
          <a:xfrm>
            <a:off x="274320" y="1956816"/>
            <a:ext cx="11640312" cy="822960"/>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 y="2048256"/>
            <a:ext cx="11420856" cy="640080"/>
          </a:xfrm>
          <a:prstGeom prst="rect">
            <a:avLst/>
          </a:prstGeom>
          <a:noFill/>
        </p:spPr>
        <p:txBody>
          <a:bodyPr wrap="square">
            <a:spAutoFit/>
          </a:bodyPr>
          <a:lstStyle/>
          <a:p>
            <a:pPr algn="l"/>
            <a:r>
              <a:rPr sz="1000" b="0" i="0">
                <a:solidFill>
                  <a:srgbClr val="A8D8A8"/>
                </a:solidFill>
                <a:latin typeface="Courier New"/>
              </a:rPr>
              <a:t>Neutral LLM:   consumers benefit    aggregate platform net falls
Paid LLM:      sponsors may benefit by redirecting rival traffic
               LLM captures part of sponsor-side surplus
               low-bid rivals may lose traffic as externality</a:t>
            </a:r>
          </a:p>
        </p:txBody>
      </p:sp>
      <p:sp>
        <p:nvSpPr>
          <p:cNvPr id="14" name="TextBox 13"/>
          <p:cNvSpPr txBox="1"/>
          <p:nvPr/>
        </p:nvSpPr>
        <p:spPr>
          <a:xfrm>
            <a:off x="274320" y="2889504"/>
            <a:ext cx="11640312" cy="292608"/>
          </a:xfrm>
          <a:prstGeom prst="rect">
            <a:avLst/>
          </a:prstGeom>
          <a:noFill/>
        </p:spPr>
        <p:txBody>
          <a:bodyPr wrap="square">
            <a:spAutoFit/>
          </a:bodyPr>
          <a:lstStyle/>
          <a:p>
            <a:pPr algn="l"/>
            <a:r>
              <a:rPr sz="1200" b="1" i="0">
                <a:solidFill>
                  <a:srgbClr val="1A2E4A"/>
                </a:solidFill>
                <a:latin typeface="Calibri"/>
              </a:rPr>
              <a:t>Participation constraint interpretation</a:t>
            </a:r>
          </a:p>
        </p:txBody>
      </p:sp>
      <p:sp>
        <p:nvSpPr>
          <p:cNvPr id="15" name="TextBox 14"/>
          <p:cNvSpPr txBox="1"/>
          <p:nvPr/>
        </p:nvSpPr>
        <p:spPr>
          <a:xfrm>
            <a:off x="274320" y="3227832"/>
            <a:ext cx="11640312" cy="429768"/>
          </a:xfrm>
          <a:prstGeom prst="rect">
            <a:avLst/>
          </a:prstGeom>
          <a:noFill/>
        </p:spPr>
        <p:txBody>
          <a:bodyPr wrap="square">
            <a:spAutoFit/>
          </a:bodyPr>
          <a:lstStyle/>
          <a:p>
            <a:pPr algn="l"/>
            <a:r>
              <a:rPr sz="1100" b="0" i="0">
                <a:solidFill>
                  <a:srgbClr val="222233"/>
                </a:solidFill>
                <a:latin typeface="Calibri"/>
              </a:rPr>
              <a:t>·  The relevant constraint is for paying sponsors, not for all platforms simultaneously.</a:t>
            </a:r>
          </a:p>
        </p:txBody>
      </p:sp>
      <p:sp>
        <p:nvSpPr>
          <p:cNvPr id="16" name="TextBox 15"/>
          <p:cNvSpPr txBox="1"/>
          <p:nvPr/>
        </p:nvSpPr>
        <p:spPr>
          <a:xfrm>
            <a:off x="274320" y="3685032"/>
            <a:ext cx="11640312" cy="429768"/>
          </a:xfrm>
          <a:prstGeom prst="rect">
            <a:avLst/>
          </a:prstGeom>
          <a:noFill/>
        </p:spPr>
        <p:txBody>
          <a:bodyPr wrap="square">
            <a:spAutoFit/>
          </a:bodyPr>
          <a:lstStyle/>
          <a:p>
            <a:pPr algn="l"/>
            <a:r>
              <a:rPr sz="1100" b="0" i="0">
                <a:solidFill>
                  <a:srgbClr val="222233"/>
                </a:solidFill>
                <a:latin typeface="Calibri"/>
              </a:rPr>
              <a:t>·  Losing platforms (NomNom) are competitive outsiders harmed by rival sponsorship, not by their own LLM payment.</a:t>
            </a:r>
          </a:p>
        </p:txBody>
      </p:sp>
      <p:sp>
        <p:nvSpPr>
          <p:cNvPr id="17" name="TextBox 16"/>
          <p:cNvSpPr txBox="1"/>
          <p:nvPr/>
        </p:nvSpPr>
        <p:spPr>
          <a:xfrm>
            <a:off x="274320" y="4142232"/>
            <a:ext cx="11640312" cy="429768"/>
          </a:xfrm>
          <a:prstGeom prst="rect">
            <a:avLst/>
          </a:prstGeom>
          <a:noFill/>
        </p:spPr>
        <p:txBody>
          <a:bodyPr wrap="square">
            <a:spAutoFit/>
          </a:bodyPr>
          <a:lstStyle/>
          <a:p>
            <a:pPr algn="l"/>
            <a:r>
              <a:rPr sz="1100" b="0" i="0">
                <a:solidFill>
                  <a:srgbClr val="222233"/>
                </a:solidFill>
                <a:latin typeface="Calibri"/>
              </a:rPr>
              <a:t>·  This exactly resembles search advertising: one firm buys visibility and reduces rival click-share.</a:t>
            </a:r>
          </a:p>
        </p:txBody>
      </p:sp>
      <p:sp>
        <p:nvSpPr>
          <p:cNvPr id="18" name="TextBox 17"/>
          <p:cNvSpPr txBox="1"/>
          <p:nvPr/>
        </p:nvSpPr>
        <p:spPr>
          <a:xfrm>
            <a:off x="274320" y="4599432"/>
            <a:ext cx="11640312" cy="429768"/>
          </a:xfrm>
          <a:prstGeom prst="rect">
            <a:avLst/>
          </a:prstGeom>
          <a:noFill/>
        </p:spPr>
        <p:txBody>
          <a:bodyPr wrap="square">
            <a:spAutoFit/>
          </a:bodyPr>
          <a:lstStyle/>
          <a:p>
            <a:pPr algn="l"/>
            <a:r>
              <a:rPr sz="1100" b="0" i="0">
                <a:solidFill>
                  <a:srgbClr val="222233"/>
                </a:solidFill>
                <a:latin typeface="Calibri"/>
              </a:rPr>
              <a:t>·  Aggregate platform net rising does not mean every platform is better off — it means the gaining platforms gain more than the losing platforms lose.</a:t>
            </a:r>
          </a:p>
        </p:txBody>
      </p:sp>
      <p:sp>
        <p:nvSpPr>
          <p:cNvPr id="19" name="TextBox 18"/>
          <p:cNvSpPr txBox="1"/>
          <p:nvPr/>
        </p:nvSpPr>
        <p:spPr>
          <a:xfrm>
            <a:off x="274320" y="5166360"/>
            <a:ext cx="11640312" cy="292608"/>
          </a:xfrm>
          <a:prstGeom prst="rect">
            <a:avLst/>
          </a:prstGeom>
          <a:noFill/>
        </p:spPr>
        <p:txBody>
          <a:bodyPr wrap="square">
            <a:spAutoFit/>
          </a:bodyPr>
          <a:lstStyle/>
          <a:p>
            <a:pPr algn="l"/>
            <a:r>
              <a:rPr sz="1200" b="1" i="0">
                <a:solidFill>
                  <a:srgbClr val="1A2E4A"/>
                </a:solidFill>
                <a:latin typeface="Calibri"/>
              </a:rPr>
              <a:t>Policy recommendation</a:t>
            </a:r>
          </a:p>
        </p:txBody>
      </p:sp>
      <p:sp>
        <p:nvSpPr>
          <p:cNvPr id="20" name="Rectangle 19"/>
          <p:cNvSpPr/>
          <p:nvPr/>
        </p:nvSpPr>
        <p:spPr>
          <a:xfrm>
            <a:off x="274320" y="5486400"/>
            <a:ext cx="11640312" cy="1078992"/>
          </a:xfrm>
          <a:prstGeom prst="rect">
            <a:avLst/>
          </a:prstGeom>
          <a:solidFill>
            <a:srgbClr val="10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5577840"/>
            <a:ext cx="11420856" cy="896112"/>
          </a:xfrm>
          <a:prstGeom prst="rect">
            <a:avLst/>
          </a:prstGeom>
          <a:noFill/>
        </p:spPr>
        <p:txBody>
          <a:bodyPr wrap="square">
            <a:spAutoFit/>
          </a:bodyPr>
          <a:lstStyle/>
          <a:p>
            <a:pPr algn="l"/>
            <a:r>
              <a:rPr sz="1000" b="0" i="0">
                <a:solidFill>
                  <a:srgbClr val="A8D8A8"/>
                </a:solidFill>
                <a:latin typeface="Courier New"/>
              </a:rPr>
              <a:t>Given that paid AI discovery is likely to emerge:
  CPC  →  rewards attention, not satisfaction    (worst for consumers)
  CPA  →  rewards conversion                    (moderate)
  CPFI →  rewards fulfilled consumer intent     (best for consumers)
  Recommended design:  CPFI  +  bias cap &lt;= 0.20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9039</Words>
  <Application>Microsoft Macintosh PowerPoint</Application>
  <PresentationFormat>Custom</PresentationFormat>
  <Paragraphs>954</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rl3605</cp:lastModifiedBy>
  <cp:revision>2</cp:revision>
  <dcterms:created xsi:type="dcterms:W3CDTF">2013-01-27T09:14:16Z</dcterms:created>
  <dcterms:modified xsi:type="dcterms:W3CDTF">2026-04-28T19:28:19Z</dcterms:modified>
  <cp:category/>
</cp:coreProperties>
</file>