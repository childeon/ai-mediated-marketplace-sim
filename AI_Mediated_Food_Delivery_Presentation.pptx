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5"/>
  </p:sldMasterIdLst>
  <p:sldIdLst>
    <p:sldId id="257" r:id="rId1"/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" Target="slides/slide11.xml"/>
<Relationship Id="rId12" Type="http://schemas.openxmlformats.org/officeDocument/2006/relationships/slide" Target="slides/slide12.xml"/>
<Relationship Id="rId13" Type="http://schemas.openxmlformats.org/officeDocument/2006/relationships/slide" Target="slides/slide13.xml"/>
<Relationship Id="rId14" Type="http://schemas.openxmlformats.org/officeDocument/2006/relationships/slide" Target="slides/slide14.xml"/>
<Relationship Id="rId15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g8" Type="http://schemas.openxmlformats.org/officeDocument/2006/relationships/image" Target="../media/platform_net.svg"/></Relationships>
</file>

<file path=ppt/slides/_rels/slide9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g9" Type="http://schemas.openxmlformats.org/officeDocument/2006/relationships/image" Target="../media/foodrush_share.svg"/></Relationships>
</file>

<file path=ppt/slides/_rels/slide10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g10" Type="http://schemas.openxmlformats.org/officeDocument/2006/relationships/image" Target="../media/bias_sweep.svg"/></Relationships>
</file>

<file path=ppt/slides/_rels/slide1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g11" Type="http://schemas.openxmlformats.org/officeDocument/2006/relationships/image" Target="../media/trust_sweep.svg"/></Relationships>
</file>

<file path=ppt/slides/_rels/slide1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id="12" name="Rect"/>
          <p:cNvSpPr/>
          <p:nvPr/>
        </p:nvSpPr>
        <p:spPr>
          <a:xfrm>
            <a:off x="0" y="0"/>
            <a:ext cx="12191695" cy="164592"/>
          </a:xfrm>
          <a:prstGeom prst="round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2800" b="1">
                <a:solidFill>
                  <a:srgbClr val="16213e"/>
                </a:solidFill>
              </a:rPr>
              <a:t>AI-Mediated Food Delivery Marketplaces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94360" y="1051560"/>
            <a:ext cx="1078992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800" b="0">
                <a:solidFill>
                  <a:srgbClr val="4a5568"/>
                </a:solidFill>
              </a:rPr>
              <a:t>Monetisation Design, Sponsorship Bias, and Consumer Welfare</a:t>
            </a:r>
          </a:p>
          <a:p>
            <a:pPr algn="l"/>
            <a:r>
              <a:rPr lang="en-US" sz="1800" b="0">
                <a:solidFill>
                  <a:srgbClr val="4a5568"/>
                </a:solidFill>
              </a:rPr>
              <a:t>Digital Marketplaces • Spring 2026</a:t>
            </a:r>
          </a:p>
        </p:txBody>
      </p:sp>
      <p:sp>
        <p:nvSpPr>
          <p:cNvPr id="13" name="Bullets"/>
          <p:cNvSpPr txBox="1"/>
          <p:nvPr/>
        </p:nvSpPr>
        <p:spPr>
          <a:xfrm>
            <a:off x="777240" y="1965960"/>
            <a:ext cx="10789920" cy="356616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800">
                <a:solidFill>
                  <a:srgbClr val="2d3748"/>
                </a:solidFill>
              </a:rPr>
              <a:t>Research question: how does an LLM discovery layer change consumer welfare, platform surplus, and paid recommendation incentives?</a:t>
            </a:r>
          </a:p>
          <a:p>
            <a:pPr marL="285750" indent="-171450">
              <a:buChar char="•"/>
            </a:pPr>
            <a:r>
              <a:rPr lang="en-US" sz="1800">
                <a:solidFill>
                  <a:srgbClr val="2d3748"/>
                </a:solidFill>
              </a:rPr>
              <a:t>Simulation: 3 platforms, 50 restaurants, 10,000 consumer sessions per scenario.</a:t>
            </a:r>
          </a:p>
        </p:txBody>
      </p:sp>
      <p:sp>
        <p:nvSpPr>
          <p:cNvPr id="14" name="Rect"/>
          <p:cNvSpPr/>
          <p:nvPr/>
        </p:nvSpPr>
        <p:spPr>
          <a:xfrm>
            <a:off x="685800" y="5623560"/>
            <a:ext cx="10881360" cy="658368"/>
          </a:xfrm>
          <a:prstGeom prst="roundRect">
            <a:avLst/>
          </a:prstGeom>
          <a:solidFill>
            <a:srgbClr val="ebf8ff"/>
          </a:solidFill>
          <a:ln>
            <a:solidFill>
              <a:srgbClr val="90cdf4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914400" y="5742432"/>
            <a:ext cx="103784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500" b="1">
                <a:solidFill>
                  <a:srgbClr val="1a365d"/>
                </a:solidFill>
              </a:rPr>
              <a:t>Core finding: LLMs improve matching, but monetisation design determines whether the gain becomes consumer value or sponsored traffic steering.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02920" y="6464808"/>
            <a:ext cx="6400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800" b="0">
                <a:solidFill>
                  <a:srgbClr val="718096"/>
                </a:solidFill>
              </a:rPr>
              <a:t>AI-Mediated Food Delivery Marketplace Simulation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lang="en-US" sz="800" b="0">
                <a:solidFill>
                  <a:srgbClr val="718096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id="12" name="Rect"/>
          <p:cNvSpPr/>
          <p:nvPr/>
        </p:nvSpPr>
        <p:spPr>
          <a:xfrm>
            <a:off x="0" y="0"/>
            <a:ext cx="12191695" cy="164592"/>
          </a:xfrm>
          <a:prstGeom prst="round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2800" b="1">
                <a:solidFill>
                  <a:srgbClr val="16213e"/>
                </a:solidFill>
              </a:rPr>
              <a:t>Why This Market Changes With LLMs</a:t>
            </a:r>
          </a:p>
        </p:txBody>
      </p:sp>
      <p:sp>
        <p:nvSpPr>
          <p:cNvPr id="13" name="Bullets"/>
          <p:cNvSpPr txBox="1"/>
          <p:nvPr/>
        </p:nvSpPr>
        <p:spPr>
          <a:xfrm>
            <a:off x="777240" y="1051560"/>
            <a:ext cx="10789920" cy="356616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800">
                <a:solidFill>
                  <a:srgbClr val="2d3748"/>
                </a:solidFill>
              </a:rPr>
              <a:t>Food delivery platforms still own fulfillment: logistics, payment, refunds, and restaurant operations.</a:t>
            </a:r>
          </a:p>
          <a:p>
            <a:pPr marL="285750" indent="-171450">
              <a:buChar char="•"/>
            </a:pPr>
            <a:r>
              <a:rPr lang="en-US" sz="1800">
                <a:solidFill>
                  <a:srgbClr val="2d3748"/>
                </a:solidFill>
              </a:rPr>
              <a:t>LLMs can move upstream into discovery: users express intent before choosing a platform.</a:t>
            </a:r>
          </a:p>
          <a:p>
            <a:pPr marL="285750" indent="-171450">
              <a:buChar char="•"/>
            </a:pPr>
            <a:r>
              <a:rPr lang="en-US" sz="1800">
                <a:solidFill>
                  <a:srgbClr val="2d3748"/>
                </a:solidFill>
              </a:rPr>
              <a:t>This creates a new bargaining problem: platforms may pay the LLM for traffic, but paid placement can distort recommendations.</a:t>
            </a:r>
          </a:p>
          <a:p>
            <a:pPr marL="285750" indent="-171450">
              <a:buChar char="•"/>
            </a:pPr>
            <a:r>
              <a:rPr lang="en-US" sz="1800">
                <a:solidFill>
                  <a:srgbClr val="2d3748"/>
                </a:solidFill>
              </a:rPr>
              <a:t>The relevant design question is not “LLM or platform?” but “which payment rule preserves consumer fit while funding the LLM layer?”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02920" y="6464808"/>
            <a:ext cx="6400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800" b="0">
                <a:solidFill>
                  <a:srgbClr val="718096"/>
                </a:solidFill>
              </a:rPr>
              <a:t>AI-Mediated Food Delivery Marketplace Simulation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lang="en-US" sz="800" b="0">
                <a:solidFill>
                  <a:srgbClr val="718096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id="12" name="Rect"/>
          <p:cNvSpPr/>
          <p:nvPr/>
        </p:nvSpPr>
        <p:spPr>
          <a:xfrm>
            <a:off x="0" y="0"/>
            <a:ext cx="12191695" cy="164592"/>
          </a:xfrm>
          <a:prstGeom prst="round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2800" b="1">
                <a:solidFill>
                  <a:srgbClr val="16213e"/>
                </a:solidFill>
              </a:rPr>
              <a:t>Model Setup</a:t>
            </a:r>
          </a:p>
        </p:txBody>
      </p:sp>
      <p:sp>
        <p:nvSpPr>
          <p:cNvPr id="13" name="Bullets"/>
          <p:cNvSpPr txBox="1"/>
          <p:nvPr/>
        </p:nvSpPr>
        <p:spPr>
          <a:xfrm>
            <a:off x="777240" y="1051560"/>
            <a:ext cx="10789920" cy="356616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800">
                <a:solidFill>
                  <a:srgbClr val="2d3748"/>
                </a:solidFill>
              </a:rPr>
              <a:t>No-LLM world: consumer searches desired cuisine on their two highest-loyalty platforms.</a:t>
            </a:r>
          </a:p>
          <a:p>
            <a:pPr marL="285750" indent="-171450">
              <a:buChar char="•"/>
            </a:pPr>
            <a:r>
              <a:rPr lang="en-US" sz="1800">
                <a:solidFill>
                  <a:srgbClr val="2d3748"/>
                </a:solidFill>
              </a:rPr>
              <a:t>LLM world: consumer receives a cross-platform top-5 shortlist, clicks one result, then may complete the order.</a:t>
            </a:r>
          </a:p>
          <a:p>
            <a:pPr marL="285750" indent="-171450">
              <a:buChar char="•"/>
            </a:pPr>
            <a:r>
              <a:rPr lang="en-US" sz="1800">
                <a:solidFill>
                  <a:srgbClr val="2d3748"/>
                </a:solidFill>
              </a:rPr>
              <a:t>Platform feed is revenue-aware: quality, commission revenue, promo, price, delivery time, and sponsored boost.</a:t>
            </a:r>
          </a:p>
          <a:p>
            <a:pPr marL="285750" indent="-171450">
              <a:buChar char="•"/>
            </a:pPr>
            <a:r>
              <a:rPr lang="en-US" sz="1800">
                <a:solidFill>
                  <a:srgbClr val="2d3748"/>
                </a:solidFill>
              </a:rPr>
              <a:t>Consumer utility combines cuisine match, quality, price, delivery time, promo, LLM trust, platform loyalty, and noise.</a:t>
            </a:r>
          </a:p>
        </p:txBody>
      </p:sp>
      <p:sp>
        <p:nvSpPr>
          <p:cNvPr id="14" name="Rect"/>
          <p:cNvSpPr/>
          <p:nvPr/>
        </p:nvSpPr>
        <p:spPr>
          <a:xfrm>
            <a:off x="685800" y="5623560"/>
            <a:ext cx="10881360" cy="658368"/>
          </a:xfrm>
          <a:prstGeom prst="roundRect">
            <a:avLst/>
          </a:prstGeom>
          <a:solidFill>
            <a:srgbClr val="ebf8ff"/>
          </a:solidFill>
          <a:ln>
            <a:solidFill>
              <a:srgbClr val="90cdf4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914400" y="5742432"/>
            <a:ext cx="103784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500" b="1">
                <a:solidFill>
                  <a:srgbClr val="1a365d"/>
                </a:solidFill>
              </a:rPr>
              <a:t>Repair made: platform loyalty now determines direct platform search instead of random platform choice.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02920" y="6464808"/>
            <a:ext cx="6400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800" b="0">
                <a:solidFill>
                  <a:srgbClr val="718096"/>
                </a:solidFill>
              </a:rPr>
              <a:t>AI-Mediated Food Delivery Marketplace Simulation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lang="en-US" sz="800" b="0">
                <a:solidFill>
                  <a:srgbClr val="718096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id="12" name="Rect"/>
          <p:cNvSpPr/>
          <p:nvPr/>
        </p:nvSpPr>
        <p:spPr>
          <a:xfrm>
            <a:off x="0" y="0"/>
            <a:ext cx="12191695" cy="164592"/>
          </a:xfrm>
          <a:prstGeom prst="round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2800" b="1">
                <a:solidFill>
                  <a:srgbClr val="16213e"/>
                </a:solidFill>
              </a:rPr>
              <a:t>Payment Regimes</a:t>
            </a:r>
          </a:p>
        </p:txBody>
      </p:sp>
      <p:sp>
        <p:nvSpPr>
          <p:cNvPr id="13" name="Rect"/>
          <p:cNvSpPr/>
          <p:nvPr/>
        </p:nvSpPr>
        <p:spPr>
          <a:xfrm>
            <a:off x="594360" y="1051560"/>
            <a:ext cx="3657600" cy="841247"/>
          </a:xfrm>
          <a:prstGeom prst="roundRect">
            <a:avLst/>
          </a:prstGeom>
          <a:solidFill>
            <a:srgbClr val="edf2f7"/>
          </a:solidFill>
          <a:ln>
            <a:solidFill>
              <a:srgbClr val="cbd5e0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49224" y="1097280"/>
            <a:ext cx="3547872" cy="7680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400" b="1">
                <a:solidFill>
                  <a:srgbClr val="16213e"/>
                </a:solidFill>
              </a:rPr>
              <a:t>Regime</a:t>
            </a:r>
          </a:p>
        </p:txBody>
      </p:sp>
      <p:sp>
        <p:nvSpPr>
          <p:cNvPr id="14" name="Rect"/>
          <p:cNvSpPr/>
          <p:nvPr/>
        </p:nvSpPr>
        <p:spPr>
          <a:xfrm>
            <a:off x="4251960" y="1051560"/>
            <a:ext cx="3657600" cy="841247"/>
          </a:xfrm>
          <a:prstGeom prst="roundRect">
            <a:avLst/>
          </a:prstGeom>
          <a:solidFill>
            <a:srgbClr val="edf2f7"/>
          </a:solidFill>
          <a:ln>
            <a:solidFill>
              <a:srgbClr val="cbd5e0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306824" y="1097280"/>
            <a:ext cx="3547872" cy="76809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400" b="1">
                <a:solidFill>
                  <a:srgbClr val="16213e"/>
                </a:solidFill>
              </a:rPr>
              <a:t>What triggers payment?</a:t>
            </a:r>
          </a:p>
        </p:txBody>
      </p:sp>
      <p:sp>
        <p:nvSpPr>
          <p:cNvPr id="15" name="Rect"/>
          <p:cNvSpPr/>
          <p:nvPr/>
        </p:nvSpPr>
        <p:spPr>
          <a:xfrm>
            <a:off x="7909560" y="1051560"/>
            <a:ext cx="3657600" cy="841247"/>
          </a:xfrm>
          <a:prstGeom prst="roundRect">
            <a:avLst/>
          </a:prstGeom>
          <a:solidFill>
            <a:srgbClr val="edf2f7"/>
          </a:solidFill>
          <a:ln>
            <a:solidFill>
              <a:srgbClr val="cbd5e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7964424" y="1097280"/>
            <a:ext cx="3547872" cy="76809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400" b="1">
                <a:solidFill>
                  <a:srgbClr val="16213e"/>
                </a:solidFill>
              </a:rPr>
              <a:t>Incentive created</a:t>
            </a:r>
          </a:p>
        </p:txBody>
      </p:sp>
      <p:sp>
        <p:nvSpPr>
          <p:cNvPr id="16" name="Rect"/>
          <p:cNvSpPr/>
          <p:nvPr/>
        </p:nvSpPr>
        <p:spPr>
          <a:xfrm>
            <a:off x="594360" y="1892807"/>
            <a:ext cx="3657600" cy="841247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49224" y="1938527"/>
            <a:ext cx="3547872" cy="7680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400" b="0">
                <a:solidFill>
                  <a:srgbClr val="1a202c"/>
                </a:solidFill>
              </a:rPr>
              <a:t>Neutral</a:t>
            </a:r>
          </a:p>
        </p:txBody>
      </p:sp>
      <p:sp>
        <p:nvSpPr>
          <p:cNvPr id="17" name="Rect"/>
          <p:cNvSpPr/>
          <p:nvPr/>
        </p:nvSpPr>
        <p:spPr>
          <a:xfrm>
            <a:off x="4251960" y="1892807"/>
            <a:ext cx="3657600" cy="841247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4306824" y="1938527"/>
            <a:ext cx="3547872" cy="76809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400" b="0">
                <a:solidFill>
                  <a:srgbClr val="1a202c"/>
                </a:solidFill>
              </a:rPr>
              <a:t>No LLM payment</a:t>
            </a:r>
          </a:p>
        </p:txBody>
      </p:sp>
      <p:sp>
        <p:nvSpPr>
          <p:cNvPr id="18" name="Rect"/>
          <p:cNvSpPr/>
          <p:nvPr/>
        </p:nvSpPr>
        <p:spPr>
          <a:xfrm>
            <a:off x="7909560" y="1892807"/>
            <a:ext cx="3657600" cy="841247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7964424" y="1938527"/>
            <a:ext cx="3547872" cy="76809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400" b="0">
                <a:solidFill>
                  <a:srgbClr val="1a202c"/>
                </a:solidFill>
              </a:rPr>
              <a:t>Pure consumer-fit ranking</a:t>
            </a:r>
          </a:p>
        </p:txBody>
      </p:sp>
      <p:sp>
        <p:nvSpPr>
          <p:cNvPr id="19" name="Rect"/>
          <p:cNvSpPr/>
          <p:nvPr/>
        </p:nvSpPr>
        <p:spPr>
          <a:xfrm>
            <a:off x="594360" y="2734056"/>
            <a:ext cx="3657600" cy="841247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49224" y="2779775"/>
            <a:ext cx="3547872" cy="7680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400" b="0">
                <a:solidFill>
                  <a:srgbClr val="1a202c"/>
                </a:solidFill>
              </a:rPr>
              <a:t>CPC</a:t>
            </a:r>
          </a:p>
        </p:txBody>
      </p:sp>
      <p:sp>
        <p:nvSpPr>
          <p:cNvPr id="20" name="Rect"/>
          <p:cNvSpPr/>
          <p:nvPr/>
        </p:nvSpPr>
        <p:spPr>
          <a:xfrm>
            <a:off x="4251960" y="2734056"/>
            <a:ext cx="3657600" cy="841247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4306824" y="2779775"/>
            <a:ext cx="3547872" cy="76809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400" b="0">
                <a:solidFill>
                  <a:srgbClr val="1a202c"/>
                </a:solidFill>
              </a:rPr>
              <a:t>Clicked recommendation</a:t>
            </a:r>
          </a:p>
        </p:txBody>
      </p:sp>
      <p:sp>
        <p:nvSpPr>
          <p:cNvPr id="21" name="Rect"/>
          <p:cNvSpPr/>
          <p:nvPr/>
        </p:nvSpPr>
        <p:spPr>
          <a:xfrm>
            <a:off x="7909560" y="2734056"/>
            <a:ext cx="3657600" cy="841247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964424" y="2779775"/>
            <a:ext cx="3547872" cy="76809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400" b="0">
                <a:solidFill>
                  <a:srgbClr val="1a202c"/>
                </a:solidFill>
              </a:rPr>
              <a:t>Maximize clicks and sponsored exposure</a:t>
            </a:r>
          </a:p>
        </p:txBody>
      </p:sp>
      <p:sp>
        <p:nvSpPr>
          <p:cNvPr id="22" name="Rect"/>
          <p:cNvSpPr/>
          <p:nvPr/>
        </p:nvSpPr>
        <p:spPr>
          <a:xfrm>
            <a:off x="594360" y="3575303"/>
            <a:ext cx="3657600" cy="841247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49224" y="3621023"/>
            <a:ext cx="3547872" cy="7680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400" b="0">
                <a:solidFill>
                  <a:srgbClr val="1a202c"/>
                </a:solidFill>
              </a:rPr>
              <a:t>CPA</a:t>
            </a:r>
          </a:p>
        </p:txBody>
      </p:sp>
      <p:sp>
        <p:nvSpPr>
          <p:cNvPr id="23" name="Rect"/>
          <p:cNvSpPr/>
          <p:nvPr/>
        </p:nvSpPr>
        <p:spPr>
          <a:xfrm>
            <a:off x="4251960" y="3575303"/>
            <a:ext cx="3657600" cy="841247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4306824" y="3621023"/>
            <a:ext cx="3547872" cy="76809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400" b="0">
                <a:solidFill>
                  <a:srgbClr val="1a202c"/>
                </a:solidFill>
              </a:rPr>
              <a:t>Completed order</a:t>
            </a:r>
          </a:p>
        </p:txBody>
      </p:sp>
      <p:sp>
        <p:nvSpPr>
          <p:cNvPr id="24" name="Rect"/>
          <p:cNvSpPr/>
          <p:nvPr/>
        </p:nvSpPr>
        <p:spPr>
          <a:xfrm>
            <a:off x="7909560" y="3575303"/>
            <a:ext cx="3657600" cy="841247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7964424" y="3621023"/>
            <a:ext cx="3547872" cy="76809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400" b="0">
                <a:solidFill>
                  <a:srgbClr val="1a202c"/>
                </a:solidFill>
              </a:rPr>
              <a:t>Maximize converting orders</a:t>
            </a:r>
          </a:p>
        </p:txBody>
      </p:sp>
      <p:sp>
        <p:nvSpPr>
          <p:cNvPr id="25" name="Rect"/>
          <p:cNvSpPr/>
          <p:nvPr/>
        </p:nvSpPr>
        <p:spPr>
          <a:xfrm>
            <a:off x="594360" y="4416552"/>
            <a:ext cx="3657600" cy="841247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49224" y="4462272"/>
            <a:ext cx="3547872" cy="7680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400" b="0">
                <a:solidFill>
                  <a:srgbClr val="1a202c"/>
                </a:solidFill>
              </a:rPr>
              <a:t>CPFI</a:t>
            </a:r>
          </a:p>
        </p:txBody>
      </p:sp>
      <p:sp>
        <p:nvSpPr>
          <p:cNvPr id="26" name="Rect"/>
          <p:cNvSpPr/>
          <p:nvPr/>
        </p:nvSpPr>
        <p:spPr>
          <a:xfrm>
            <a:off x="4251960" y="4416552"/>
            <a:ext cx="3657600" cy="841247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4306824" y="4462272"/>
            <a:ext cx="3547872" cy="76809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400" b="0">
                <a:solidFill>
                  <a:srgbClr val="1a202c"/>
                </a:solidFill>
              </a:rPr>
              <a:t>Completed order × intent fulfilment</a:t>
            </a:r>
          </a:p>
        </p:txBody>
      </p:sp>
      <p:sp>
        <p:nvSpPr>
          <p:cNvPr id="27" name="Rect"/>
          <p:cNvSpPr/>
          <p:nvPr/>
        </p:nvSpPr>
        <p:spPr>
          <a:xfrm>
            <a:off x="7909560" y="4416552"/>
            <a:ext cx="3657600" cy="841247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7964424" y="4462272"/>
            <a:ext cx="3547872" cy="76809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400" b="0">
                <a:solidFill>
                  <a:srgbClr val="1a202c"/>
                </a:solidFill>
              </a:rPr>
              <a:t>Maximize orders that satisfy stated intent</a:t>
            </a:r>
          </a:p>
        </p:txBody>
      </p:sp>
      <p:sp>
        <p:nvSpPr>
          <p:cNvPr id="28" name="Rect"/>
          <p:cNvSpPr/>
          <p:nvPr/>
        </p:nvSpPr>
        <p:spPr>
          <a:xfrm>
            <a:off x="685800" y="5623560"/>
            <a:ext cx="10881360" cy="658368"/>
          </a:xfrm>
          <a:prstGeom prst="roundRect">
            <a:avLst/>
          </a:prstGeom>
          <a:solidFill>
            <a:srgbClr val="ebf8ff"/>
          </a:solidFill>
          <a:ln>
            <a:solidFill>
              <a:srgbClr val="90cdf4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914400" y="5742432"/>
            <a:ext cx="103784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500" b="1">
                <a:solidFill>
                  <a:srgbClr val="1a365d"/>
                </a:solidFill>
              </a:rPr>
              <a:t>CPC and CPA are now mechanically distinct: CPC bills clicks, CPA bills purchases.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02920" y="6464808"/>
            <a:ext cx="6400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800" b="0">
                <a:solidFill>
                  <a:srgbClr val="718096"/>
                </a:solidFill>
              </a:rPr>
              <a:t>AI-Mediated Food Delivery Marketplace Simulation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lang="en-US" sz="800" b="0">
                <a:solidFill>
                  <a:srgbClr val="718096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id="12" name="Rect"/>
          <p:cNvSpPr/>
          <p:nvPr/>
        </p:nvSpPr>
        <p:spPr>
          <a:xfrm>
            <a:off x="0" y="0"/>
            <a:ext cx="12191695" cy="164592"/>
          </a:xfrm>
          <a:prstGeom prst="round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2800" b="1">
                <a:solidFill>
                  <a:srgbClr val="16213e"/>
                </a:solidFill>
              </a:rPr>
              <a:t>Experiment 1: Neutral LLM vs Direct Search</a:t>
            </a:r>
          </a:p>
        </p:txBody>
      </p:sp>
      <p:sp>
        <p:nvSpPr>
          <p:cNvPr id="13" name="Rect"/>
          <p:cNvSpPr/>
          <p:nvPr/>
        </p:nvSpPr>
        <p:spPr>
          <a:xfrm>
            <a:off x="594360" y="1051560"/>
            <a:ext cx="2743200" cy="701040"/>
          </a:xfrm>
          <a:prstGeom prst="roundRect">
            <a:avLst/>
          </a:prstGeom>
          <a:solidFill>
            <a:srgbClr val="edf2f7"/>
          </a:solidFill>
          <a:ln>
            <a:solidFill>
              <a:srgbClr val="cbd5e0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49224" y="1097280"/>
            <a:ext cx="2633472" cy="6278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400" b="1">
                <a:solidFill>
                  <a:srgbClr val="16213e"/>
                </a:solidFill>
              </a:rPr>
              <a:t>Metric</a:t>
            </a:r>
          </a:p>
        </p:txBody>
      </p:sp>
      <p:sp>
        <p:nvSpPr>
          <p:cNvPr id="14" name="Rect"/>
          <p:cNvSpPr/>
          <p:nvPr/>
        </p:nvSpPr>
        <p:spPr>
          <a:xfrm>
            <a:off x="3337560" y="1051560"/>
            <a:ext cx="2743200" cy="701040"/>
          </a:xfrm>
          <a:prstGeom prst="roundRect">
            <a:avLst/>
          </a:prstGeom>
          <a:solidFill>
            <a:srgbClr val="edf2f7"/>
          </a:solidFill>
          <a:ln>
            <a:solidFill>
              <a:srgbClr val="cbd5e0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392424" y="1097280"/>
            <a:ext cx="2633472" cy="627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400" b="1">
                <a:solidFill>
                  <a:srgbClr val="16213e"/>
                </a:solidFill>
              </a:rPr>
              <a:t>No-LLM</a:t>
            </a:r>
          </a:p>
        </p:txBody>
      </p:sp>
      <p:sp>
        <p:nvSpPr>
          <p:cNvPr id="15" name="Rect"/>
          <p:cNvSpPr/>
          <p:nvPr/>
        </p:nvSpPr>
        <p:spPr>
          <a:xfrm>
            <a:off x="6080760" y="1051560"/>
            <a:ext cx="2743200" cy="701040"/>
          </a:xfrm>
          <a:prstGeom prst="roundRect">
            <a:avLst/>
          </a:prstGeom>
          <a:solidFill>
            <a:srgbClr val="edf2f7"/>
          </a:solidFill>
          <a:ln>
            <a:solidFill>
              <a:srgbClr val="cbd5e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135624" y="1097280"/>
            <a:ext cx="2633472" cy="627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400" b="1">
                <a:solidFill>
                  <a:srgbClr val="16213e"/>
                </a:solidFill>
              </a:rPr>
              <a:t>LLM Neutral</a:t>
            </a:r>
          </a:p>
        </p:txBody>
      </p:sp>
      <p:sp>
        <p:nvSpPr>
          <p:cNvPr id="16" name="Rect"/>
          <p:cNvSpPr/>
          <p:nvPr/>
        </p:nvSpPr>
        <p:spPr>
          <a:xfrm>
            <a:off x="8823960" y="1051560"/>
            <a:ext cx="2743200" cy="701040"/>
          </a:xfrm>
          <a:prstGeom prst="roundRect">
            <a:avLst/>
          </a:prstGeom>
          <a:solidFill>
            <a:srgbClr val="edf2f7"/>
          </a:solidFill>
          <a:ln>
            <a:solidFill>
              <a:srgbClr val="cbd5e0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8878824" y="1097280"/>
            <a:ext cx="2633472" cy="627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400" b="1">
                <a:solidFill>
                  <a:srgbClr val="16213e"/>
                </a:solidFill>
              </a:rPr>
              <a:t>Change</a:t>
            </a:r>
          </a:p>
        </p:txBody>
      </p:sp>
      <p:sp>
        <p:nvSpPr>
          <p:cNvPr id="17" name="Rect"/>
          <p:cNvSpPr/>
          <p:nvPr/>
        </p:nvSpPr>
        <p:spPr>
          <a:xfrm>
            <a:off x="594360" y="1752599"/>
            <a:ext cx="274320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49224" y="1798320"/>
            <a:ext cx="2633472" cy="6278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400" b="0">
                <a:solidFill>
                  <a:srgbClr val="1a202c"/>
                </a:solidFill>
              </a:rPr>
              <a:t>Intent fulfilment</a:t>
            </a:r>
          </a:p>
        </p:txBody>
      </p:sp>
      <p:sp>
        <p:nvSpPr>
          <p:cNvPr id="18" name="Rect"/>
          <p:cNvSpPr/>
          <p:nvPr/>
        </p:nvSpPr>
        <p:spPr>
          <a:xfrm>
            <a:off x="3337560" y="1752599"/>
            <a:ext cx="274320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3392424" y="1798320"/>
            <a:ext cx="2633472" cy="627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400" b="0">
                <a:solidFill>
                  <a:srgbClr val="1a202c"/>
                </a:solidFill>
              </a:rPr>
              <a:t>0.683</a:t>
            </a:r>
          </a:p>
        </p:txBody>
      </p:sp>
      <p:sp>
        <p:nvSpPr>
          <p:cNvPr id="19" name="Rect"/>
          <p:cNvSpPr/>
          <p:nvPr/>
        </p:nvSpPr>
        <p:spPr>
          <a:xfrm>
            <a:off x="6080760" y="1752599"/>
            <a:ext cx="274320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135624" y="1798320"/>
            <a:ext cx="2633472" cy="627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400" b="0">
                <a:solidFill>
                  <a:srgbClr val="1a202c"/>
                </a:solidFill>
              </a:rPr>
              <a:t>0.747</a:t>
            </a:r>
          </a:p>
        </p:txBody>
      </p:sp>
      <p:sp>
        <p:nvSpPr>
          <p:cNvPr id="20" name="Rect"/>
          <p:cNvSpPr/>
          <p:nvPr/>
        </p:nvSpPr>
        <p:spPr>
          <a:xfrm>
            <a:off x="8823960" y="1752599"/>
            <a:ext cx="274320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878824" y="1798320"/>
            <a:ext cx="2633472" cy="627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400" b="0">
                <a:solidFill>
                  <a:srgbClr val="1a202c"/>
                </a:solidFill>
              </a:rPr>
              <a:t>+9.3%</a:t>
            </a:r>
          </a:p>
        </p:txBody>
      </p:sp>
      <p:sp>
        <p:nvSpPr>
          <p:cNvPr id="21" name="Rect"/>
          <p:cNvSpPr/>
          <p:nvPr/>
        </p:nvSpPr>
        <p:spPr>
          <a:xfrm>
            <a:off x="594360" y="2453640"/>
            <a:ext cx="274320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49224" y="2499359"/>
            <a:ext cx="2633472" cy="6278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400" b="0">
                <a:solidFill>
                  <a:srgbClr val="1a202c"/>
                </a:solidFill>
              </a:rPr>
              <a:t>Conversion rate</a:t>
            </a:r>
          </a:p>
        </p:txBody>
      </p:sp>
      <p:sp>
        <p:nvSpPr>
          <p:cNvPr id="22" name="Rect"/>
          <p:cNvSpPr/>
          <p:nvPr/>
        </p:nvSpPr>
        <p:spPr>
          <a:xfrm>
            <a:off x="3337560" y="2453640"/>
            <a:ext cx="274320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3392424" y="2499359"/>
            <a:ext cx="2633472" cy="627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400" b="0">
                <a:solidFill>
                  <a:srgbClr val="1a202c"/>
                </a:solidFill>
              </a:rPr>
              <a:t>80.4%</a:t>
            </a:r>
          </a:p>
        </p:txBody>
      </p:sp>
      <p:sp>
        <p:nvSpPr>
          <p:cNvPr id="23" name="Rect"/>
          <p:cNvSpPr/>
          <p:nvPr/>
        </p:nvSpPr>
        <p:spPr>
          <a:xfrm>
            <a:off x="6080760" y="2453640"/>
            <a:ext cx="274320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135624" y="2499359"/>
            <a:ext cx="2633472" cy="627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400" b="0">
                <a:solidFill>
                  <a:srgbClr val="1a202c"/>
                </a:solidFill>
              </a:rPr>
              <a:t>81.6%</a:t>
            </a:r>
          </a:p>
        </p:txBody>
      </p:sp>
      <p:sp>
        <p:nvSpPr>
          <p:cNvPr id="24" name="Rect"/>
          <p:cNvSpPr/>
          <p:nvPr/>
        </p:nvSpPr>
        <p:spPr>
          <a:xfrm>
            <a:off x="8823960" y="2453640"/>
            <a:ext cx="274320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8878824" y="2499359"/>
            <a:ext cx="2633472" cy="627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400" b="0">
                <a:solidFill>
                  <a:srgbClr val="1a202c"/>
                </a:solidFill>
              </a:rPr>
              <a:t>+1.2pp</a:t>
            </a:r>
          </a:p>
        </p:txBody>
      </p:sp>
      <p:sp>
        <p:nvSpPr>
          <p:cNvPr id="25" name="Rect"/>
          <p:cNvSpPr/>
          <p:nvPr/>
        </p:nvSpPr>
        <p:spPr>
          <a:xfrm>
            <a:off x="594360" y="3154679"/>
            <a:ext cx="274320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49224" y="3200399"/>
            <a:ext cx="2633472" cy="6278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400" b="0">
                <a:solidFill>
                  <a:srgbClr val="1a202c"/>
                </a:solidFill>
              </a:rPr>
              <a:t>Avg total price</a:t>
            </a:r>
          </a:p>
        </p:txBody>
      </p:sp>
      <p:sp>
        <p:nvSpPr>
          <p:cNvPr id="26" name="Rect"/>
          <p:cNvSpPr/>
          <p:nvPr/>
        </p:nvSpPr>
        <p:spPr>
          <a:xfrm>
            <a:off x="3337560" y="3154679"/>
            <a:ext cx="274320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3392424" y="3200399"/>
            <a:ext cx="2633472" cy="627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400" b="0">
                <a:solidFill>
                  <a:srgbClr val="1a202c"/>
                </a:solidFill>
              </a:rPr>
              <a:t>$34.19</a:t>
            </a:r>
          </a:p>
        </p:txBody>
      </p:sp>
      <p:sp>
        <p:nvSpPr>
          <p:cNvPr id="27" name="Rect"/>
          <p:cNvSpPr/>
          <p:nvPr/>
        </p:nvSpPr>
        <p:spPr>
          <a:xfrm>
            <a:off x="6080760" y="3154679"/>
            <a:ext cx="274320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135624" y="3200399"/>
            <a:ext cx="2633472" cy="627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400" b="0">
                <a:solidFill>
                  <a:srgbClr val="1a202c"/>
                </a:solidFill>
              </a:rPr>
              <a:t>$32.48</a:t>
            </a:r>
          </a:p>
        </p:txBody>
      </p:sp>
      <p:sp>
        <p:nvSpPr>
          <p:cNvPr id="28" name="Rect"/>
          <p:cNvSpPr/>
          <p:nvPr/>
        </p:nvSpPr>
        <p:spPr>
          <a:xfrm>
            <a:off x="8823960" y="3154679"/>
            <a:ext cx="274320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8878824" y="3200399"/>
            <a:ext cx="2633472" cy="627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400" b="0">
                <a:solidFill>
                  <a:srgbClr val="1a202c"/>
                </a:solidFill>
              </a:rPr>
              <a:t>-$1.71</a:t>
            </a:r>
          </a:p>
        </p:txBody>
      </p:sp>
      <p:sp>
        <p:nvSpPr>
          <p:cNvPr id="29" name="Rect"/>
          <p:cNvSpPr/>
          <p:nvPr/>
        </p:nvSpPr>
        <p:spPr>
          <a:xfrm>
            <a:off x="594360" y="3855720"/>
            <a:ext cx="274320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649224" y="3901440"/>
            <a:ext cx="2633472" cy="6278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400" b="0">
                <a:solidFill>
                  <a:srgbClr val="1a202c"/>
                </a:solidFill>
              </a:rPr>
              <a:t>Avg delivery time</a:t>
            </a:r>
          </a:p>
        </p:txBody>
      </p:sp>
      <p:sp>
        <p:nvSpPr>
          <p:cNvPr id="30" name="Rect"/>
          <p:cNvSpPr/>
          <p:nvPr/>
        </p:nvSpPr>
        <p:spPr>
          <a:xfrm>
            <a:off x="3337560" y="3855720"/>
            <a:ext cx="274320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3392424" y="3901440"/>
            <a:ext cx="2633472" cy="627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400" b="0">
                <a:solidFill>
                  <a:srgbClr val="1a202c"/>
                </a:solidFill>
              </a:rPr>
              <a:t>36.4 min</a:t>
            </a:r>
          </a:p>
        </p:txBody>
      </p:sp>
      <p:sp>
        <p:nvSpPr>
          <p:cNvPr id="31" name="Rect"/>
          <p:cNvSpPr/>
          <p:nvPr/>
        </p:nvSpPr>
        <p:spPr>
          <a:xfrm>
            <a:off x="6080760" y="3855720"/>
            <a:ext cx="274320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135624" y="3901440"/>
            <a:ext cx="2633472" cy="627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400" b="0">
                <a:solidFill>
                  <a:srgbClr val="1a202c"/>
                </a:solidFill>
              </a:rPr>
              <a:t>34.7 min</a:t>
            </a:r>
          </a:p>
        </p:txBody>
      </p:sp>
      <p:sp>
        <p:nvSpPr>
          <p:cNvPr id="32" name="Rect"/>
          <p:cNvSpPr/>
          <p:nvPr/>
        </p:nvSpPr>
        <p:spPr>
          <a:xfrm>
            <a:off x="8823960" y="3855720"/>
            <a:ext cx="274320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8878824" y="3901440"/>
            <a:ext cx="2633472" cy="627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400" b="0">
                <a:solidFill>
                  <a:srgbClr val="1a202c"/>
                </a:solidFill>
              </a:rPr>
              <a:t>-1.7 min</a:t>
            </a:r>
          </a:p>
        </p:txBody>
      </p:sp>
      <p:sp>
        <p:nvSpPr>
          <p:cNvPr id="33" name="Rect"/>
          <p:cNvSpPr/>
          <p:nvPr/>
        </p:nvSpPr>
        <p:spPr>
          <a:xfrm>
            <a:off x="594360" y="4556759"/>
            <a:ext cx="274320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649224" y="4602479"/>
            <a:ext cx="2633472" cy="6278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400" b="0">
                <a:solidFill>
                  <a:srgbClr val="1a202c"/>
                </a:solidFill>
              </a:rPr>
              <a:t>Platform net revenue</a:t>
            </a:r>
          </a:p>
        </p:txBody>
      </p:sp>
      <p:sp>
        <p:nvSpPr>
          <p:cNvPr id="34" name="Rect"/>
          <p:cNvSpPr/>
          <p:nvPr/>
        </p:nvSpPr>
        <p:spPr>
          <a:xfrm>
            <a:off x="3337560" y="4556759"/>
            <a:ext cx="274320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3392424" y="4602479"/>
            <a:ext cx="2633472" cy="627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400" b="0">
                <a:solidFill>
                  <a:srgbClr val="1a202c"/>
                </a:solidFill>
              </a:rPr>
              <a:t>$69,366</a:t>
            </a:r>
          </a:p>
        </p:txBody>
      </p:sp>
      <p:sp>
        <p:nvSpPr>
          <p:cNvPr id="35" name="Rect"/>
          <p:cNvSpPr/>
          <p:nvPr/>
        </p:nvSpPr>
        <p:spPr>
          <a:xfrm>
            <a:off x="6080760" y="4556759"/>
            <a:ext cx="274320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135624" y="4602479"/>
            <a:ext cx="2633472" cy="627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400" b="0">
                <a:solidFill>
                  <a:srgbClr val="1a202c"/>
                </a:solidFill>
              </a:rPr>
              <a:t>$67,884</a:t>
            </a:r>
          </a:p>
        </p:txBody>
      </p:sp>
      <p:sp>
        <p:nvSpPr>
          <p:cNvPr id="36" name="Rect"/>
          <p:cNvSpPr/>
          <p:nvPr/>
        </p:nvSpPr>
        <p:spPr>
          <a:xfrm>
            <a:off x="8823960" y="4556759"/>
            <a:ext cx="274320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8878824" y="4602479"/>
            <a:ext cx="2633472" cy="627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400" b="0">
                <a:solidFill>
                  <a:srgbClr val="1a202c"/>
                </a:solidFill>
              </a:rPr>
              <a:t>-2.1%</a:t>
            </a:r>
          </a:p>
        </p:txBody>
      </p:sp>
      <p:sp>
        <p:nvSpPr>
          <p:cNvPr id="37" name="Rect"/>
          <p:cNvSpPr/>
          <p:nvPr/>
        </p:nvSpPr>
        <p:spPr>
          <a:xfrm>
            <a:off x="685800" y="5623560"/>
            <a:ext cx="10881360" cy="658368"/>
          </a:xfrm>
          <a:prstGeom prst="roundRect">
            <a:avLst/>
          </a:prstGeom>
          <a:solidFill>
            <a:srgbClr val="ebf8ff"/>
          </a:solidFill>
          <a:ln>
            <a:solidFill>
              <a:srgbClr val="90cdf4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14400" y="5742432"/>
            <a:ext cx="103784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500" b="1">
                <a:solidFill>
                  <a:srgbClr val="1a365d"/>
                </a:solidFill>
              </a:rPr>
              <a:t>Neutral LLM improves consumer matching and price/time outcomes, but platform WTP is negative relative to loyal direct search.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02920" y="6464808"/>
            <a:ext cx="6400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800" b="0">
                <a:solidFill>
                  <a:srgbClr val="718096"/>
                </a:solidFill>
              </a:rPr>
              <a:t>AI-Mediated Food Delivery Marketplace Simulation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lang="en-US" sz="800" b="0">
                <a:solidFill>
                  <a:srgbClr val="718096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id="12" name="Rect"/>
          <p:cNvSpPr/>
          <p:nvPr/>
        </p:nvSpPr>
        <p:spPr>
          <a:xfrm>
            <a:off x="0" y="0"/>
            <a:ext cx="12191695" cy="164592"/>
          </a:xfrm>
          <a:prstGeom prst="round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2800" b="1">
                <a:solidFill>
                  <a:srgbClr val="16213e"/>
                </a:solidFill>
              </a:rPr>
              <a:t>Experiment 2: Monetisation Regime Results</a:t>
            </a:r>
          </a:p>
        </p:txBody>
      </p:sp>
      <p:sp>
        <p:nvSpPr>
          <p:cNvPr id="13" name="Rect"/>
          <p:cNvSpPr/>
          <p:nvPr/>
        </p:nvSpPr>
        <p:spPr>
          <a:xfrm>
            <a:off x="594360" y="1051560"/>
            <a:ext cx="2194560" cy="701040"/>
          </a:xfrm>
          <a:prstGeom prst="roundRect">
            <a:avLst/>
          </a:prstGeom>
          <a:solidFill>
            <a:srgbClr val="edf2f7"/>
          </a:solidFill>
          <a:ln>
            <a:solidFill>
              <a:srgbClr val="cbd5e0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49224" y="1097280"/>
            <a:ext cx="2084831" cy="6278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200" b="1">
                <a:solidFill>
                  <a:srgbClr val="16213e"/>
                </a:solidFill>
              </a:rPr>
              <a:t>Metric</a:t>
            </a:r>
          </a:p>
        </p:txBody>
      </p:sp>
      <p:sp>
        <p:nvSpPr>
          <p:cNvPr id="14" name="Rect"/>
          <p:cNvSpPr/>
          <p:nvPr/>
        </p:nvSpPr>
        <p:spPr>
          <a:xfrm>
            <a:off x="2788920" y="1051560"/>
            <a:ext cx="2194560" cy="701040"/>
          </a:xfrm>
          <a:prstGeom prst="roundRect">
            <a:avLst/>
          </a:prstGeom>
          <a:solidFill>
            <a:srgbClr val="edf2f7"/>
          </a:solidFill>
          <a:ln>
            <a:solidFill>
              <a:srgbClr val="cbd5e0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2843784" y="1097280"/>
            <a:ext cx="2084831" cy="627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200" b="1">
                <a:solidFill>
                  <a:srgbClr val="16213e"/>
                </a:solidFill>
              </a:rPr>
              <a:t>Neutral</a:t>
            </a:r>
          </a:p>
        </p:txBody>
      </p:sp>
      <p:sp>
        <p:nvSpPr>
          <p:cNvPr id="15" name="Rect"/>
          <p:cNvSpPr/>
          <p:nvPr/>
        </p:nvSpPr>
        <p:spPr>
          <a:xfrm>
            <a:off x="4983480" y="1051560"/>
            <a:ext cx="2194560" cy="701040"/>
          </a:xfrm>
          <a:prstGeom prst="roundRect">
            <a:avLst/>
          </a:prstGeom>
          <a:solidFill>
            <a:srgbClr val="edf2f7"/>
          </a:solidFill>
          <a:ln>
            <a:solidFill>
              <a:srgbClr val="cbd5e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038344" y="1097280"/>
            <a:ext cx="2084831" cy="627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200" b="1">
                <a:solidFill>
                  <a:srgbClr val="16213e"/>
                </a:solidFill>
              </a:rPr>
              <a:t>CPC</a:t>
            </a:r>
          </a:p>
        </p:txBody>
      </p:sp>
      <p:sp>
        <p:nvSpPr>
          <p:cNvPr id="16" name="Rect"/>
          <p:cNvSpPr/>
          <p:nvPr/>
        </p:nvSpPr>
        <p:spPr>
          <a:xfrm>
            <a:off x="7178040" y="1051560"/>
            <a:ext cx="2194560" cy="701040"/>
          </a:xfrm>
          <a:prstGeom prst="roundRect">
            <a:avLst/>
          </a:prstGeom>
          <a:solidFill>
            <a:srgbClr val="edf2f7"/>
          </a:solidFill>
          <a:ln>
            <a:solidFill>
              <a:srgbClr val="cbd5e0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7232903" y="1097280"/>
            <a:ext cx="2084831" cy="627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200" b="1">
                <a:solidFill>
                  <a:srgbClr val="16213e"/>
                </a:solidFill>
              </a:rPr>
              <a:t>CPA</a:t>
            </a:r>
          </a:p>
        </p:txBody>
      </p:sp>
      <p:sp>
        <p:nvSpPr>
          <p:cNvPr id="17" name="Rect"/>
          <p:cNvSpPr/>
          <p:nvPr/>
        </p:nvSpPr>
        <p:spPr>
          <a:xfrm>
            <a:off x="9372600" y="1051560"/>
            <a:ext cx="2194560" cy="701040"/>
          </a:xfrm>
          <a:prstGeom prst="roundRect">
            <a:avLst/>
          </a:prstGeom>
          <a:solidFill>
            <a:srgbClr val="edf2f7"/>
          </a:solidFill>
          <a:ln>
            <a:solidFill>
              <a:srgbClr val="cbd5e0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427464" y="1097280"/>
            <a:ext cx="2084831" cy="627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200" b="1">
                <a:solidFill>
                  <a:srgbClr val="16213e"/>
                </a:solidFill>
              </a:rPr>
              <a:t>CPFI</a:t>
            </a:r>
          </a:p>
        </p:txBody>
      </p:sp>
      <p:sp>
        <p:nvSpPr>
          <p:cNvPr id="18" name="Rect"/>
          <p:cNvSpPr/>
          <p:nvPr/>
        </p:nvSpPr>
        <p:spPr>
          <a:xfrm>
            <a:off x="594360" y="1752599"/>
            <a:ext cx="219456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49224" y="1798320"/>
            <a:ext cx="2084831" cy="6278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200" b="0">
                <a:solidFill>
                  <a:srgbClr val="1a202c"/>
                </a:solidFill>
              </a:rPr>
              <a:t>Intent fulfilment</a:t>
            </a:r>
          </a:p>
        </p:txBody>
      </p:sp>
      <p:sp>
        <p:nvSpPr>
          <p:cNvPr id="19" name="Rect"/>
          <p:cNvSpPr/>
          <p:nvPr/>
        </p:nvSpPr>
        <p:spPr>
          <a:xfrm>
            <a:off x="2788920" y="1752599"/>
            <a:ext cx="219456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843784" y="1798320"/>
            <a:ext cx="2084831" cy="627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200" b="0">
                <a:solidFill>
                  <a:srgbClr val="1a202c"/>
                </a:solidFill>
              </a:rPr>
              <a:t>0.747</a:t>
            </a:r>
          </a:p>
        </p:txBody>
      </p:sp>
      <p:sp>
        <p:nvSpPr>
          <p:cNvPr id="20" name="Rect"/>
          <p:cNvSpPr/>
          <p:nvPr/>
        </p:nvSpPr>
        <p:spPr>
          <a:xfrm>
            <a:off x="4983480" y="1752599"/>
            <a:ext cx="219456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5038344" y="1798320"/>
            <a:ext cx="2084831" cy="627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200" b="0">
                <a:solidFill>
                  <a:srgbClr val="1a202c"/>
                </a:solidFill>
              </a:rPr>
              <a:t>0.716</a:t>
            </a:r>
          </a:p>
        </p:txBody>
      </p:sp>
      <p:sp>
        <p:nvSpPr>
          <p:cNvPr id="21" name="Rect"/>
          <p:cNvSpPr/>
          <p:nvPr/>
        </p:nvSpPr>
        <p:spPr>
          <a:xfrm>
            <a:off x="7178040" y="1752599"/>
            <a:ext cx="219456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232903" y="1798320"/>
            <a:ext cx="2084831" cy="627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200" b="0">
                <a:solidFill>
                  <a:srgbClr val="1a202c"/>
                </a:solidFill>
              </a:rPr>
              <a:t>0.726</a:t>
            </a:r>
          </a:p>
        </p:txBody>
      </p:sp>
      <p:sp>
        <p:nvSpPr>
          <p:cNvPr id="22" name="Rect"/>
          <p:cNvSpPr/>
          <p:nvPr/>
        </p:nvSpPr>
        <p:spPr>
          <a:xfrm>
            <a:off x="9372600" y="1752599"/>
            <a:ext cx="219456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427464" y="1798320"/>
            <a:ext cx="2084831" cy="627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200" b="0">
                <a:solidFill>
                  <a:srgbClr val="1a202c"/>
                </a:solidFill>
              </a:rPr>
              <a:t>0.747</a:t>
            </a:r>
          </a:p>
        </p:txBody>
      </p:sp>
      <p:sp>
        <p:nvSpPr>
          <p:cNvPr id="23" name="Rect"/>
          <p:cNvSpPr/>
          <p:nvPr/>
        </p:nvSpPr>
        <p:spPr>
          <a:xfrm>
            <a:off x="594360" y="2453640"/>
            <a:ext cx="219456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49224" y="2499359"/>
            <a:ext cx="2084831" cy="6278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200" b="0">
                <a:solidFill>
                  <a:srgbClr val="1a202c"/>
                </a:solidFill>
              </a:rPr>
              <a:t>Shortlist relevance</a:t>
            </a:r>
          </a:p>
        </p:txBody>
      </p:sp>
      <p:sp>
        <p:nvSpPr>
          <p:cNvPr id="24" name="Rect"/>
          <p:cNvSpPr/>
          <p:nvPr/>
        </p:nvSpPr>
        <p:spPr>
          <a:xfrm>
            <a:off x="2788920" y="2453640"/>
            <a:ext cx="219456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2843784" y="2499359"/>
            <a:ext cx="2084831" cy="627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200" b="0">
                <a:solidFill>
                  <a:srgbClr val="1a202c"/>
                </a:solidFill>
              </a:rPr>
              <a:t>0.973</a:t>
            </a:r>
          </a:p>
        </p:txBody>
      </p:sp>
      <p:sp>
        <p:nvSpPr>
          <p:cNvPr id="25" name="Rect"/>
          <p:cNvSpPr/>
          <p:nvPr/>
        </p:nvSpPr>
        <p:spPr>
          <a:xfrm>
            <a:off x="4983480" y="2453640"/>
            <a:ext cx="219456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038344" y="2499359"/>
            <a:ext cx="2084831" cy="627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200" b="0">
                <a:solidFill>
                  <a:srgbClr val="1a202c"/>
                </a:solidFill>
              </a:rPr>
              <a:t>0.929</a:t>
            </a:r>
          </a:p>
        </p:txBody>
      </p:sp>
      <p:sp>
        <p:nvSpPr>
          <p:cNvPr id="26" name="Rect"/>
          <p:cNvSpPr/>
          <p:nvPr/>
        </p:nvSpPr>
        <p:spPr>
          <a:xfrm>
            <a:off x="7178040" y="2453640"/>
            <a:ext cx="219456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7232903" y="2499359"/>
            <a:ext cx="2084831" cy="627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200" b="0">
                <a:solidFill>
                  <a:srgbClr val="1a202c"/>
                </a:solidFill>
              </a:rPr>
              <a:t>0.946</a:t>
            </a:r>
          </a:p>
        </p:txBody>
      </p:sp>
      <p:sp>
        <p:nvSpPr>
          <p:cNvPr id="27" name="Rect"/>
          <p:cNvSpPr/>
          <p:nvPr/>
        </p:nvSpPr>
        <p:spPr>
          <a:xfrm>
            <a:off x="9372600" y="2453640"/>
            <a:ext cx="219456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427464" y="2499359"/>
            <a:ext cx="2084831" cy="627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200" b="0">
                <a:solidFill>
                  <a:srgbClr val="1a202c"/>
                </a:solidFill>
              </a:rPr>
              <a:t>0.981</a:t>
            </a:r>
          </a:p>
        </p:txBody>
      </p:sp>
      <p:sp>
        <p:nvSpPr>
          <p:cNvPr id="28" name="Rect"/>
          <p:cNvSpPr/>
          <p:nvPr/>
        </p:nvSpPr>
        <p:spPr>
          <a:xfrm>
            <a:off x="594360" y="3154679"/>
            <a:ext cx="219456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49224" y="3200399"/>
            <a:ext cx="2084831" cy="6278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200" b="0">
                <a:solidFill>
                  <a:srgbClr val="1a202c"/>
                </a:solidFill>
              </a:rPr>
              <a:t>LLM revenue</a:t>
            </a:r>
          </a:p>
        </p:txBody>
      </p:sp>
      <p:sp>
        <p:nvSpPr>
          <p:cNvPr id="29" name="Rect"/>
          <p:cNvSpPr/>
          <p:nvPr/>
        </p:nvSpPr>
        <p:spPr>
          <a:xfrm>
            <a:off x="2788920" y="3154679"/>
            <a:ext cx="219456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2843784" y="3200399"/>
            <a:ext cx="2084831" cy="627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200" b="0">
                <a:solidFill>
                  <a:srgbClr val="1a202c"/>
                </a:solidFill>
              </a:rPr>
              <a:t>$0</a:t>
            </a:r>
          </a:p>
        </p:txBody>
      </p:sp>
      <p:sp>
        <p:nvSpPr>
          <p:cNvPr id="30" name="Rect"/>
          <p:cNvSpPr/>
          <p:nvPr/>
        </p:nvSpPr>
        <p:spPr>
          <a:xfrm>
            <a:off x="4983480" y="3154679"/>
            <a:ext cx="219456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5038344" y="3200399"/>
            <a:ext cx="2084831" cy="627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200" b="0">
                <a:solidFill>
                  <a:srgbClr val="1a202c"/>
                </a:solidFill>
              </a:rPr>
              <a:t>$3,101</a:t>
            </a:r>
          </a:p>
        </p:txBody>
      </p:sp>
      <p:sp>
        <p:nvSpPr>
          <p:cNvPr id="31" name="Rect"/>
          <p:cNvSpPr/>
          <p:nvPr/>
        </p:nvSpPr>
        <p:spPr>
          <a:xfrm>
            <a:off x="7178040" y="3154679"/>
            <a:ext cx="219456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7232903" y="3200399"/>
            <a:ext cx="2084831" cy="627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200" b="0">
                <a:solidFill>
                  <a:srgbClr val="1a202c"/>
                </a:solidFill>
              </a:rPr>
              <a:t>$2,873</a:t>
            </a:r>
          </a:p>
        </p:txBody>
      </p:sp>
      <p:sp>
        <p:nvSpPr>
          <p:cNvPr id="32" name="Rect"/>
          <p:cNvSpPr/>
          <p:nvPr/>
        </p:nvSpPr>
        <p:spPr>
          <a:xfrm>
            <a:off x="9372600" y="3154679"/>
            <a:ext cx="219456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9427464" y="3200399"/>
            <a:ext cx="2084831" cy="627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200" b="0">
                <a:solidFill>
                  <a:srgbClr val="1a202c"/>
                </a:solidFill>
              </a:rPr>
              <a:t>$1,942</a:t>
            </a:r>
          </a:p>
        </p:txBody>
      </p:sp>
      <p:sp>
        <p:nvSpPr>
          <p:cNvPr id="33" name="Rect"/>
          <p:cNvSpPr/>
          <p:nvPr/>
        </p:nvSpPr>
        <p:spPr>
          <a:xfrm>
            <a:off x="594360" y="3855720"/>
            <a:ext cx="219456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649224" y="3901440"/>
            <a:ext cx="2084831" cy="6278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200" b="0">
                <a:solidFill>
                  <a:srgbClr val="1a202c"/>
                </a:solidFill>
              </a:rPr>
              <a:t>Platform net revenue</a:t>
            </a:r>
          </a:p>
        </p:txBody>
      </p:sp>
      <p:sp>
        <p:nvSpPr>
          <p:cNvPr id="34" name="Rect"/>
          <p:cNvSpPr/>
          <p:nvPr/>
        </p:nvSpPr>
        <p:spPr>
          <a:xfrm>
            <a:off x="2788920" y="3855720"/>
            <a:ext cx="219456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2843784" y="3901440"/>
            <a:ext cx="2084831" cy="627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200" b="0">
                <a:solidFill>
                  <a:srgbClr val="1a202c"/>
                </a:solidFill>
              </a:rPr>
              <a:t>$67,884</a:t>
            </a:r>
          </a:p>
        </p:txBody>
      </p:sp>
      <p:sp>
        <p:nvSpPr>
          <p:cNvPr id="35" name="Rect"/>
          <p:cNvSpPr/>
          <p:nvPr/>
        </p:nvSpPr>
        <p:spPr>
          <a:xfrm>
            <a:off x="4983480" y="3855720"/>
            <a:ext cx="219456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5038344" y="3901440"/>
            <a:ext cx="2084831" cy="627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200" b="0">
                <a:solidFill>
                  <a:srgbClr val="1a202c"/>
                </a:solidFill>
              </a:rPr>
              <a:t>$72,468</a:t>
            </a:r>
          </a:p>
        </p:txBody>
      </p:sp>
      <p:sp>
        <p:nvSpPr>
          <p:cNvPr id="36" name="Rect"/>
          <p:cNvSpPr/>
          <p:nvPr/>
        </p:nvSpPr>
        <p:spPr>
          <a:xfrm>
            <a:off x="7178040" y="3855720"/>
            <a:ext cx="219456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7232903" y="3901440"/>
            <a:ext cx="2084831" cy="627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200" b="0">
                <a:solidFill>
                  <a:srgbClr val="1a202c"/>
                </a:solidFill>
              </a:rPr>
              <a:t>$72,239</a:t>
            </a:r>
          </a:p>
        </p:txBody>
      </p:sp>
      <p:sp>
        <p:nvSpPr>
          <p:cNvPr id="37" name="Rect"/>
          <p:cNvSpPr/>
          <p:nvPr/>
        </p:nvSpPr>
        <p:spPr>
          <a:xfrm>
            <a:off x="9372600" y="3855720"/>
            <a:ext cx="219456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427464" y="3901440"/>
            <a:ext cx="2084831" cy="627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200" b="0">
                <a:solidFill>
                  <a:srgbClr val="1a202c"/>
                </a:solidFill>
              </a:rPr>
              <a:t>$71,309</a:t>
            </a:r>
          </a:p>
        </p:txBody>
      </p:sp>
      <p:sp>
        <p:nvSpPr>
          <p:cNvPr id="38" name="Rect"/>
          <p:cNvSpPr/>
          <p:nvPr/>
        </p:nvSpPr>
        <p:spPr>
          <a:xfrm>
            <a:off x="594360" y="4556759"/>
            <a:ext cx="219456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649224" y="4602479"/>
            <a:ext cx="2084831" cy="6278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200" b="0">
                <a:solidFill>
                  <a:srgbClr val="1a202c"/>
                </a:solidFill>
              </a:rPr>
              <a:t>FoodRush share</a:t>
            </a:r>
          </a:p>
        </p:txBody>
      </p:sp>
      <p:sp>
        <p:nvSpPr>
          <p:cNvPr id="39" name="Rect"/>
          <p:cNvSpPr/>
          <p:nvPr/>
        </p:nvSpPr>
        <p:spPr>
          <a:xfrm>
            <a:off x="2788920" y="4556759"/>
            <a:ext cx="219456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2843784" y="4602479"/>
            <a:ext cx="2084831" cy="627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200" b="0">
                <a:solidFill>
                  <a:srgbClr val="1a202c"/>
                </a:solidFill>
              </a:rPr>
              <a:t>32.6%</a:t>
            </a:r>
          </a:p>
        </p:txBody>
      </p:sp>
      <p:sp>
        <p:nvSpPr>
          <p:cNvPr id="40" name="Rect"/>
          <p:cNvSpPr/>
          <p:nvPr/>
        </p:nvSpPr>
        <p:spPr>
          <a:xfrm>
            <a:off x="4983480" y="4556759"/>
            <a:ext cx="219456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5038344" y="4602479"/>
            <a:ext cx="2084831" cy="627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200" b="0">
                <a:solidFill>
                  <a:srgbClr val="1a202c"/>
                </a:solidFill>
              </a:rPr>
              <a:t>66.7%</a:t>
            </a:r>
          </a:p>
        </p:txBody>
      </p:sp>
      <p:sp>
        <p:nvSpPr>
          <p:cNvPr id="41" name="Rect"/>
          <p:cNvSpPr/>
          <p:nvPr/>
        </p:nvSpPr>
        <p:spPr>
          <a:xfrm>
            <a:off x="7178040" y="4556759"/>
            <a:ext cx="219456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7232903" y="4602479"/>
            <a:ext cx="2084831" cy="627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200" b="0">
                <a:solidFill>
                  <a:srgbClr val="1a202c"/>
                </a:solidFill>
              </a:rPr>
              <a:t>60.4%</a:t>
            </a:r>
          </a:p>
        </p:txBody>
      </p:sp>
      <p:sp>
        <p:nvSpPr>
          <p:cNvPr id="42" name="Rect"/>
          <p:cNvSpPr/>
          <p:nvPr/>
        </p:nvSpPr>
        <p:spPr>
          <a:xfrm>
            <a:off x="9372600" y="4556759"/>
            <a:ext cx="2194560" cy="7010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9427464" y="4602479"/>
            <a:ext cx="2084831" cy="6278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200" b="0">
                <a:solidFill>
                  <a:srgbClr val="1a202c"/>
                </a:solidFill>
              </a:rPr>
              <a:t>46.5%</a:t>
            </a:r>
          </a:p>
        </p:txBody>
      </p:sp>
      <p:sp>
        <p:nvSpPr>
          <p:cNvPr id="43" name="Rect"/>
          <p:cNvSpPr/>
          <p:nvPr/>
        </p:nvSpPr>
        <p:spPr>
          <a:xfrm>
            <a:off x="685800" y="5623560"/>
            <a:ext cx="10881360" cy="658368"/>
          </a:xfrm>
          <a:prstGeom prst="roundRect">
            <a:avLst/>
          </a:prstGeom>
          <a:solidFill>
            <a:srgbClr val="ebf8ff"/>
          </a:solidFill>
          <a:ln>
            <a:solidFill>
              <a:srgbClr val="90cdf4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914400" y="5742432"/>
            <a:ext cx="103784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500" b="1">
                <a:solidFill>
                  <a:srgbClr val="1a365d"/>
                </a:solidFill>
              </a:rPr>
              <a:t>Paid regimes create platform WTP by routing orders toward higher-commission FoodRush; CPFI preserves consumer welfare best.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02920" y="6464808"/>
            <a:ext cx="6400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800" b="0">
                <a:solidFill>
                  <a:srgbClr val="718096"/>
                </a:solidFill>
              </a:rPr>
              <a:t>AI-Mediated Food Delivery Marketplace Simulation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lang="en-US" sz="800" b="0">
                <a:solidFill>
                  <a:srgbClr val="718096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id="12" name="Rect"/>
          <p:cNvSpPr/>
          <p:nvPr/>
        </p:nvSpPr>
        <p:spPr>
          <a:xfrm>
            <a:off x="0" y="0"/>
            <a:ext cx="12191695" cy="164592"/>
          </a:xfrm>
          <a:prstGeom prst="round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2800" b="1">
                <a:solidFill>
                  <a:srgbClr val="16213e"/>
                </a:solidFill>
              </a:rPr>
              <a:t>Platform Surplus Calibration</a:t>
            </a:r>
          </a:p>
        </p:txBody>
      </p:sp>
      <p:sp>
        <p:nvSpPr>
          <p:cNvPr id="13" name="Rect"/>
          <p:cNvSpPr/>
          <p:nvPr/>
        </p:nvSpPr>
        <p:spPr>
          <a:xfrm>
            <a:off x="594360" y="1051560"/>
            <a:ext cx="2743200" cy="777240"/>
          </a:xfrm>
          <a:prstGeom prst="roundRect">
            <a:avLst/>
          </a:prstGeom>
          <a:solidFill>
            <a:srgbClr val="edf2f7"/>
          </a:solidFill>
          <a:ln>
            <a:solidFill>
              <a:srgbClr val="cbd5e0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49224" y="1097280"/>
            <a:ext cx="2633472" cy="7040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400" b="1">
                <a:solidFill>
                  <a:srgbClr val="16213e"/>
                </a:solidFill>
              </a:rPr>
              <a:t>Regime</a:t>
            </a:r>
          </a:p>
        </p:txBody>
      </p:sp>
      <p:sp>
        <p:nvSpPr>
          <p:cNvPr id="14" name="Rect"/>
          <p:cNvSpPr/>
          <p:nvPr/>
        </p:nvSpPr>
        <p:spPr>
          <a:xfrm>
            <a:off x="3337560" y="1051560"/>
            <a:ext cx="2743200" cy="777240"/>
          </a:xfrm>
          <a:prstGeom prst="roundRect">
            <a:avLst/>
          </a:prstGeom>
          <a:solidFill>
            <a:srgbClr val="edf2f7"/>
          </a:solidFill>
          <a:ln>
            <a:solidFill>
              <a:srgbClr val="cbd5e0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392424" y="1097280"/>
            <a:ext cx="2633472" cy="7040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400" b="1">
                <a:solidFill>
                  <a:srgbClr val="16213e"/>
                </a:solidFill>
              </a:rPr>
              <a:t>Gross surplus</a:t>
            </a:r>
          </a:p>
        </p:txBody>
      </p:sp>
      <p:sp>
        <p:nvSpPr>
          <p:cNvPr id="15" name="Rect"/>
          <p:cNvSpPr/>
          <p:nvPr/>
        </p:nvSpPr>
        <p:spPr>
          <a:xfrm>
            <a:off x="6080760" y="1051560"/>
            <a:ext cx="2743200" cy="777240"/>
          </a:xfrm>
          <a:prstGeom prst="roundRect">
            <a:avLst/>
          </a:prstGeom>
          <a:solidFill>
            <a:srgbClr val="edf2f7"/>
          </a:solidFill>
          <a:ln>
            <a:solidFill>
              <a:srgbClr val="cbd5e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135624" y="1097280"/>
            <a:ext cx="2633472" cy="7040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400" b="1">
                <a:solidFill>
                  <a:srgbClr val="16213e"/>
                </a:solidFill>
              </a:rPr>
              <a:t>LLM revenue</a:t>
            </a:r>
          </a:p>
        </p:txBody>
      </p:sp>
      <p:sp>
        <p:nvSpPr>
          <p:cNvPr id="16" name="Rect"/>
          <p:cNvSpPr/>
          <p:nvPr/>
        </p:nvSpPr>
        <p:spPr>
          <a:xfrm>
            <a:off x="8823960" y="1051560"/>
            <a:ext cx="2743200" cy="777240"/>
          </a:xfrm>
          <a:prstGeom prst="roundRect">
            <a:avLst/>
          </a:prstGeom>
          <a:solidFill>
            <a:srgbClr val="edf2f7"/>
          </a:solidFill>
          <a:ln>
            <a:solidFill>
              <a:srgbClr val="cbd5e0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8878824" y="1097280"/>
            <a:ext cx="2633472" cy="7040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400" b="1">
                <a:solidFill>
                  <a:srgbClr val="16213e"/>
                </a:solidFill>
              </a:rPr>
              <a:t>Platform net vs No-LLM</a:t>
            </a:r>
          </a:p>
        </p:txBody>
      </p:sp>
      <p:sp>
        <p:nvSpPr>
          <p:cNvPr id="17" name="Rect"/>
          <p:cNvSpPr/>
          <p:nvPr/>
        </p:nvSpPr>
        <p:spPr>
          <a:xfrm>
            <a:off x="594360" y="182880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49224" y="1874519"/>
            <a:ext cx="2633472" cy="7040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400" b="0">
                <a:solidFill>
                  <a:srgbClr val="1a202c"/>
                </a:solidFill>
              </a:rPr>
              <a:t>CPC</a:t>
            </a:r>
          </a:p>
        </p:txBody>
      </p:sp>
      <p:sp>
        <p:nvSpPr>
          <p:cNvPr id="18" name="Rect"/>
          <p:cNvSpPr/>
          <p:nvPr/>
        </p:nvSpPr>
        <p:spPr>
          <a:xfrm>
            <a:off x="3337560" y="182880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3392424" y="1874519"/>
            <a:ext cx="2633472" cy="7040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400" b="0">
                <a:solidFill>
                  <a:srgbClr val="1a202c"/>
                </a:solidFill>
              </a:rPr>
              <a:t>$6,203</a:t>
            </a:r>
          </a:p>
        </p:txBody>
      </p:sp>
      <p:sp>
        <p:nvSpPr>
          <p:cNvPr id="19" name="Rect"/>
          <p:cNvSpPr/>
          <p:nvPr/>
        </p:nvSpPr>
        <p:spPr>
          <a:xfrm>
            <a:off x="6080760" y="182880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135624" y="1874519"/>
            <a:ext cx="2633472" cy="7040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400" b="0">
                <a:solidFill>
                  <a:srgbClr val="1a202c"/>
                </a:solidFill>
              </a:rPr>
              <a:t>$3,101</a:t>
            </a:r>
          </a:p>
        </p:txBody>
      </p:sp>
      <p:sp>
        <p:nvSpPr>
          <p:cNvPr id="20" name="Rect"/>
          <p:cNvSpPr/>
          <p:nvPr/>
        </p:nvSpPr>
        <p:spPr>
          <a:xfrm>
            <a:off x="8823960" y="1828800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878824" y="1874519"/>
            <a:ext cx="2633472" cy="7040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400" b="0">
                <a:solidFill>
                  <a:srgbClr val="1a202c"/>
                </a:solidFill>
              </a:rPr>
              <a:t>+$3,101</a:t>
            </a:r>
          </a:p>
        </p:txBody>
      </p:sp>
      <p:sp>
        <p:nvSpPr>
          <p:cNvPr id="21" name="Rect"/>
          <p:cNvSpPr/>
          <p:nvPr/>
        </p:nvSpPr>
        <p:spPr>
          <a:xfrm>
            <a:off x="594360" y="2606039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49224" y="2651759"/>
            <a:ext cx="2633472" cy="7040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400" b="0">
                <a:solidFill>
                  <a:srgbClr val="1a202c"/>
                </a:solidFill>
              </a:rPr>
              <a:t>CPA</a:t>
            </a:r>
          </a:p>
        </p:txBody>
      </p:sp>
      <p:sp>
        <p:nvSpPr>
          <p:cNvPr id="22" name="Rect"/>
          <p:cNvSpPr/>
          <p:nvPr/>
        </p:nvSpPr>
        <p:spPr>
          <a:xfrm>
            <a:off x="3337560" y="2606039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3392424" y="2651759"/>
            <a:ext cx="2633472" cy="7040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400" b="0">
                <a:solidFill>
                  <a:srgbClr val="1a202c"/>
                </a:solidFill>
              </a:rPr>
              <a:t>$5,746</a:t>
            </a:r>
          </a:p>
        </p:txBody>
      </p:sp>
      <p:sp>
        <p:nvSpPr>
          <p:cNvPr id="23" name="Rect"/>
          <p:cNvSpPr/>
          <p:nvPr/>
        </p:nvSpPr>
        <p:spPr>
          <a:xfrm>
            <a:off x="6080760" y="2606039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135624" y="2651759"/>
            <a:ext cx="2633472" cy="7040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400" b="0">
                <a:solidFill>
                  <a:srgbClr val="1a202c"/>
                </a:solidFill>
              </a:rPr>
              <a:t>$2,873</a:t>
            </a:r>
          </a:p>
        </p:txBody>
      </p:sp>
      <p:sp>
        <p:nvSpPr>
          <p:cNvPr id="24" name="Rect"/>
          <p:cNvSpPr/>
          <p:nvPr/>
        </p:nvSpPr>
        <p:spPr>
          <a:xfrm>
            <a:off x="8823960" y="2606039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8878824" y="2651759"/>
            <a:ext cx="2633472" cy="7040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400" b="0">
                <a:solidFill>
                  <a:srgbClr val="1a202c"/>
                </a:solidFill>
              </a:rPr>
              <a:t>+$2,873</a:t>
            </a:r>
          </a:p>
        </p:txBody>
      </p:sp>
      <p:sp>
        <p:nvSpPr>
          <p:cNvPr id="25" name="Rect"/>
          <p:cNvSpPr/>
          <p:nvPr/>
        </p:nvSpPr>
        <p:spPr>
          <a:xfrm>
            <a:off x="594360" y="3383279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49224" y="3428999"/>
            <a:ext cx="2633472" cy="7040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400" b="0">
                <a:solidFill>
                  <a:srgbClr val="1a202c"/>
                </a:solidFill>
              </a:rPr>
              <a:t>CPFI</a:t>
            </a:r>
          </a:p>
        </p:txBody>
      </p:sp>
      <p:sp>
        <p:nvSpPr>
          <p:cNvPr id="26" name="Rect"/>
          <p:cNvSpPr/>
          <p:nvPr/>
        </p:nvSpPr>
        <p:spPr>
          <a:xfrm>
            <a:off x="3337560" y="3383279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3392424" y="3428999"/>
            <a:ext cx="2633472" cy="7040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400" b="0">
                <a:solidFill>
                  <a:srgbClr val="1a202c"/>
                </a:solidFill>
              </a:rPr>
              <a:t>$3,884</a:t>
            </a:r>
          </a:p>
        </p:txBody>
      </p:sp>
      <p:sp>
        <p:nvSpPr>
          <p:cNvPr id="27" name="Rect"/>
          <p:cNvSpPr/>
          <p:nvPr/>
        </p:nvSpPr>
        <p:spPr>
          <a:xfrm>
            <a:off x="6080760" y="3383279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135624" y="3428999"/>
            <a:ext cx="2633472" cy="7040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400" b="0">
                <a:solidFill>
                  <a:srgbClr val="1a202c"/>
                </a:solidFill>
              </a:rPr>
              <a:t>$1,942</a:t>
            </a:r>
          </a:p>
        </p:txBody>
      </p:sp>
      <p:sp>
        <p:nvSpPr>
          <p:cNvPr id="28" name="Rect"/>
          <p:cNvSpPr/>
          <p:nvPr/>
        </p:nvSpPr>
        <p:spPr>
          <a:xfrm>
            <a:off x="8823960" y="3383279"/>
            <a:ext cx="2743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bd5e0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8878824" y="3428999"/>
            <a:ext cx="2633472" cy="7040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400" b="0">
                <a:solidFill>
                  <a:srgbClr val="1a202c"/>
                </a:solidFill>
              </a:rPr>
              <a:t>+$1,942</a:t>
            </a:r>
          </a:p>
        </p:txBody>
      </p:sp>
      <p:sp>
        <p:nvSpPr>
          <p:cNvPr id="29" name="Rect"/>
          <p:cNvSpPr/>
          <p:nvPr/>
        </p:nvSpPr>
        <p:spPr>
          <a:xfrm>
            <a:off x="685800" y="5623560"/>
            <a:ext cx="10881360" cy="658368"/>
          </a:xfrm>
          <a:prstGeom prst="roundRect">
            <a:avLst/>
          </a:prstGeom>
          <a:solidFill>
            <a:srgbClr val="ebf8ff"/>
          </a:solidFill>
          <a:ln>
            <a:solidFill>
              <a:srgbClr val="90cdf4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914400" y="5742432"/>
            <a:ext cx="103784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500" b="1">
                <a:solidFill>
                  <a:srgbClr val="1a365d"/>
                </a:solidFill>
              </a:rPr>
              <a:t>Residual loser platforms, especially NomNom, are competitive externalities from rival sponsorship, not irrational participants.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02920" y="6464808"/>
            <a:ext cx="6400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800" b="0">
                <a:solidFill>
                  <a:srgbClr val="718096"/>
                </a:solidFill>
              </a:rPr>
              <a:t>AI-Mediated Food Delivery Marketplace Simulation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lang="en-US" sz="800" b="0">
                <a:solidFill>
                  <a:srgbClr val="718096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id="12" name="Rect"/>
          <p:cNvSpPr/>
          <p:nvPr/>
        </p:nvSpPr>
        <p:spPr>
          <a:xfrm>
            <a:off x="0" y="0"/>
            <a:ext cx="12191695" cy="164592"/>
          </a:xfrm>
          <a:prstGeom prst="round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2800" b="1">
                <a:solidFill>
                  <a:srgbClr val="16213e"/>
                </a:solidFill>
              </a:rPr>
              <a:t>Visual: Platform Revenue and Concentration</a:t>
            </a:r>
          </a:p>
        </p:txBody>
      </p:sp>
      <p:pic>
        <p:nvPicPr>
          <p:cNvPr id="13" name="Picture"/>
          <p:cNvPicPr/>
          <p:nvPr/>
        </p:nvPicPr>
        <p:blipFill>
          <a:blip r:embed="rIdImg8"/>
          <a:stretch>
            <a:fillRect/>
          </a:stretch>
        </p:blipFill>
        <p:spPr>
          <a:xfrm>
            <a:off x="777240" y="1051560"/>
            <a:ext cx="6583680" cy="3611880"/>
          </a:xfrm>
          <a:prstGeom prst="rect">
            <a:avLst/>
          </a:prstGeom>
        </p:spPr>
      </p:pic>
      <p:sp>
        <p:nvSpPr>
          <p:cNvPr id="14" name="Rect"/>
          <p:cNvSpPr/>
          <p:nvPr/>
        </p:nvSpPr>
        <p:spPr>
          <a:xfrm>
            <a:off x="685800" y="5623560"/>
            <a:ext cx="10881360" cy="658368"/>
          </a:xfrm>
          <a:prstGeom prst="roundRect">
            <a:avLst/>
          </a:prstGeom>
          <a:solidFill>
            <a:srgbClr val="ebf8ff"/>
          </a:solidFill>
          <a:ln>
            <a:solidFill>
              <a:srgbClr val="90cdf4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914400" y="5742432"/>
            <a:ext cx="103784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500" b="1">
                <a:solidFill>
                  <a:srgbClr val="1a365d"/>
                </a:solidFill>
              </a:rPr>
              <a:t>CPC and CPA maximize platform revenue, but they do so by concentrating traffic.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02920" y="6464808"/>
            <a:ext cx="6400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800" b="0">
                <a:solidFill>
                  <a:srgbClr val="718096"/>
                </a:solidFill>
              </a:rPr>
              <a:t>AI-Mediated Food Delivery Marketplace Simulation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lang="en-US" sz="800" b="0">
                <a:solidFill>
                  <a:srgbClr val="718096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id="12" name="Rect"/>
          <p:cNvSpPr/>
          <p:nvPr/>
        </p:nvSpPr>
        <p:spPr>
          <a:xfrm>
            <a:off x="0" y="0"/>
            <a:ext cx="12191695" cy="164592"/>
          </a:xfrm>
          <a:prstGeom prst="round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2800" b="1">
                <a:solidFill>
                  <a:srgbClr val="16213e"/>
                </a:solidFill>
              </a:rPr>
              <a:t>Visual: FoodRush Captures Paid Traffic</a:t>
            </a:r>
          </a:p>
        </p:txBody>
      </p:sp>
      <p:pic>
        <p:nvPicPr>
          <p:cNvPr id="13" name="Picture"/>
          <p:cNvPicPr/>
          <p:nvPr/>
        </p:nvPicPr>
        <p:blipFill>
          <a:blip r:embed="rIdImg9"/>
          <a:stretch>
            <a:fillRect/>
          </a:stretch>
        </p:blipFill>
        <p:spPr>
          <a:xfrm>
            <a:off x="777240" y="1051560"/>
            <a:ext cx="6583680" cy="3611880"/>
          </a:xfrm>
          <a:prstGeom prst="rect">
            <a:avLst/>
          </a:prstGeom>
        </p:spPr>
      </p:pic>
      <p:sp>
        <p:nvSpPr>
          <p:cNvPr id="14" name="Rect"/>
          <p:cNvSpPr/>
          <p:nvPr/>
        </p:nvSpPr>
        <p:spPr>
          <a:xfrm>
            <a:off x="685800" y="5623560"/>
            <a:ext cx="10881360" cy="658368"/>
          </a:xfrm>
          <a:prstGeom prst="roundRect">
            <a:avLst/>
          </a:prstGeom>
          <a:solidFill>
            <a:srgbClr val="ebf8ff"/>
          </a:solidFill>
          <a:ln>
            <a:solidFill>
              <a:srgbClr val="90cdf4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914400" y="5742432"/>
            <a:ext cx="103784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500" b="1">
                <a:solidFill>
                  <a:srgbClr val="1a365d"/>
                </a:solidFill>
              </a:rPr>
              <a:t>FoodRush’s high commission and sponsorship rates cause paid LLM regimes to redirect demand toward it.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02920" y="6464808"/>
            <a:ext cx="6400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800" b="0">
                <a:solidFill>
                  <a:srgbClr val="718096"/>
                </a:solidFill>
              </a:rPr>
              <a:t>AI-Mediated Food Delivery Marketplace Simulation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lang="en-US" sz="800" b="0">
                <a:solidFill>
                  <a:srgbClr val="718096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id="12" name="Rect"/>
          <p:cNvSpPr/>
          <p:nvPr/>
        </p:nvSpPr>
        <p:spPr>
          <a:xfrm>
            <a:off x="0" y="0"/>
            <a:ext cx="12191695" cy="164592"/>
          </a:xfrm>
          <a:prstGeom prst="round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2800" b="1">
                <a:solidFill>
                  <a:srgbClr val="16213e"/>
                </a:solidFill>
              </a:rPr>
              <a:t>Experiment 3: Bias Strength Sweep</a:t>
            </a:r>
          </a:p>
        </p:txBody>
      </p:sp>
      <p:pic>
        <p:nvPicPr>
          <p:cNvPr id="13" name="Picture"/>
          <p:cNvPicPr/>
          <p:nvPr/>
        </p:nvPicPr>
        <p:blipFill>
          <a:blip r:embed="rIdImg10"/>
          <a:stretch>
            <a:fillRect/>
          </a:stretch>
        </p:blipFill>
        <p:spPr>
          <a:xfrm>
            <a:off x="777240" y="1051560"/>
            <a:ext cx="6583680" cy="3611880"/>
          </a:xfrm>
          <a:prstGeom prst="rect">
            <a:avLst/>
          </a:prstGeom>
        </p:spPr>
      </p:pic>
      <p:sp>
        <p:nvSpPr>
          <p:cNvPr id="14" name="Bullets"/>
          <p:cNvSpPr txBox="1"/>
          <p:nvPr/>
        </p:nvSpPr>
        <p:spPr>
          <a:xfrm>
            <a:off x="7543800" y="1188719"/>
            <a:ext cx="4160520" cy="338328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500">
                <a:solidFill>
                  <a:srgbClr val="2d3748"/>
                </a:solidFill>
              </a:rPr>
              <a:t>Bias below 0.2 creates modest welfare loss.</a:t>
            </a:r>
          </a:p>
          <a:p>
            <a:pPr marL="285750" indent="-171450">
              <a:buChar char="•"/>
            </a:pPr>
            <a:r>
              <a:rPr lang="en-US" sz="1500">
                <a:solidFill>
                  <a:srgbClr val="2d3748"/>
                </a:solidFill>
              </a:rPr>
              <a:t>Above 0.3, relevance and intent fulfilment decline sharply.</a:t>
            </a:r>
          </a:p>
          <a:p>
            <a:pPr marL="285750" indent="-171450">
              <a:buChar char="•"/>
            </a:pPr>
            <a:r>
              <a:rPr lang="en-US" sz="1500">
                <a:solidFill>
                  <a:srgbClr val="2d3748"/>
                </a:solidFill>
              </a:rPr>
              <a:t>At bias = 1.0, intent fulfilment falls below the no-LLM baseline, meaning paid placement can make LLM intermediation worse than loyal direct search.</a:t>
            </a:r>
          </a:p>
        </p:txBody>
      </p:sp>
      <p:sp>
        <p:nvSpPr>
          <p:cNvPr id="15" name="Rect"/>
          <p:cNvSpPr/>
          <p:nvPr/>
        </p:nvSpPr>
        <p:spPr>
          <a:xfrm>
            <a:off x="685800" y="5623560"/>
            <a:ext cx="10881360" cy="658368"/>
          </a:xfrm>
          <a:prstGeom prst="roundRect">
            <a:avLst/>
          </a:prstGeom>
          <a:solidFill>
            <a:srgbClr val="ebf8ff"/>
          </a:solidFill>
          <a:ln>
            <a:solidFill>
              <a:srgbClr val="90cdf4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914400" y="5742432"/>
            <a:ext cx="103784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500" b="1">
                <a:solidFill>
                  <a:srgbClr val="1a365d"/>
                </a:solidFill>
              </a:rPr>
              <a:t>Policy implication: a bias cap around 0.1–0.2 preserves most consumer welfare while permitting monetisation.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02920" y="6464808"/>
            <a:ext cx="6400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800" b="0">
                <a:solidFill>
                  <a:srgbClr val="718096"/>
                </a:solidFill>
              </a:rPr>
              <a:t>AI-Mediated Food Delivery Marketplace Simulation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lang="en-US" sz="800" b="0">
                <a:solidFill>
                  <a:srgbClr val="718096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id="12" name="Rect"/>
          <p:cNvSpPr/>
          <p:nvPr/>
        </p:nvSpPr>
        <p:spPr>
          <a:xfrm>
            <a:off x="0" y="0"/>
            <a:ext cx="12191695" cy="164592"/>
          </a:xfrm>
          <a:prstGeom prst="round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2800" b="1">
                <a:solidFill>
                  <a:srgbClr val="16213e"/>
                </a:solidFill>
              </a:rPr>
              <a:t>Experiment 4: Trust Sweep</a:t>
            </a:r>
          </a:p>
        </p:txBody>
      </p:sp>
      <p:pic>
        <p:nvPicPr>
          <p:cNvPr id="13" name="Picture"/>
          <p:cNvPicPr/>
          <p:nvPr/>
        </p:nvPicPr>
        <p:blipFill>
          <a:blip r:embed="rIdImg11"/>
          <a:stretch>
            <a:fillRect/>
          </a:stretch>
        </p:blipFill>
        <p:spPr>
          <a:xfrm>
            <a:off x="777240" y="1051560"/>
            <a:ext cx="6583680" cy="3611880"/>
          </a:xfrm>
          <a:prstGeom prst="rect">
            <a:avLst/>
          </a:prstGeom>
        </p:spPr>
      </p:pic>
      <p:sp>
        <p:nvSpPr>
          <p:cNvPr id="14" name="Bullets"/>
          <p:cNvSpPr txBox="1"/>
          <p:nvPr/>
        </p:nvSpPr>
        <p:spPr>
          <a:xfrm>
            <a:off x="7543800" y="1188719"/>
            <a:ext cx="4160520" cy="338328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500">
                <a:solidFill>
                  <a:srgbClr val="2d3748"/>
                </a:solidFill>
              </a:rPr>
              <a:t>Higher LLM trust increases conversion from 78.6% to 85.2%.</a:t>
            </a:r>
          </a:p>
          <a:p>
            <a:pPr marL="285750" indent="-171450">
              <a:buChar char="•"/>
            </a:pPr>
            <a:r>
              <a:rPr lang="en-US" sz="1500">
                <a:solidFill>
                  <a:srgbClr val="2d3748"/>
                </a:solidFill>
              </a:rPr>
              <a:t>Intent fulfilment remains almost flat around 0.747–0.749.</a:t>
            </a:r>
          </a:p>
          <a:p>
            <a:pPr marL="285750" indent="-171450">
              <a:buChar char="•"/>
            </a:pPr>
            <a:r>
              <a:rPr lang="en-US" sz="1500">
                <a:solidFill>
                  <a:srgbClr val="2d3748"/>
                </a:solidFill>
              </a:rPr>
              <a:t>Trust affects whether consumers act, not which offers the LLM surfaces.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02920" y="6464808"/>
            <a:ext cx="6400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800" b="0">
                <a:solidFill>
                  <a:srgbClr val="718096"/>
                </a:solidFill>
              </a:rPr>
              <a:t>AI-Mediated Food Delivery Marketplace Simulation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lang="en-US" sz="800" b="0">
                <a:solidFill>
                  <a:srgbClr val="718096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id="12" name="Rect"/>
          <p:cNvSpPr/>
          <p:nvPr/>
        </p:nvSpPr>
        <p:spPr>
          <a:xfrm>
            <a:off x="0" y="0"/>
            <a:ext cx="12191695" cy="164592"/>
          </a:xfrm>
          <a:prstGeom prst="round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2800" b="1">
                <a:solidFill>
                  <a:srgbClr val="16213e"/>
                </a:solidFill>
              </a:rPr>
              <a:t>Managerial and Policy Takeaways</a:t>
            </a:r>
          </a:p>
        </p:txBody>
      </p:sp>
      <p:sp>
        <p:nvSpPr>
          <p:cNvPr id="13" name="Bullets"/>
          <p:cNvSpPr txBox="1"/>
          <p:nvPr/>
        </p:nvSpPr>
        <p:spPr>
          <a:xfrm>
            <a:off x="777240" y="1051560"/>
            <a:ext cx="10789920" cy="356616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800">
                <a:solidFill>
                  <a:srgbClr val="2d3748"/>
                </a:solidFill>
              </a:rPr>
              <a:t>For platforms: paying the LLM is most valuable when it redirects high-intent demand toward high-commission inventory.</a:t>
            </a:r>
          </a:p>
          <a:p>
            <a:pPr marL="285750" indent="-171450">
              <a:buChar char="•"/>
            </a:pPr>
            <a:r>
              <a:rPr lang="en-US" sz="1800">
                <a:solidFill>
                  <a:srgbClr val="2d3748"/>
                </a:solidFill>
              </a:rPr>
              <a:t>For LLMs: CPC/CPA monetize better but create stronger platform concentration and welfare loss.</a:t>
            </a:r>
          </a:p>
          <a:p>
            <a:pPr marL="285750" indent="-171450">
              <a:buChar char="•"/>
            </a:pPr>
            <a:r>
              <a:rPr lang="en-US" sz="1800">
                <a:solidFill>
                  <a:srgbClr val="2d3748"/>
                </a:solidFill>
              </a:rPr>
              <a:t>For regulators: disclosure alone is not enough; a sponsorship-bias cap is more directly tied to consumer harm.</a:t>
            </a:r>
          </a:p>
          <a:p>
            <a:pPr marL="285750" indent="-171450">
              <a:buChar char="•"/>
            </a:pPr>
            <a:r>
              <a:rPr lang="en-US" sz="1800">
                <a:solidFill>
                  <a:srgbClr val="2d3748"/>
                </a:solidFill>
              </a:rPr>
              <a:t>For consumers: CPFI best preserves recommendation quality because the LLM earns only when stated intent is fulfilled.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02920" y="6464808"/>
            <a:ext cx="6400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800" b="0">
                <a:solidFill>
                  <a:srgbClr val="718096"/>
                </a:solidFill>
              </a:rPr>
              <a:t>AI-Mediated Food Delivery Marketplace Simulation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lang="en-US" sz="800" b="0">
                <a:solidFill>
                  <a:srgbClr val="718096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id="12" name="Rect"/>
          <p:cNvSpPr/>
          <p:nvPr/>
        </p:nvSpPr>
        <p:spPr>
          <a:xfrm>
            <a:off x="0" y="0"/>
            <a:ext cx="12191695" cy="164592"/>
          </a:xfrm>
          <a:prstGeom prst="round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2800" b="1">
                <a:solidFill>
                  <a:srgbClr val="16213e"/>
                </a:solidFill>
              </a:rPr>
              <a:t>Limitations and Extensions</a:t>
            </a:r>
          </a:p>
        </p:txBody>
      </p:sp>
      <p:sp>
        <p:nvSpPr>
          <p:cNvPr id="13" name="Bullets"/>
          <p:cNvSpPr txBox="1"/>
          <p:nvPr/>
        </p:nvSpPr>
        <p:spPr>
          <a:xfrm>
            <a:off x="777240" y="1051560"/>
            <a:ext cx="10789920" cy="356616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800">
                <a:solidFill>
                  <a:srgbClr val="2d3748"/>
                </a:solidFill>
              </a:rPr>
              <a:t>Static one-shot model: platforms, restaurants, and consumers do not update strategies over time.</a:t>
            </a:r>
          </a:p>
          <a:p>
            <a:pPr marL="285750" indent="-171450">
              <a:buChar char="•"/>
            </a:pPr>
            <a:r>
              <a:rPr lang="en-US" sz="1800">
                <a:solidFill>
                  <a:srgbClr val="2d3748"/>
                </a:solidFill>
              </a:rPr>
              <a:t>Restaurant-side sponsorship is not modeled separately from platform-side sponsorship.</a:t>
            </a:r>
          </a:p>
          <a:p>
            <a:pPr marL="285750" indent="-171450">
              <a:buChar char="•"/>
            </a:pPr>
            <a:r>
              <a:rPr lang="en-US" sz="1800">
                <a:solidFill>
                  <a:srgbClr val="2d3748"/>
                </a:solidFill>
              </a:rPr>
              <a:t>Only one LLM intermediary is modeled; multi-LLM competition could reduce ad prices or bias.</a:t>
            </a:r>
          </a:p>
          <a:p>
            <a:pPr marL="285750" indent="-171450">
              <a:buChar char="•"/>
            </a:pPr>
            <a:r>
              <a:rPr lang="en-US" sz="1800">
                <a:solidFill>
                  <a:srgbClr val="2d3748"/>
                </a:solidFill>
              </a:rPr>
              <a:t>Cuisine similarity is rule-based rather than embedding-based.</a:t>
            </a:r>
          </a:p>
          <a:p>
            <a:pPr marL="285750" indent="-171450">
              <a:buChar char="•"/>
            </a:pPr>
            <a:r>
              <a:rPr lang="en-US" sz="1800">
                <a:solidFill>
                  <a:srgbClr val="2d3748"/>
                </a:solidFill>
              </a:rPr>
              <a:t>Future work: dynamic equilibrium, restaurant bidding, multi-LLM competition, and consumer trust learning.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02920" y="6464808"/>
            <a:ext cx="6400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800" b="0">
                <a:solidFill>
                  <a:srgbClr val="718096"/>
                </a:solidFill>
              </a:rPr>
              <a:t>AI-Mediated Food Delivery Marketplace Simulation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lang="en-US" sz="800" b="0">
                <a:solidFill>
                  <a:srgbClr val="718096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id="12" name="Rect"/>
          <p:cNvSpPr/>
          <p:nvPr/>
        </p:nvSpPr>
        <p:spPr>
          <a:xfrm>
            <a:off x="0" y="0"/>
            <a:ext cx="12191695" cy="164592"/>
          </a:xfrm>
          <a:prstGeom prst="round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2800" b="1">
                <a:solidFill>
                  <a:srgbClr val="16213e"/>
                </a:solidFill>
              </a:rPr>
              <a:t>Conclusion</a:t>
            </a:r>
          </a:p>
        </p:txBody>
      </p:sp>
      <p:sp>
        <p:nvSpPr>
          <p:cNvPr id="13" name="Bullets"/>
          <p:cNvSpPr txBox="1"/>
          <p:nvPr/>
        </p:nvSpPr>
        <p:spPr>
          <a:xfrm>
            <a:off x="777240" y="1051560"/>
            <a:ext cx="10789920" cy="356616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800">
                <a:solidFill>
                  <a:srgbClr val="2d3748"/>
                </a:solidFill>
              </a:rPr>
              <a:t>LLM discovery improves food-order matching, but neutral routing does not automatically raise platform surplus.</a:t>
            </a:r>
          </a:p>
          <a:p>
            <a:pPr marL="285750" indent="-171450">
              <a:buChar char="•"/>
            </a:pPr>
            <a:r>
              <a:rPr lang="en-US" sz="1800">
                <a:solidFill>
                  <a:srgbClr val="2d3748"/>
                </a:solidFill>
              </a:rPr>
              <a:t>Paid regimes can make the LLM self-financing, but they shift traffic toward sponsored high-commission platforms.</a:t>
            </a:r>
          </a:p>
          <a:p>
            <a:pPr marL="285750" indent="-171450">
              <a:buChar char="•"/>
            </a:pPr>
            <a:r>
              <a:rPr lang="en-US" sz="1800">
                <a:solidFill>
                  <a:srgbClr val="2d3748"/>
                </a:solidFill>
              </a:rPr>
              <a:t>CPFI is the best consumer-aligned paid mechanism, while CPC creates the strongest concentration.</a:t>
            </a:r>
          </a:p>
          <a:p>
            <a:pPr marL="285750" indent="-171450">
              <a:buChar char="•"/>
            </a:pPr>
            <a:r>
              <a:rPr lang="en-US" sz="1800">
                <a:solidFill>
                  <a:srgbClr val="2d3748"/>
                </a:solidFill>
              </a:rPr>
              <a:t>The central policy design problem is managing the trade-off between monetisation and recommendation integrity.</a:t>
            </a:r>
          </a:p>
        </p:txBody>
      </p:sp>
      <p:sp>
        <p:nvSpPr>
          <p:cNvPr id="14" name="Rect"/>
          <p:cNvSpPr/>
          <p:nvPr/>
        </p:nvSpPr>
        <p:spPr>
          <a:xfrm>
            <a:off x="685800" y="5623560"/>
            <a:ext cx="10881360" cy="658368"/>
          </a:xfrm>
          <a:prstGeom prst="roundRect">
            <a:avLst/>
          </a:prstGeom>
          <a:solidFill>
            <a:srgbClr val="ebf8ff"/>
          </a:solidFill>
          <a:ln>
            <a:solidFill>
              <a:srgbClr val="90cdf4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914400" y="5742432"/>
            <a:ext cx="103784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500" b="1">
                <a:solidFill>
                  <a:srgbClr val="1a365d"/>
                </a:solidFill>
              </a:rPr>
              <a:t>Best one-sentence thesis: LLMs can improve food delivery discovery, but payment design determines whether they become consumer agents or sponsored traffic brokers.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02920" y="6464808"/>
            <a:ext cx="6400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800" b="0">
                <a:solidFill>
                  <a:srgbClr val="718096"/>
                </a:solidFill>
              </a:rPr>
              <a:t>AI-Mediated Food Delivery Marketplace Simulation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lang="en-US" sz="800" b="0">
                <a:solidFill>
                  <a:srgbClr val="718096"/>
                </a:solidFill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">
      <a:dk1>
        <a:srgbClr val="1a202c"/>
      </a:dk1>
      <a:lt1>
        <a:srgbClr val="ffffff"/>
      </a:lt1>
      <a:dk2>
        <a:srgbClr val="16213e"/>
      </a:dk2>
      <a:lt2>
        <a:srgbClr val="edf2f7"/>
      </a:lt2>
      <a:accent1>
        <a:srgbClr val="2b6cb0"/>
      </a:accent1>
      <a:accent2>
        <a:srgbClr val="2f855a"/>
      </a:accent2>
      <a:accent3>
        <a:srgbClr val="c05621"/>
      </a:accent3>
      <a:accent4>
        <a:srgbClr val="805ad5"/>
      </a:accent4>
      <a:accent5>
        <a:srgbClr val="d69e2e"/>
      </a:accent5>
      <a:accent6>
        <a:srgbClr val="319795"/>
      </a:accent6>
      <a:hlink>
        <a:srgbClr val="2b6cb0"/>
      </a:hlink>
      <a:folHlink>
        <a:srgbClr val="805ad5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Custom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